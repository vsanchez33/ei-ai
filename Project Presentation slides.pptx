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64" r:id="rId5"/>
    <p:sldId id="262" r:id="rId6"/>
    <p:sldId id="265" r:id="rId7"/>
    <p:sldId id="266" r:id="rId8"/>
    <p:sldId id="274" r:id="rId9"/>
    <p:sldId id="277" r:id="rId10"/>
    <p:sldId id="276" r:id="rId11"/>
    <p:sldId id="267" r:id="rId12"/>
    <p:sldId id="273" r:id="rId13"/>
    <p:sldId id="268" r:id="rId14"/>
    <p:sldId id="275" r:id="rId15"/>
    <p:sldId id="278" r:id="rId16"/>
    <p:sldId id="279" r:id="rId17"/>
    <p:sldId id="280" r:id="rId18"/>
    <p:sldId id="281" r:id="rId19"/>
    <p:sldId id="282" r:id="rId20"/>
    <p:sldId id="283" r:id="rId21"/>
    <p:sldId id="26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24F"/>
    <a:srgbClr val="009DB8"/>
    <a:srgbClr val="8C0B41"/>
    <a:srgbClr val="6CC3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4CB3C-E6CE-88FF-8256-6F4B5519CD3B}" v="4" dt="2026-05-04T02:49:14.352"/>
    <p1510:client id="{162492A4-9FC4-9C71-1696-8ADD6CC6D676}" v="2" dt="2026-05-03T18:47:31.776"/>
    <p1510:client id="{1B72A140-2756-7E43-AE1C-C43E50ACB29A}" v="850" dt="2026-05-04T05:17:05.741"/>
    <p1510:client id="{280C5EC5-109B-43F4-0D19-D03C559D704E}" v="10" dt="2026-05-04T05:28:35.725"/>
    <p1510:client id="{4EC9B3C7-0636-C253-5275-EEAAD19D618E}" v="1492" dt="2026-05-04T05:26:20.552"/>
    <p1510:client id="{C748F548-4017-4C4E-401E-833E2F334554}" v="304" dt="2026-05-03T21:46:30.458"/>
    <p1510:client id="{D1670927-E4F6-1C4E-BCEC-7EF266ABD6A6}" v="45" dt="2026-05-04T05:33:59.367"/>
    <p1510:client id="{DEAE115B-A52D-2A59-9331-6F2503C83D8A}" v="1121" dt="2026-05-03T21:37:45.762"/>
    <p1510:client id="{DEF160BE-A019-8D1D-4B6E-679E51ECBD7B}" v="894" dt="2026-05-04T03:24:08.485"/>
    <p1510:client id="{E963BF9A-B803-6E29-B5ED-B509FEE6C1FE}" v="29" dt="2026-05-04T05:53:41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D70489-B039-226F-774D-0C748E4F71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D6429-9387-0D41-CF59-2C4B3DB05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2CE0C-9E44-314D-B11D-27ECFE5A0AC9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8AF36-E71C-B835-B926-C691BB7FBC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BD6EAA-6B2F-D2BC-222E-753921DE9A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FB4AE-21F4-3942-9630-9A5AACFD4E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81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FC5A7-42FB-524E-B4BB-CEBA8D873155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A9CE-C4D7-7C41-B99A-8F9490182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0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CA9CE-C4D7-7C41-B99A-8F94901821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43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Y is the set of emotion classes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H is the learned feature representation of the input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F is the model function that maps the input to and emotion prediction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Classifier is fully connected head made of linear layers, GELU activations, and dropout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CA9CE-C4D7-7C41-B99A-8F94901821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37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Model 3 outputs 768-dimensional vector and model 5 outputs 512-dimensional image feature vector. Both passed through linear layer to match dimensions.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CA9CE-C4D7-7C41-B99A-8F94901821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0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mpus Beaut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304685-AB4D-077E-ECD7-6B1BE8964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7979" b="17979"/>
          <a:stretch/>
        </p:blipFill>
        <p:spPr>
          <a:xfrm>
            <a:off x="-34542" y="2478024"/>
            <a:ext cx="9252211" cy="44439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EB762AF-8E1F-BD62-4FCF-18BAF75CD5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2" y="274758"/>
            <a:ext cx="7772400" cy="121181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tx2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381A118-116F-E2CC-021F-28ED71CCF2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2" y="1707393"/>
            <a:ext cx="6858000" cy="684541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rgbClr val="009DB8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Sub-header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A356CA4-DE0A-77E9-C640-99AA3D699F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34406" y="2589447"/>
            <a:ext cx="4675187" cy="334963"/>
          </a:xfrm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Name of Presenter and Job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FE90D3F-8EC2-083D-141A-D7EC366B5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2" y="3168753"/>
            <a:ext cx="3713203" cy="652749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College Name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E4345D7-37DA-F7F1-C56A-FE7545322D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1147" y="3168753"/>
            <a:ext cx="3713203" cy="65274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Department or program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F17B7D-7AD4-4E2E-782E-E58B69CA8B33}"/>
              </a:ext>
            </a:extLst>
          </p:cNvPr>
          <p:cNvGrpSpPr/>
          <p:nvPr userDrawn="1"/>
        </p:nvGrpSpPr>
        <p:grpSpPr>
          <a:xfrm>
            <a:off x="3381322" y="4075046"/>
            <a:ext cx="2381356" cy="1475822"/>
            <a:chOff x="3381322" y="4571999"/>
            <a:chExt cx="2381356" cy="147582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DE1288B-BD05-163E-A01F-D4F3FB189730}"/>
                </a:ext>
              </a:extLst>
            </p:cNvPr>
            <p:cNvGrpSpPr/>
            <p:nvPr userDrawn="1"/>
          </p:nvGrpSpPr>
          <p:grpSpPr>
            <a:xfrm>
              <a:off x="4070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D4B1E0-9493-42C7-9DD0-DF78FFC106D7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90D2220-B723-528F-B6B7-80D6FE76B4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D5F08E-2838-5885-4BDC-4199F9D6F2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t="44059"/>
            <a:stretch>
              <a:fillRect/>
            </a:stretch>
          </p:blipFill>
          <p:spPr>
            <a:xfrm>
              <a:off x="3381322" y="5832627"/>
              <a:ext cx="2381356" cy="215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0BAFE98-0F38-2DA9-E7EA-885E071C2807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398057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phot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3FC5C03-6C9C-730B-4351-C3FC7B32DD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38663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D90CA-AF2E-8449-8E84-D6C56326C15A}"/>
              </a:ext>
            </a:extLst>
          </p:cNvPr>
          <p:cNvSpPr/>
          <p:nvPr/>
        </p:nvSpPr>
        <p:spPr>
          <a:xfrm>
            <a:off x="4737099" y="-1"/>
            <a:ext cx="4406901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5B3CF-5810-EF40-8451-52B286E53328}"/>
              </a:ext>
            </a:extLst>
          </p:cNvPr>
          <p:cNvSpPr/>
          <p:nvPr/>
        </p:nvSpPr>
        <p:spPr>
          <a:xfrm>
            <a:off x="4538582" y="0"/>
            <a:ext cx="1987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83B407-5E80-E943-A014-BDCB3E4C4F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6975" y="432267"/>
            <a:ext cx="3812907" cy="414619"/>
          </a:xfrm>
        </p:spPr>
        <p:txBody>
          <a:bodyPr>
            <a:normAutofit/>
          </a:bodyPr>
          <a:lstStyle>
            <a:lvl1pPr marL="0" indent="0" algn="l">
              <a:buNone/>
              <a:defRPr sz="2400" b="1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Sub-header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FF14268-F6DF-AE49-B746-8341CDE32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6975" y="2837599"/>
            <a:ext cx="3812907" cy="33496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Name of Presenter and Job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5AD891-4FCC-0446-93A5-2DB1541B0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6975" y="3379336"/>
            <a:ext cx="3812907" cy="4458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9EBC9F5-88EB-8443-B256-F5EF5358D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6975" y="3925403"/>
            <a:ext cx="3812907" cy="4458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Department or program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D02902-F659-EEA2-A7D7-19633A3BB872}"/>
              </a:ext>
            </a:extLst>
          </p:cNvPr>
          <p:cNvGrpSpPr/>
          <p:nvPr userDrawn="1"/>
        </p:nvGrpSpPr>
        <p:grpSpPr>
          <a:xfrm>
            <a:off x="5795079" y="5120579"/>
            <a:ext cx="2381356" cy="1320374"/>
            <a:chOff x="3381322" y="4571999"/>
            <a:chExt cx="2381356" cy="132037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8F0061-D0A8-E431-6171-4E26AE1DA528}"/>
                </a:ext>
              </a:extLst>
            </p:cNvPr>
            <p:cNvGrpSpPr/>
            <p:nvPr userDrawn="1"/>
          </p:nvGrpSpPr>
          <p:grpSpPr>
            <a:xfrm>
              <a:off x="4070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01D0037-7DF4-1773-E545-BA103260D369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5756A79-8E2F-DF3E-35B3-DA98C114D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51B0DBD-8761-CA51-EC40-DF9451BB44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44059"/>
            <a:stretch>
              <a:fillRect/>
            </a:stretch>
          </p:blipFill>
          <p:spPr>
            <a:xfrm>
              <a:off x="3381322" y="5677179"/>
              <a:ext cx="2381356" cy="215194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BB116D0-35E9-8AB7-52D8-7117E584DB04}"/>
              </a:ext>
            </a:extLst>
          </p:cNvPr>
          <p:cNvSpPr/>
          <p:nvPr userDrawn="1"/>
        </p:nvSpPr>
        <p:spPr>
          <a:xfrm>
            <a:off x="2824408" y="945650"/>
            <a:ext cx="5708032" cy="886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EFAC79-FBE2-DF48-8813-6E47C2638C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2611" y="1077234"/>
            <a:ext cx="5025224" cy="569511"/>
          </a:xfrm>
        </p:spPr>
        <p:txBody>
          <a:bodyPr anchor="t" anchorCtr="0">
            <a:noAutofit/>
          </a:bodyPr>
          <a:lstStyle>
            <a:lvl1pPr algn="l">
              <a:defRPr sz="4000" b="1" i="0" cap="none" baseline="0">
                <a:solidFill>
                  <a:schemeClr val="tx2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950C2-9118-A108-EACD-1854AC7D68CD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82326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9027A36A-3863-97FE-36D6-593D8B07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  <a:blipFill>
            <a:blip r:embed="rId2"/>
            <a:stretch>
              <a:fillRect l="-26399" r="-69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9B7B3-8214-054E-107D-DBC1D50CF0AF}"/>
              </a:ext>
            </a:extLst>
          </p:cNvPr>
          <p:cNvSpPr>
            <a:spLocks/>
          </p:cNvSpPr>
          <p:nvPr userDrawn="1"/>
        </p:nvSpPr>
        <p:spPr>
          <a:xfrm>
            <a:off x="4060125" y="1190847"/>
            <a:ext cx="5083876" cy="5667154"/>
          </a:xfrm>
          <a:prstGeom prst="rect">
            <a:avLst/>
          </a:prstGeom>
          <a:solidFill>
            <a:schemeClr val="bg1">
              <a:alpha val="8011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3AE10-BA0D-647C-C7F8-7C2CB11A6392}"/>
              </a:ext>
            </a:extLst>
          </p:cNvPr>
          <p:cNvSpPr>
            <a:spLocks/>
          </p:cNvSpPr>
          <p:nvPr userDrawn="1"/>
        </p:nvSpPr>
        <p:spPr>
          <a:xfrm>
            <a:off x="4056283" y="1190847"/>
            <a:ext cx="213419" cy="56671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1AF17-51B1-10F9-9976-0FC58BF8B23C}"/>
              </a:ext>
            </a:extLst>
          </p:cNvPr>
          <p:cNvSpPr>
            <a:spLocks/>
          </p:cNvSpPr>
          <p:nvPr userDrawn="1"/>
        </p:nvSpPr>
        <p:spPr>
          <a:xfrm>
            <a:off x="585830" y="2263473"/>
            <a:ext cx="7610709" cy="886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75123B-0AB9-BBDB-5674-6821F343B7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6767" y="2395058"/>
            <a:ext cx="6700299" cy="569511"/>
          </a:xfrm>
        </p:spPr>
        <p:txBody>
          <a:bodyPr anchor="t" anchorCtr="0">
            <a:noAutofit/>
          </a:bodyPr>
          <a:lstStyle>
            <a:lvl1pPr algn="l">
              <a:defRPr sz="40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7CA15F9-3D54-ED83-5715-EAA92F2DB10D}"/>
              </a:ext>
            </a:extLst>
          </p:cNvPr>
          <p:cNvGrpSpPr/>
          <p:nvPr userDrawn="1"/>
        </p:nvGrpSpPr>
        <p:grpSpPr>
          <a:xfrm>
            <a:off x="5590536" y="5332653"/>
            <a:ext cx="2164094" cy="1318082"/>
            <a:chOff x="4884927" y="4571999"/>
            <a:chExt cx="2415372" cy="145040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0CA45E-6FB6-5EAB-AC70-22427F19AF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46673"/>
            <a:stretch>
              <a:fillRect/>
            </a:stretch>
          </p:blipFill>
          <p:spPr>
            <a:xfrm>
              <a:off x="4884927" y="5814339"/>
              <a:ext cx="2415372" cy="20806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F879A7C-DEE5-B257-930F-C6BB76025ECA}"/>
                </a:ext>
              </a:extLst>
            </p:cNvPr>
            <p:cNvGrpSpPr/>
            <p:nvPr userDrawn="1"/>
          </p:nvGrpSpPr>
          <p:grpSpPr>
            <a:xfrm>
              <a:off x="5594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C53564A-DA2B-BA56-5D22-3C065125CAD4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2348A51-0A9D-9926-5CCC-F7B52EAE7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2A074DEC-9800-5250-62B4-92F9AE161C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1839" y="1621205"/>
            <a:ext cx="4563389" cy="414619"/>
          </a:xfrm>
        </p:spPr>
        <p:txBody>
          <a:bodyPr>
            <a:normAutofit/>
          </a:bodyPr>
          <a:lstStyle>
            <a:lvl1pPr marL="0" indent="0" algn="l">
              <a:buNone/>
              <a:defRPr sz="2400" b="1" cap="all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Sub-header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4888DE5-A40B-5635-3169-5F0D46853E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11839" y="3454290"/>
            <a:ext cx="4400657" cy="334963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Name of Presenter and Job Title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B3FB34D-65BB-DDFD-7D03-80C4A67ECA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1839" y="3996026"/>
            <a:ext cx="4400657" cy="4458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College Name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A197638-5657-ADDF-314F-C711BE9C93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1839" y="4542093"/>
            <a:ext cx="4400657" cy="4458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Department or program</a:t>
            </a:r>
          </a:p>
        </p:txBody>
      </p:sp>
    </p:spTree>
    <p:extLst>
      <p:ext uri="{BB962C8B-B14F-4D97-AF65-F5344CB8AC3E}">
        <p14:creationId xmlns:p14="http://schemas.microsoft.com/office/powerpoint/2010/main" val="186064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Phot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33DB18F-7F8D-482B-780F-74CFC75323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456" r="-3598"/>
          <a:stretch>
            <a:fillRect/>
          </a:stretch>
        </p:blipFill>
        <p:spPr>
          <a:xfrm>
            <a:off x="0" y="-18426"/>
            <a:ext cx="7361000" cy="687642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B03F40D-BA33-D853-AE6C-58B38770CA69}"/>
              </a:ext>
            </a:extLst>
          </p:cNvPr>
          <p:cNvGrpSpPr/>
          <p:nvPr userDrawn="1"/>
        </p:nvGrpSpPr>
        <p:grpSpPr>
          <a:xfrm>
            <a:off x="2028307" y="-18424"/>
            <a:ext cx="7128393" cy="6894848"/>
            <a:chOff x="2006600" y="-24148"/>
            <a:chExt cx="7128393" cy="6894848"/>
          </a:xfrm>
        </p:grpSpPr>
        <p:sp>
          <p:nvSpPr>
            <p:cNvPr id="11" name="Chevron 10">
              <a:extLst>
                <a:ext uri="{FF2B5EF4-FFF2-40B4-BE49-F238E27FC236}">
                  <a16:creationId xmlns:a16="http://schemas.microsoft.com/office/drawing/2014/main" id="{0226D69C-F42A-6811-0DC0-596328C90A5D}"/>
                </a:ext>
              </a:extLst>
            </p:cNvPr>
            <p:cNvSpPr/>
            <p:nvPr userDrawn="1"/>
          </p:nvSpPr>
          <p:spPr>
            <a:xfrm>
              <a:off x="2006600" y="-24148"/>
              <a:ext cx="6036885" cy="6894848"/>
            </a:xfrm>
            <a:prstGeom prst="chevron">
              <a:avLst>
                <a:gd name="adj" fmla="val 497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8200D2-5583-CC79-EBCC-99CC53FA083C}"/>
                </a:ext>
              </a:extLst>
            </p:cNvPr>
            <p:cNvSpPr/>
            <p:nvPr userDrawn="1"/>
          </p:nvSpPr>
          <p:spPr>
            <a:xfrm>
              <a:off x="5048111" y="-24148"/>
              <a:ext cx="4086882" cy="68948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12D043-7E03-DCE7-75DB-28C85A67CA39}"/>
              </a:ext>
            </a:extLst>
          </p:cNvPr>
          <p:cNvGrpSpPr/>
          <p:nvPr userDrawn="1"/>
        </p:nvGrpSpPr>
        <p:grpSpPr>
          <a:xfrm>
            <a:off x="2155307" y="-114300"/>
            <a:ext cx="7128393" cy="7030072"/>
            <a:chOff x="2006600" y="-120024"/>
            <a:chExt cx="7128393" cy="7030072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006DECD6-CC88-60B8-3998-B9A096B0E47B}"/>
                </a:ext>
              </a:extLst>
            </p:cNvPr>
            <p:cNvSpPr/>
            <p:nvPr userDrawn="1"/>
          </p:nvSpPr>
          <p:spPr>
            <a:xfrm>
              <a:off x="2006600" y="-62249"/>
              <a:ext cx="6036885" cy="6972297"/>
            </a:xfrm>
            <a:prstGeom prst="chevron">
              <a:avLst>
                <a:gd name="adj" fmla="val 4979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CACF95-C2B2-BC85-8671-5DD4C7D726B8}"/>
                </a:ext>
              </a:extLst>
            </p:cNvPr>
            <p:cNvSpPr/>
            <p:nvPr userDrawn="1"/>
          </p:nvSpPr>
          <p:spPr>
            <a:xfrm>
              <a:off x="5048111" y="-120024"/>
              <a:ext cx="4086882" cy="699072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178427A-53AD-71F3-D811-2F683E9A2469}"/>
              </a:ext>
            </a:extLst>
          </p:cNvPr>
          <p:cNvGrpSpPr/>
          <p:nvPr userDrawn="1"/>
        </p:nvGrpSpPr>
        <p:grpSpPr>
          <a:xfrm>
            <a:off x="228600" y="4571884"/>
            <a:ext cx="2381356" cy="1475822"/>
            <a:chOff x="3381322" y="4571999"/>
            <a:chExt cx="2381356" cy="147582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27DB3C6-8CD8-FFAA-EB16-120113FDC819}"/>
                </a:ext>
              </a:extLst>
            </p:cNvPr>
            <p:cNvGrpSpPr/>
            <p:nvPr userDrawn="1"/>
          </p:nvGrpSpPr>
          <p:grpSpPr>
            <a:xfrm>
              <a:off x="4070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14AAE73-BB0D-8346-8A32-E330B1189AD0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FF640A4-3783-AB24-737E-FC0FA54D6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F767AE-F566-3B00-2E8B-CC32C85D84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t="44059"/>
            <a:stretch>
              <a:fillRect/>
            </a:stretch>
          </p:blipFill>
          <p:spPr>
            <a:xfrm>
              <a:off x="3381322" y="5832627"/>
              <a:ext cx="2381356" cy="215194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6800" y="672561"/>
            <a:ext cx="5308600" cy="1131328"/>
          </a:xfrm>
        </p:spPr>
        <p:txBody>
          <a:bodyPr anchor="t" anchorCtr="0"/>
          <a:lstStyle>
            <a:lvl1pPr algn="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6800" y="1852113"/>
            <a:ext cx="5308600" cy="828294"/>
          </a:xfrm>
        </p:spPr>
        <p:txBody>
          <a:bodyPr>
            <a:normAutofit/>
          </a:bodyPr>
          <a:lstStyle>
            <a:lvl1pPr marL="0" indent="0" algn="r">
              <a:buNone/>
              <a:defRPr sz="2800" b="1" cap="all" baseline="0">
                <a:solidFill>
                  <a:srgbClr val="F2824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Sub-header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5B5FA-38C5-9149-9DA4-F4028C966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3947" y="4245510"/>
            <a:ext cx="3981453" cy="652749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Name of Presenter </a:t>
            </a:r>
          </a:p>
          <a:p>
            <a:pPr lvl="0"/>
            <a:r>
              <a:rPr lang="en-US"/>
              <a:t>Job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32339FA-DA32-A74D-BF3D-0857B2EA0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33947" y="5179761"/>
            <a:ext cx="3981453" cy="48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C4E1DC7-B849-7A47-B34C-CA67D6F460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3947" y="5702655"/>
            <a:ext cx="3981453" cy="48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Department or program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B5302B-E95C-0943-B0EB-E088484E5D75}"/>
              </a:ext>
            </a:extLst>
          </p:cNvPr>
          <p:cNvSpPr txBox="1"/>
          <p:nvPr userDrawn="1"/>
        </p:nvSpPr>
        <p:spPr>
          <a:xfrm>
            <a:off x="101600" y="-1093935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Open the Slide Master change the image on this slide. View &gt; Slide Master &gt; Click image &gt; Right click and select Change Picture &gt; Close Slide Master.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416B1-0438-1C20-9BD2-E770CCFACBFF}"/>
              </a:ext>
            </a:extLst>
          </p:cNvPr>
          <p:cNvSpPr txBox="1"/>
          <p:nvPr userDrawn="1"/>
        </p:nvSpPr>
        <p:spPr>
          <a:xfrm>
            <a:off x="101600" y="-1522932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265326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ne-Third phot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BC21DA-BB37-9447-AE99-A5671996BE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29339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D90CA-AF2E-8449-8E84-D6C56326C15A}"/>
              </a:ext>
            </a:extLst>
          </p:cNvPr>
          <p:cNvSpPr/>
          <p:nvPr/>
        </p:nvSpPr>
        <p:spPr>
          <a:xfrm>
            <a:off x="3293391" y="-1"/>
            <a:ext cx="5850608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5B3CF-5810-EF40-8451-52B286E53328}"/>
              </a:ext>
            </a:extLst>
          </p:cNvPr>
          <p:cNvSpPr/>
          <p:nvPr/>
        </p:nvSpPr>
        <p:spPr>
          <a:xfrm>
            <a:off x="3180196" y="0"/>
            <a:ext cx="3321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EFAC79-FBE2-DF48-8813-6E47C2638C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9547" y="510445"/>
            <a:ext cx="5025224" cy="1080247"/>
          </a:xfrm>
        </p:spPr>
        <p:txBody>
          <a:bodyPr anchor="t" anchorCtr="0">
            <a:noAutofit/>
          </a:bodyPr>
          <a:lstStyle>
            <a:lvl1pPr algn="ctr">
              <a:defRPr sz="32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83B407-5E80-E943-A014-BDCB3E4C4F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05587" y="1598800"/>
            <a:ext cx="4135996" cy="828294"/>
          </a:xfrm>
        </p:spPr>
        <p:txBody>
          <a:bodyPr>
            <a:normAutofit/>
          </a:bodyPr>
          <a:lstStyle>
            <a:lvl1pPr marL="0" indent="0" algn="ctr">
              <a:buNone/>
              <a:defRPr sz="2400" b="1" cap="all" baseline="0">
                <a:solidFill>
                  <a:srgbClr val="F2824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Sub-header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FF14268-F6DF-AE49-B746-8341CDE32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7133" y="2494699"/>
            <a:ext cx="3812907" cy="33496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Name of Presenter and Job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5AD891-4FCC-0446-93A5-2DB1541B0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58" y="3036436"/>
            <a:ext cx="3713203" cy="4458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9EBC9F5-88EB-8443-B256-F5EF5358D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3582503"/>
            <a:ext cx="3713203" cy="4458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Department or program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D02902-F659-EEA2-A7D7-19633A3BB872}"/>
              </a:ext>
            </a:extLst>
          </p:cNvPr>
          <p:cNvGrpSpPr/>
          <p:nvPr userDrawn="1"/>
        </p:nvGrpSpPr>
        <p:grpSpPr>
          <a:xfrm>
            <a:off x="5137491" y="5024243"/>
            <a:ext cx="2381356" cy="1320374"/>
            <a:chOff x="3381322" y="4571999"/>
            <a:chExt cx="2381356" cy="132037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8F0061-D0A8-E431-6171-4E26AE1DA528}"/>
                </a:ext>
              </a:extLst>
            </p:cNvPr>
            <p:cNvGrpSpPr/>
            <p:nvPr userDrawn="1"/>
          </p:nvGrpSpPr>
          <p:grpSpPr>
            <a:xfrm>
              <a:off x="4070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01D0037-7DF4-1773-E545-BA103260D369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5756A79-8E2F-DF3E-35B3-DA98C114D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51B0DBD-8761-CA51-EC40-DF9451BB44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44059"/>
            <a:stretch>
              <a:fillRect/>
            </a:stretch>
          </p:blipFill>
          <p:spPr>
            <a:xfrm>
              <a:off x="3381322" y="5677179"/>
              <a:ext cx="2381356" cy="215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2FF975-A95C-E988-A466-D4D662E94E0F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250442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ndard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D5B3CF-5810-EF40-8451-52B286E53328}"/>
              </a:ext>
            </a:extLst>
          </p:cNvPr>
          <p:cNvSpPr/>
          <p:nvPr/>
        </p:nvSpPr>
        <p:spPr>
          <a:xfrm>
            <a:off x="0" y="5029201"/>
            <a:ext cx="9144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EFAC79-FBE2-DF48-8813-6E47C2638C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476999"/>
            <a:ext cx="7772400" cy="146629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83B407-5E80-E943-A014-BDCB3E4C4F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964997"/>
            <a:ext cx="6858000" cy="828294"/>
          </a:xfrm>
        </p:spPr>
        <p:txBody>
          <a:bodyPr/>
          <a:lstStyle>
            <a:lvl1pPr marL="0" indent="0" algn="ctr">
              <a:buNone/>
              <a:defRPr sz="2400" b="1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Sub-header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FF14268-F6DF-AE49-B746-8341CDE32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7484" y="2816319"/>
            <a:ext cx="4675187" cy="33496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Name of Presenter and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5AD891-4FCC-0446-93A5-2DB1541B0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2" y="3277318"/>
            <a:ext cx="3713203" cy="652749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9EBC9F5-88EB-8443-B256-F5EF5358D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1147" y="3277318"/>
            <a:ext cx="3713203" cy="652749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Department or program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1FEA00-B214-AF4C-B8C4-3A82EA4AB2F4}"/>
              </a:ext>
            </a:extLst>
          </p:cNvPr>
          <p:cNvGrpSpPr/>
          <p:nvPr userDrawn="1"/>
        </p:nvGrpSpPr>
        <p:grpSpPr>
          <a:xfrm>
            <a:off x="3364314" y="4280007"/>
            <a:ext cx="2415372" cy="1450409"/>
            <a:chOff x="4884927" y="4571999"/>
            <a:chExt cx="2415372" cy="145040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A9CE167-A505-D349-A0F4-F77811BEAB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t="46673"/>
            <a:stretch>
              <a:fillRect/>
            </a:stretch>
          </p:blipFill>
          <p:spPr>
            <a:xfrm>
              <a:off x="4884927" y="5814339"/>
              <a:ext cx="2415372" cy="208069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33D900-85D8-9843-A60D-7BA69B18B350}"/>
                </a:ext>
              </a:extLst>
            </p:cNvPr>
            <p:cNvGrpSpPr/>
            <p:nvPr userDrawn="1"/>
          </p:nvGrpSpPr>
          <p:grpSpPr>
            <a:xfrm>
              <a:off x="5594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FF2BE7-1FDF-994A-8167-87896B880EDD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8880FB9-D661-3540-92B4-3B0FC9ED9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457194C-065E-B217-04B4-5DE446BED688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97875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vider Slide"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61769"/>
            <a:ext cx="7772400" cy="146629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149767"/>
            <a:ext cx="6858000" cy="828294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2F10E-985B-7FCB-E8C3-E4AF6186F236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237434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Divider Slide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8"/>
            <a:ext cx="7886700" cy="73651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Topic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31A7E-1651-7128-FF1D-E9620C60A298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13715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2951511"/>
            <a:ext cx="7886700" cy="35163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0CCDF-186F-322C-1147-DC299D3ACE55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367142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2951513"/>
            <a:ext cx="3886200" cy="36928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49" y="2961040"/>
            <a:ext cx="3886200" cy="36928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7BA84-FFB5-083B-1B6F-B41A3AB69376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211414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659" y="9874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3660" y="23034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660" y="3127375"/>
            <a:ext cx="3868340" cy="30936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2970" y="23034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2970" y="3127375"/>
            <a:ext cx="3887391" cy="30936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19B19-1635-DAD7-76F1-618324825922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16991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5E47562-0B4E-E143-B002-83649551E0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905" y="1295400"/>
            <a:ext cx="3560763" cy="4267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07360FE-8B74-B742-AC27-153E1A1C9C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08146" y="1295400"/>
            <a:ext cx="3560763" cy="4267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9ACAE3-F845-C402-939B-4B7CECD9CE2A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758810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59522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4"/>
            <a:ext cx="2949178" cy="3525253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C1219-756D-0BB8-E283-9AAE89BC44B9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2293056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62731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557337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15B0B-AFD4-266A-DE0D-2714FC1EE842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3062609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BB596-5451-4E43-A774-80A751BE5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DB06050-AE7F-E242-97DC-DE3BC4D8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F8431D-AC25-9940-8653-CBB84503B327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1370333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42E-E29E-8442-94C1-AC54D70DD5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414" y="2107021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2B999D7-A76D-B741-B745-30280A6B16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414" y="2604240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College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CA1FD1C-6FE7-DD48-9178-AFF6A8C55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5414" y="3101459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Department or Program Name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6EF9B5F-920F-8E4F-872D-C4D4C2C6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414" y="3598678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0EB2389-F780-2D4A-B2A3-2E10B3549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414" y="4095897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5444114-988B-6D44-B79C-537507DF2B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414" y="4593118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D535D-CF14-414F-994D-2D6881DC565E}"/>
              </a:ext>
            </a:extLst>
          </p:cNvPr>
          <p:cNvSpPr txBox="1"/>
          <p:nvPr/>
        </p:nvSpPr>
        <p:spPr>
          <a:xfrm>
            <a:off x="615414" y="1219005"/>
            <a:ext cx="6081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Contact Information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C37F4-DCB0-2402-6B4B-1772DAC7784F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1622798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nk"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912820"/>
            <a:ext cx="7772400" cy="926083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Closing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8578BC-BC10-C0FB-C7AC-1A2FA5EEE8F4}"/>
              </a:ext>
            </a:extLst>
          </p:cNvPr>
          <p:cNvGrpSpPr/>
          <p:nvPr userDrawn="1"/>
        </p:nvGrpSpPr>
        <p:grpSpPr>
          <a:xfrm>
            <a:off x="3381322" y="4571999"/>
            <a:ext cx="2381356" cy="1475822"/>
            <a:chOff x="3381322" y="4571999"/>
            <a:chExt cx="2381356" cy="14758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8F4E40-A2A8-3845-A7BC-A70B2BE1615A}"/>
                </a:ext>
              </a:extLst>
            </p:cNvPr>
            <p:cNvGrpSpPr/>
            <p:nvPr userDrawn="1"/>
          </p:nvGrpSpPr>
          <p:grpSpPr>
            <a:xfrm>
              <a:off x="4070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A45FC5-0C12-A24C-87EF-D5E5C843A91A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47751CA-AB85-AD4C-AE99-09F065ACB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D9A299-3B04-474A-A43F-2949E7EA41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t="44059"/>
            <a:stretch>
              <a:fillRect/>
            </a:stretch>
          </p:blipFill>
          <p:spPr>
            <a:xfrm>
              <a:off x="3381322" y="5832627"/>
              <a:ext cx="2381356" cy="21519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2614F42-3816-E9A0-9416-5C4E94ABB5AA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</p:spTree>
    <p:extLst>
      <p:ext uri="{BB962C8B-B14F-4D97-AF65-F5344CB8AC3E}">
        <p14:creationId xmlns:p14="http://schemas.microsoft.com/office/powerpoint/2010/main" val="4234047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lide divid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AB05C-AFA2-CD42-B227-1DF7503589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2" r="-112962"/>
          <a:stretch/>
        </p:blipFill>
        <p:spPr>
          <a:xfrm>
            <a:off x="-10276" y="0"/>
            <a:ext cx="9154276" cy="6866051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BC21DA-BB37-9447-AE99-A5671996BE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6476" y="0"/>
            <a:ext cx="5247524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23258F3-2013-7EEC-238A-DA14D1F10CBE}"/>
              </a:ext>
            </a:extLst>
          </p:cNvPr>
          <p:cNvGrpSpPr/>
          <p:nvPr userDrawn="1"/>
        </p:nvGrpSpPr>
        <p:grpSpPr>
          <a:xfrm>
            <a:off x="752422" y="4787899"/>
            <a:ext cx="2381356" cy="1475822"/>
            <a:chOff x="3381322" y="4571999"/>
            <a:chExt cx="2381356" cy="147582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180575-44B0-0C91-3230-DF29720D026E}"/>
                </a:ext>
              </a:extLst>
            </p:cNvPr>
            <p:cNvGrpSpPr/>
            <p:nvPr userDrawn="1"/>
          </p:nvGrpSpPr>
          <p:grpSpPr>
            <a:xfrm>
              <a:off x="4070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FC5EB5D-AD55-6A39-E48A-EA31E2B2073E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A4CAE71-EF0E-B687-A18A-C976CE8E7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3A9EFF5-82E2-9595-AEEB-4BE10CEDDC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 t="44059"/>
            <a:stretch>
              <a:fillRect/>
            </a:stretch>
          </p:blipFill>
          <p:spPr>
            <a:xfrm>
              <a:off x="3381322" y="5832627"/>
              <a:ext cx="2381356" cy="21519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BA7C75B-CB5E-8CDB-8120-36028EF13E64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35F31F2F-E253-6557-89CA-9FAF9390E4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2100" y="622300"/>
            <a:ext cx="3057929" cy="939800"/>
          </a:xfrm>
        </p:spPr>
        <p:txBody>
          <a:bodyPr>
            <a:normAutofit/>
          </a:bodyPr>
          <a:lstStyle>
            <a:lvl1pPr algn="ctr">
              <a:buFontTx/>
              <a:buNone/>
              <a:defRPr sz="36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5306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431B1E-8998-0146-AF70-B53ABD36F462}"/>
              </a:ext>
            </a:extLst>
          </p:cNvPr>
          <p:cNvSpPr/>
          <p:nvPr userDrawn="1"/>
        </p:nvSpPr>
        <p:spPr>
          <a:xfrm flipV="1">
            <a:off x="-2" y="0"/>
            <a:ext cx="9144001" cy="79762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D7F49166-10C2-9D5B-B8C1-56375D00BD33}"/>
              </a:ext>
            </a:extLst>
          </p:cNvPr>
          <p:cNvSpPr/>
          <p:nvPr userDrawn="1"/>
        </p:nvSpPr>
        <p:spPr>
          <a:xfrm flipV="1">
            <a:off x="0" y="0"/>
            <a:ext cx="9143999" cy="1283398"/>
          </a:xfrm>
          <a:prstGeom prst="rtTriangle">
            <a:avLst/>
          </a:prstGeom>
          <a:solidFill>
            <a:srgbClr val="8C0B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49" y="15910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49" y="3051519"/>
            <a:ext cx="7886700" cy="2923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2D0EDF-6793-944A-8664-9CB2EFC03F6E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4504" y="250083"/>
            <a:ext cx="608290" cy="6824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FAB00-678D-BAC0-89CC-7B23C237C281}"/>
              </a:ext>
            </a:extLst>
          </p:cNvPr>
          <p:cNvSpPr txBox="1"/>
          <p:nvPr userDrawn="1"/>
        </p:nvSpPr>
        <p:spPr>
          <a:xfrm>
            <a:off x="101600" y="-1093935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See all Presentation Slide options in the Layout options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30D74-08CB-1555-5E54-562C5231B84F}"/>
              </a:ext>
            </a:extLst>
          </p:cNvPr>
          <p:cNvSpPr txBox="1"/>
          <p:nvPr userDrawn="1"/>
        </p:nvSpPr>
        <p:spPr>
          <a:xfrm>
            <a:off x="8600660" y="6467907"/>
            <a:ext cx="473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11D6CB7-EDCC-454A-8C83-501ACFA63167}" type="slidenum">
              <a:rPr lang="en-US" sz="1400" smtClean="0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9946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74" r:id="rId4"/>
    <p:sldLayoutId id="2147483663" r:id="rId5"/>
    <p:sldLayoutId id="2147483664" r:id="rId6"/>
    <p:sldLayoutId id="2147483662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61" r:id="rId17"/>
    <p:sldLayoutId id="2147483677" r:id="rId1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30E16ED-B8CB-AB3D-248F-92341E2E98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8100"/>
            <a:ext cx="9144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7DA133-AA37-25BE-7D75-AEDEC680A3EC}"/>
              </a:ext>
            </a:extLst>
          </p:cNvPr>
          <p:cNvSpPr>
            <a:spLocks/>
          </p:cNvSpPr>
          <p:nvPr/>
        </p:nvSpPr>
        <p:spPr>
          <a:xfrm>
            <a:off x="4060125" y="1190847"/>
            <a:ext cx="5083876" cy="5667154"/>
          </a:xfrm>
          <a:prstGeom prst="rect">
            <a:avLst/>
          </a:prstGeom>
          <a:solidFill>
            <a:schemeClr val="bg1">
              <a:alpha val="8011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5B2665-5E2F-2CCD-639B-DF94B20BBA80}"/>
              </a:ext>
            </a:extLst>
          </p:cNvPr>
          <p:cNvSpPr>
            <a:spLocks/>
          </p:cNvSpPr>
          <p:nvPr/>
        </p:nvSpPr>
        <p:spPr>
          <a:xfrm>
            <a:off x="4056283" y="1190847"/>
            <a:ext cx="213419" cy="566715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182ABD-99E2-A4EC-2DF0-70EAFE5B0866}"/>
              </a:ext>
            </a:extLst>
          </p:cNvPr>
          <p:cNvSpPr>
            <a:spLocks/>
          </p:cNvSpPr>
          <p:nvPr/>
        </p:nvSpPr>
        <p:spPr>
          <a:xfrm>
            <a:off x="250928" y="1635496"/>
            <a:ext cx="7610709" cy="13878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08145C-ABEE-8812-7B79-541C02697E43}"/>
              </a:ext>
            </a:extLst>
          </p:cNvPr>
          <p:cNvGrpSpPr/>
          <p:nvPr/>
        </p:nvGrpSpPr>
        <p:grpSpPr>
          <a:xfrm>
            <a:off x="5590536" y="5332653"/>
            <a:ext cx="2164094" cy="1318082"/>
            <a:chOff x="4884927" y="4571999"/>
            <a:chExt cx="2415372" cy="145040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4C5266C-EB9E-25EE-77EC-7251FD350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46673"/>
            <a:stretch>
              <a:fillRect/>
            </a:stretch>
          </p:blipFill>
          <p:spPr>
            <a:xfrm>
              <a:off x="4884927" y="5814339"/>
              <a:ext cx="2415372" cy="208069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40B57A0-30EB-09E2-156D-CAEBC68B507A}"/>
                </a:ext>
              </a:extLst>
            </p:cNvPr>
            <p:cNvGrpSpPr/>
            <p:nvPr userDrawn="1"/>
          </p:nvGrpSpPr>
          <p:grpSpPr>
            <a:xfrm>
              <a:off x="5594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A8035FD-10F2-94D5-3148-33CC492787BF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/>
                  <a:t> 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A8FD772-AAE5-AF75-EE47-07EF2D19D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A6818738-29F1-7532-F526-59292849C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552" y="1758759"/>
            <a:ext cx="6700299" cy="1100107"/>
          </a:xfrm>
        </p:spPr>
        <p:txBody>
          <a:bodyPr/>
          <a:lstStyle/>
          <a:p>
            <a:r>
              <a:rPr lang="en-US"/>
              <a:t>Multimodal Emotional Recognition System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4A95B09-DAAD-6C59-9E13-B8E8F6554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C4F4C-E4A4-6D1A-718D-CEB28B3363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>
                <a:latin typeface="Tahoma"/>
                <a:ea typeface="Tahoma"/>
                <a:cs typeface="Tahoma"/>
              </a:rPr>
              <a:t>Paras Khanal, Vincent Sanchez, </a:t>
            </a:r>
            <a:r>
              <a:rPr lang="en-US" err="1">
                <a:latin typeface="Tahoma"/>
                <a:ea typeface="Tahoma"/>
                <a:cs typeface="Tahoma"/>
              </a:rPr>
              <a:t>Shokhina</a:t>
            </a:r>
            <a:r>
              <a:rPr lang="en-US">
                <a:latin typeface="Tahoma"/>
                <a:ea typeface="Tahoma"/>
                <a:cs typeface="Tahoma"/>
              </a:rPr>
              <a:t> </a:t>
            </a:r>
            <a:r>
              <a:rPr lang="en-US" err="1">
                <a:latin typeface="Tahoma"/>
                <a:ea typeface="Tahoma"/>
                <a:cs typeface="Tahoma"/>
              </a:rPr>
              <a:t>Jalilova</a:t>
            </a:r>
            <a:endParaRPr lang="en-US" err="1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7A28AD-3CD9-EF7A-FF77-755AC8B9B9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New Mexico State University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27C5F0-C8BB-DE3B-B359-371E05B18A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Department of Computer Science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29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5D309C-AFA9-E759-CFE0-75F39060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784812-8518-5A8C-DEF0-BD131616A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3082925"/>
            <a:ext cx="7886700" cy="35163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 sz="1800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human communication increasingly occurs through online platforms such as social media, messaging applications, discussion forums, video conferencing systems, and digital review platforms. </a:t>
            </a:r>
            <a:endParaRPr lang="en-US">
              <a:latin typeface="Times New Roman"/>
              <a:cs typeface="Times New Roman"/>
            </a:endParaRPr>
          </a:p>
          <a:p>
            <a:pPr marL="170815" indent="-170815"/>
            <a:r>
              <a:rPr lang="en-US" sz="1800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These interactions often contain rich emotional information expressed through written language, facial expressions, and other behavioral cues. </a:t>
            </a:r>
          </a:p>
          <a:p>
            <a:pPr marL="170815" indent="-170815"/>
            <a:r>
              <a:rPr lang="en-US" sz="1800" kern="0">
                <a:effectLst/>
                <a:latin typeface="Times New Roman"/>
                <a:ea typeface="Times New Roman" panose="02020603050405020304" pitchFamily="18" charset="0"/>
                <a:cs typeface="Times New Roman"/>
              </a:rPr>
              <a:t>At the same time, Artificial Intelligence (AI) has become deeply integrated into daily life</a:t>
            </a:r>
            <a:endParaRPr lang="en-US" sz="1800" kern="0">
              <a:latin typeface="Times New Roman"/>
              <a:ea typeface="Calibri" panose="020F0502020204030204"/>
              <a:cs typeface="Times New Roman"/>
            </a:endParaRPr>
          </a:p>
          <a:p>
            <a:pPr marL="170815" indent="-170815"/>
            <a:endParaRPr lang="en-US" sz="1800" kern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1816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D1B5-B31D-456B-817D-A53CC554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634E-7C52-4F4C-A088-AFFA35C0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>
                <a:latin typeface="Times New Roman"/>
                <a:ea typeface="Calibri"/>
                <a:cs typeface="Times New Roman"/>
              </a:rPr>
              <a:t>Human-computer interaction</a:t>
            </a:r>
          </a:p>
          <a:p>
            <a:pPr marL="170815" indent="-170815"/>
            <a:r>
              <a:rPr lang="en-US">
                <a:latin typeface="Times New Roman"/>
                <a:ea typeface="Calibri"/>
                <a:cs typeface="Times New Roman"/>
              </a:rPr>
              <a:t>Online education</a:t>
            </a:r>
          </a:p>
          <a:p>
            <a:pPr marL="170815" indent="-170815"/>
            <a:r>
              <a:rPr lang="en-US">
                <a:latin typeface="Times New Roman"/>
                <a:ea typeface="Calibri"/>
                <a:cs typeface="Times New Roman"/>
              </a:rPr>
              <a:t>Customer satisfaction</a:t>
            </a:r>
          </a:p>
          <a:p>
            <a:pPr marL="170815" indent="-170815"/>
            <a:r>
              <a:rPr lang="en-US">
                <a:latin typeface="Times New Roman"/>
                <a:ea typeface="Calibri"/>
                <a:cs typeface="Times New Roman"/>
              </a:rPr>
              <a:t>Healthcare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Mental health improvement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Behavior health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Telemedicine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Virtual care</a:t>
            </a:r>
          </a:p>
          <a:p>
            <a:pPr marL="513715" lvl="1" indent="-170815">
              <a:buFont typeface="Courier New" panose="020B0604020202020204" pitchFamily="34" charset="0"/>
              <a:buChar char="o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984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F8A4-4849-4DF4-B148-40717DB8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54438-814F-4883-AA17-F35CC6DB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>
                <a:latin typeface="Times New Roman"/>
                <a:ea typeface="+mn-lt"/>
                <a:cs typeface="Times New Roman"/>
              </a:rPr>
              <a:t>Although modern AI systems can communicate with humans, they still struggle to truly understand human emotions.</a:t>
            </a:r>
          </a:p>
          <a:p>
            <a:pPr marL="170815" indent="-170815"/>
            <a:r>
              <a:rPr lang="en-US">
                <a:latin typeface="Times New Roman"/>
                <a:ea typeface="+mn-lt"/>
                <a:cs typeface="Times New Roman"/>
              </a:rPr>
              <a:t>In facial image, lighting, face angles, similar facial expressions, cultural variation make it challenging</a:t>
            </a:r>
          </a:p>
          <a:p>
            <a:pPr marL="170815" indent="-170815"/>
            <a:r>
              <a:rPr lang="en-US">
                <a:latin typeface="Times New Roman"/>
                <a:ea typeface="+mn-lt"/>
                <a:cs typeface="Times New Roman"/>
              </a:rPr>
              <a:t>Emotions are subtle and context-dependent</a:t>
            </a:r>
          </a:p>
          <a:p>
            <a:pPr marL="170815" indent="-170815"/>
            <a:r>
              <a:rPr lang="en-US">
                <a:latin typeface="Times New Roman"/>
                <a:ea typeface="+mn-lt"/>
                <a:cs typeface="Times New Roman"/>
              </a:rPr>
              <a:t>Single-modality systems (text-only or image-only) often miss important emotional cues.</a:t>
            </a:r>
          </a:p>
          <a:p>
            <a:pPr marL="170815" indent="-170815"/>
            <a:r>
              <a:rPr lang="en-US">
                <a:latin typeface="Times New Roman"/>
                <a:ea typeface="+mn-lt"/>
                <a:cs typeface="Times New Roman"/>
              </a:rPr>
              <a:t>These limitations reduce the ability of AI systems to recognize subtle emotional indicators associated with increasing mental health issues.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6693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605A-59BF-E8C9-8041-7F8EAFD4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Motivation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52D30-2A1F-BA28-4782-52476A296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170815" indent="-170815"/>
            <a:r>
              <a:rPr lang="en-US" sz="2000">
                <a:latin typeface="Times New Roman"/>
                <a:ea typeface="+mn-lt"/>
                <a:cs typeface="Times New Roman"/>
              </a:rPr>
              <a:t>AI systems can communicate with humans, but they still struggle to understand human emotions. 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170815" indent="-170815"/>
            <a:r>
              <a:rPr lang="en-US" sz="2000">
                <a:latin typeface="Times New Roman"/>
                <a:ea typeface="+mn-lt"/>
                <a:cs typeface="Times New Roman"/>
              </a:rPr>
              <a:t>Emotional intelligence is essential for creating more natural, empathetic, and human-centered AI systems. </a:t>
            </a:r>
            <a:endParaRPr lang="en-US">
              <a:latin typeface="Times New Roman"/>
              <a:cs typeface="Times New Roman"/>
            </a:endParaRPr>
          </a:p>
          <a:p>
            <a:pPr marL="170815" indent="-170815"/>
            <a:r>
              <a:rPr lang="en-US" sz="2000">
                <a:latin typeface="Times New Roman"/>
                <a:ea typeface="+mn-lt"/>
                <a:cs typeface="Times New Roman"/>
              </a:rPr>
              <a:t>Multimodal emotion recognition can improve applications in various fields, such as Mental health support, online education, human-computer interaction</a:t>
            </a:r>
            <a:endParaRPr lang="en-US" sz="1700">
              <a:latin typeface="Times New Roman"/>
              <a:ea typeface="Calibri"/>
              <a:cs typeface="Times New Roman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 sz="1700">
                <a:latin typeface="Times New Roman"/>
                <a:ea typeface="+mn-lt"/>
                <a:cs typeface="Times New Roman"/>
              </a:rPr>
              <a:t>Healthcare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 sz="1700">
                <a:latin typeface="Times New Roman"/>
                <a:ea typeface="+mn-lt"/>
                <a:cs typeface="Times New Roman"/>
              </a:rPr>
              <a:t>Education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 sz="1700">
                <a:latin typeface="Times New Roman"/>
                <a:ea typeface="+mn-lt"/>
                <a:cs typeface="Times New Roman"/>
              </a:rPr>
              <a:t>Customer service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513715" lvl="1" indent="-170815">
              <a:buFont typeface="Courier New" panose="020B0604020202020204" pitchFamily="34" charset="0"/>
              <a:buChar char="o"/>
            </a:pPr>
            <a:r>
              <a:rPr lang="en-US" sz="1700">
                <a:latin typeface="Times New Roman"/>
                <a:ea typeface="+mn-lt"/>
                <a:cs typeface="Times New Roman"/>
              </a:rPr>
              <a:t>Human-computer interaction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170815" indent="-170815"/>
            <a:r>
              <a:rPr lang="en-US" sz="2000">
                <a:latin typeface="Times New Roman"/>
                <a:ea typeface="+mn-lt"/>
                <a:cs typeface="Times New Roman"/>
              </a:rPr>
              <a:t>This work aims to advance affective computing for real-world emotionally aware AI applications.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170815" indent="-170815"/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158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145F-5ACA-D848-F559-C43CB2D63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00" y="1047326"/>
            <a:ext cx="7886700" cy="1325563"/>
          </a:xfrm>
        </p:spPr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Related work</a:t>
            </a:r>
            <a:endParaRPr lang="en-US"/>
          </a:p>
        </p:txBody>
      </p:sp>
      <p:pic>
        <p:nvPicPr>
          <p:cNvPr id="4" name="Content Placeholder 3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8C490E57-8D85-EB07-6785-DFE6E9950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3980" y="2097324"/>
            <a:ext cx="1947314" cy="2548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EB68AF-33FA-4FE4-9FE8-70264D97B5A9}"/>
              </a:ext>
            </a:extLst>
          </p:cNvPr>
          <p:cNvSpPr txBox="1"/>
          <p:nvPr/>
        </p:nvSpPr>
        <p:spPr>
          <a:xfrm>
            <a:off x="211530" y="2102113"/>
            <a:ext cx="6842005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>
              <a:buFont typeface="Arial"/>
              <a:buChar char="•"/>
            </a:pPr>
            <a:r>
              <a:rPr lang="en-US" sz="2000" kern="1200" baseline="0">
                <a:latin typeface="Times New Roman"/>
                <a:ea typeface="Segoe UI"/>
                <a:cs typeface="Times New Roman"/>
              </a:rPr>
              <a:t>Dr. Rosalind Picard pioneered through the </a:t>
            </a:r>
            <a:r>
              <a:rPr lang="en-US" sz="2000" kern="1200">
                <a:latin typeface="Times New Roman"/>
                <a:ea typeface="Segoe UI"/>
                <a:cs typeface="Times New Roman"/>
              </a:rPr>
              <a:t>field </a:t>
            </a:r>
            <a:r>
              <a:rPr lang="en-US" sz="2000" b="1" kern="1200">
                <a:latin typeface="Times New Roman"/>
                <a:ea typeface="Segoe UI"/>
                <a:cs typeface="Times New Roman"/>
              </a:rPr>
              <a:t>Affective</a:t>
            </a:r>
            <a:r>
              <a:rPr lang="en-US" sz="2000" b="1" kern="1200" baseline="0">
                <a:latin typeface="Times New Roman"/>
                <a:ea typeface="Segoe UI"/>
                <a:cs typeface="Times New Roman"/>
              </a:rPr>
              <a:t> </a:t>
            </a:r>
            <a:r>
              <a:rPr lang="en-US" sz="2000" b="1" kern="1200">
                <a:latin typeface="Times New Roman"/>
                <a:ea typeface="Segoe UI"/>
                <a:cs typeface="Times New Roman"/>
              </a:rPr>
              <a:t>(Emotional)</a:t>
            </a:r>
            <a:r>
              <a:rPr lang="en-US" sz="2000" kern="1200">
                <a:latin typeface="Times New Roman"/>
                <a:ea typeface="Segoe UI"/>
                <a:cs typeface="Times New Roman"/>
              </a:rPr>
              <a:t> </a:t>
            </a:r>
            <a:r>
              <a:rPr lang="en-US" sz="2000" b="1" kern="1200">
                <a:latin typeface="Times New Roman"/>
                <a:ea typeface="Segoe UI"/>
                <a:cs typeface="Times New Roman"/>
              </a:rPr>
              <a:t>Computing​</a:t>
            </a:r>
            <a:r>
              <a:rPr lang="en-US" sz="2000" b="1">
                <a:latin typeface="Times New Roman"/>
                <a:ea typeface="Segoe UI"/>
                <a:cs typeface="Times New Roman"/>
              </a:rPr>
              <a:t> </a:t>
            </a:r>
            <a:r>
              <a:rPr lang="en-US" sz="2000">
                <a:latin typeface="Times New Roman"/>
                <a:ea typeface="Segoe UI"/>
                <a:cs typeface="Times New Roman"/>
              </a:rPr>
              <a:t>- published book in 1977</a:t>
            </a:r>
            <a:endParaRPr lang="en-US"/>
          </a:p>
          <a:p>
            <a:pPr marL="283210" indent="-283210">
              <a:buFont typeface="Arial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She states the emotional intelligence as a </a:t>
            </a:r>
            <a:r>
              <a:rPr lang="en-US" sz="2000" b="1">
                <a:latin typeface="Times New Roman"/>
                <a:cs typeface="Times New Roman"/>
              </a:rPr>
              <a:t>core component for intelligent machines.</a:t>
            </a:r>
          </a:p>
          <a:p>
            <a:pPr marL="342900" indent="-342900">
              <a:buFont typeface="Arial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Her applications include: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latin typeface="Times New Roman"/>
                <a:cs typeface="Times New Roman"/>
              </a:rPr>
              <a:t>Autism and </a:t>
            </a:r>
            <a:r>
              <a:rPr lang="en-US" sz="2000" err="1">
                <a:latin typeface="Times New Roman"/>
                <a:cs typeface="Times New Roman"/>
              </a:rPr>
              <a:t>Affectiva</a:t>
            </a:r>
            <a:r>
              <a:rPr lang="en-US" sz="2000">
                <a:latin typeface="Times New Roman"/>
                <a:cs typeface="Times New Roman"/>
              </a:rPr>
              <a:t>: manage seizure risk and facilitate better understanding of emotions.</a:t>
            </a:r>
          </a:p>
          <a:p>
            <a:pPr marL="800100" lvl="1" indent="-342900">
              <a:buFont typeface="Courier New"/>
              <a:buChar char="o"/>
            </a:pPr>
            <a:r>
              <a:rPr lang="en-US" sz="2000">
                <a:latin typeface="Times New Roman"/>
                <a:ea typeface="Calibri" panose="020F0502020204030204"/>
                <a:cs typeface="Times New Roman"/>
              </a:rPr>
              <a:t>Precision Medicine for depression</a:t>
            </a:r>
          </a:p>
          <a:p>
            <a:pPr lvl="1"/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Times New Roman"/>
                <a:ea typeface="Calibri" panose="020F0502020204030204"/>
                <a:cs typeface="Times New Roman"/>
              </a:rPr>
              <a:t>Her mission is to mitigate epidemic of depression and suicide – current rate: taking more lives and costing more long-term disability than cancer.</a:t>
            </a:r>
          </a:p>
          <a:p>
            <a:pPr marL="283210" indent="-283210">
              <a:buFont typeface="Arial"/>
              <a:buChar char="•"/>
            </a:pP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marL="283210" indent="-283210">
              <a:buFont typeface="Arial"/>
              <a:buChar char="•"/>
            </a:pPr>
            <a:endParaRPr lang="en-US" sz="2000">
              <a:latin typeface="Times New Roman"/>
              <a:ea typeface="Calibri" panose="020F0502020204030204"/>
              <a:cs typeface="Times New Roman"/>
            </a:endParaRPr>
          </a:p>
          <a:p>
            <a:pPr algn="ctr"/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964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8A8BB-F819-994A-E1DF-2BCA2ECB9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299E-ADFC-0939-E091-25C38084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8EC4D-AFE5-12AA-09AE-47CF2CA24F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2284" y="3088036"/>
                <a:ext cx="4289714" cy="3551321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170815" indent="-170815"/>
                <a:r>
                  <a:rPr lang="en-US">
                    <a:latin typeface="Times New Roman"/>
                    <a:ea typeface="Calibri"/>
                    <a:cs typeface="Times New Roman"/>
                  </a:rPr>
                  <a:t>Input: Paired text and visual sample</a:t>
                </a:r>
              </a:p>
              <a:p>
                <a:pPr marL="513715" lvl="1" indent="-170815">
                  <a:buFont typeface="Courier New" panose="020B0604020202020204" pitchFamily="34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>
                    <a:latin typeface="Times New Roman"/>
                    <a:ea typeface="Calibri"/>
                    <a:cs typeface="Times New Roman"/>
                  </a:rPr>
                  <a:t> = text</a:t>
                </a:r>
              </a:p>
              <a:p>
                <a:pPr marL="513715" lvl="1" indent="-170815">
                  <a:buFont typeface="Courier New" panose="020B0604020202020204" pitchFamily="34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>
                    <a:latin typeface="Times New Roman"/>
                    <a:ea typeface="Calibri"/>
                    <a:cs typeface="Times New Roman"/>
                  </a:rPr>
                  <a:t>= facial image/frame</a:t>
                </a:r>
              </a:p>
              <a:p>
                <a:pPr marL="170815" indent="-170815"/>
                <a:r>
                  <a:rPr lang="en-US">
                    <a:latin typeface="Times New Roman"/>
                    <a:ea typeface="Calibri"/>
                    <a:cs typeface="Times New Roman"/>
                  </a:rPr>
                  <a:t>Output: an emotion label</a:t>
                </a:r>
              </a:p>
              <a:p>
                <a:pPr marL="513715" lvl="1" indent="-170815">
                  <a:buFont typeface="Courier New" panose="020B0604020202020204" pitchFamily="34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𝑌</m:t>
                    </m:r>
                  </m:oMath>
                </a14:m>
                <a:endParaRPr lang="en-US">
                  <a:latin typeface="Times New Roman"/>
                  <a:ea typeface="Calibri"/>
                  <a:cs typeface="Times New Roman"/>
                </a:endParaRPr>
              </a:p>
              <a:p>
                <a:pPr marL="170815" indent="-170815"/>
                <a:r>
                  <a:rPr lang="en-US">
                    <a:latin typeface="Times New Roman"/>
                    <a:ea typeface="Calibri"/>
                    <a:cs typeface="Times New Roman"/>
                  </a:rPr>
                  <a:t>Model idea:</a:t>
                </a:r>
              </a:p>
              <a:p>
                <a:pPr marL="513715" lvl="1" indent="-170815">
                  <a:buFont typeface="Courier New" panose="020B0604020202020204" pitchFamily="34" charset="0"/>
                  <a:buChar char="o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𝑦</m:t>
                        </m:r>
                      </m:e>
                    </m:acc>
                  </m:oMath>
                </a14:m>
                <a:endParaRPr lang="en-US">
                  <a:latin typeface="Times New Roman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18EC4D-AFE5-12AA-09AE-47CF2CA24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2284" y="3088036"/>
                <a:ext cx="4289714" cy="3551321"/>
              </a:xfrm>
              <a:blipFill>
                <a:blip r:embed="rId3"/>
                <a:stretch>
                  <a:fillRect l="-1420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D6AB12C-667D-4A79-31E0-5B27D3559B39}"/>
              </a:ext>
            </a:extLst>
          </p:cNvPr>
          <p:cNvSpPr txBox="1"/>
          <p:nvPr/>
        </p:nvSpPr>
        <p:spPr>
          <a:xfrm>
            <a:off x="314324" y="2562643"/>
            <a:ext cx="8515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/>
                <a:ea typeface="Calibri"/>
                <a:cs typeface="Times New Roman"/>
              </a:rPr>
              <a:t>We define emotion recognition as a supervised multi-class classification problem </a:t>
            </a:r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0153680-6510-E95B-B84D-6CFE8E2482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1998" y="3088035"/>
                <a:ext cx="4289714" cy="355132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171446" indent="-171446" algn="l" defTabSz="685783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37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28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20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12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03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95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686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577" indent="-171446" algn="l" defTabSz="685783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9" indent="-342900"/>
                <a:r>
                  <a:rPr lang="en-US">
                    <a:latin typeface="Times New Roman"/>
                    <a:ea typeface="Calibri"/>
                    <a:cs typeface="Times New Roman"/>
                  </a:rPr>
                  <a:t>Text and image are encoded separately:</a:t>
                </a:r>
              </a:p>
              <a:p>
                <a:pPr marL="513715" lvl="1" indent="-170815">
                  <a:buFont typeface="Courier New" panose="020B0604020202020204" pitchFamily="34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𝑣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>
                  <a:latin typeface="Times New Roman"/>
                  <a:ea typeface="Calibri"/>
                  <a:cs typeface="Times New Roman"/>
                </a:endParaRPr>
              </a:p>
              <a:p>
                <a:pPr marL="342909" indent="-342900"/>
                <a:r>
                  <a:rPr lang="en-US">
                    <a:latin typeface="Times New Roman"/>
                    <a:ea typeface="Calibri"/>
                    <a:cs typeface="Times New Roman"/>
                  </a:rPr>
                  <a:t>Features are then combined:</a:t>
                </a:r>
              </a:p>
              <a:p>
                <a:pPr marL="513715" lvl="1" indent="-170815">
                  <a:buFont typeface="Courier New" panose="020B0604020202020204" pitchFamily="34" charset="0"/>
                  <a:buChar char="o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h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𝑐𝑜𝑛𝑐𝑎𝑡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h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>
                  <a:latin typeface="Times New Roman"/>
                  <a:ea typeface="Calibri"/>
                  <a:cs typeface="Times New Roman"/>
                </a:endParaRPr>
              </a:p>
              <a:p>
                <a:pPr marL="342909" indent="-342900"/>
                <a:r>
                  <a:rPr lang="en-US">
                    <a:latin typeface="Times New Roman"/>
                    <a:ea typeface="Calibri"/>
                    <a:cs typeface="Times New Roman"/>
                  </a:rPr>
                  <a:t>Classify emotion using h:</a:t>
                </a:r>
              </a:p>
              <a:p>
                <a:pPr marL="685800" lvl="1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libri"/>
                        <a:cs typeface="Times New Roman"/>
                      </a:rPr>
                      <m:t>𝑐𝑙𝑎𝑠𝑠𝑖𝑓𝑖𝑒𝑟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  <m:t>h</m:t>
                        </m:r>
                      </m:e>
                    </m:d>
                  </m:oMath>
                </a14:m>
                <a:endParaRPr lang="en-US">
                  <a:latin typeface="Times New Roman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0153680-6510-E95B-B84D-6CFE8E248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8" y="3088035"/>
                <a:ext cx="4289714" cy="3551321"/>
              </a:xfrm>
              <a:prstGeom prst="rect">
                <a:avLst/>
              </a:prstGeom>
              <a:blipFill>
                <a:blip r:embed="rId4"/>
                <a:stretch>
                  <a:fillRect l="-1420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972F99D-AEEB-2683-42E4-FD7D36A52491}"/>
              </a:ext>
            </a:extLst>
          </p:cNvPr>
          <p:cNvSpPr txBox="1"/>
          <p:nvPr/>
        </p:nvSpPr>
        <p:spPr>
          <a:xfrm>
            <a:off x="314324" y="5820193"/>
            <a:ext cx="8515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latin typeface="Times New Roman"/>
                <a:ea typeface="Calibri"/>
                <a:cs typeface="Times New Roman"/>
              </a:rPr>
              <a:t>Key idea</a:t>
            </a:r>
            <a:r>
              <a:rPr lang="en-US" sz="2000">
                <a:latin typeface="Times New Roman"/>
                <a:ea typeface="Calibri"/>
                <a:cs typeface="Times New Roman"/>
              </a:rPr>
              <a:t>: Combine language and facial cues to predict emotion more accurately than using one modality alone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7686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C7B1-2868-428A-8872-EC3ABE69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541967"/>
            <a:ext cx="7886700" cy="1325563"/>
          </a:xfrm>
        </p:spPr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Datasets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A5170-BF77-49D0-BEB1-BA9FD7D8C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657176"/>
            <a:ext cx="7886700" cy="38892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Twitter Emotions:</a:t>
            </a:r>
            <a:endParaRPr lang="en-US" sz="1600">
              <a:latin typeface="Times New Roman"/>
              <a:ea typeface="Calibri" panose="020F0502020204030204"/>
              <a:cs typeface="Times New Roman"/>
            </a:endParaRP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>
                <a:latin typeface="Times New Roman"/>
                <a:ea typeface="Calibri" panose="020F0502020204030204"/>
                <a:cs typeface="Times New Roman"/>
              </a:rPr>
              <a:t>416,809 tweets, 6 classes (sadness, joy, love, anger, fear, surprise). Moderate imbalance: 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joy+sadness</a:t>
            </a:r>
            <a:r>
              <a:rPr lang="en-US" sz="1600">
                <a:latin typeface="Times New Roman"/>
                <a:ea typeface="Calibri"/>
                <a:cs typeface="Times New Roman"/>
              </a:rPr>
              <a:t> ~60% of samples. Used 80/20 stratified split.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OAHEGA (Facial):</a:t>
            </a:r>
            <a:endParaRPr lang="en-US" sz="1600">
              <a:latin typeface="Times New Roman"/>
              <a:ea typeface="Calibri" panose="020F0502020204030204"/>
              <a:cs typeface="Times New Roman"/>
            </a:endParaRP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>
                <a:latin typeface="Times New Roman"/>
                <a:ea typeface="Calibri" panose="020F0502020204030204"/>
                <a:cs typeface="Times New Roman"/>
              </a:rPr>
              <a:t>~15,500 RGB images, 6 classes. Significant imbalance: Happy/Neutral/Sad ~2,700 each vs. Angry/Surprise/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Ahegao</a:t>
            </a:r>
            <a:r>
              <a:rPr lang="en-US" sz="1600">
                <a:latin typeface="Times New Roman"/>
                <a:ea typeface="Calibri"/>
                <a:cs typeface="Times New Roman"/>
              </a:rPr>
              <a:t> ~900. Used 70/15/15 split.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MELD (Multimodal):</a:t>
            </a:r>
            <a:endParaRPr lang="en-US" sz="1600">
              <a:latin typeface="Times New Roman"/>
              <a:ea typeface="Calibri" panose="020F0502020204030204"/>
              <a:cs typeface="Times New Roman"/>
            </a:endParaRP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>
                <a:latin typeface="Times New Roman"/>
                <a:ea typeface="Calibri" panose="020F0502020204030204"/>
                <a:cs typeface="Times New Roman"/>
              </a:rPr>
              <a:t>13,708 utterances from Friends TV, 7 classes, synchronized text + video. Severe imbalance: neutral 46.8%, 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disgust+fear</a:t>
            </a:r>
            <a:r>
              <a:rPr lang="en-US" sz="1600">
                <a:latin typeface="Times New Roman"/>
                <a:ea typeface="Calibri"/>
                <a:cs typeface="Times New Roman"/>
              </a:rPr>
              <a:t> only 3.5%. Pre-split train/dev/test.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Key challenge:</a:t>
            </a:r>
            <a:endParaRPr lang="en-US" sz="1600">
              <a:latin typeface="Times New Roman"/>
              <a:ea typeface="Calibri" panose="020F0502020204030204"/>
              <a:cs typeface="Times New Roman"/>
            </a:endParaRP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>
                <a:latin typeface="Times New Roman"/>
                <a:ea typeface="Calibri" panose="020F0502020204030204"/>
                <a:cs typeface="Times New Roman"/>
              </a:rPr>
              <a:t>MELD 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neutral:disgust</a:t>
            </a:r>
            <a:r>
              <a:rPr lang="en-US" sz="1600">
                <a:latin typeface="Times New Roman"/>
                <a:ea typeface="Calibri"/>
                <a:cs typeface="Times New Roman"/>
              </a:rPr>
              <a:t> ratio up to 25:1 — accuracy alone is misleading. Cohen's Kappa required for honest evaluation.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71159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0DE1-C927-07C0-9A12-5F5BA517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89733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/>
              <a:t>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9B89A65-3690-9F06-A7C0-E216D5B34F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2234600"/>
                <a:ext cx="7886700" cy="4536756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170815" indent="-170815">
                  <a:buNone/>
                </a:pPr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Class imbalance was a persistent challenge across all three datasets.</a:t>
                </a:r>
                <a:endParaRPr lang="en-US" sz="1600">
                  <a:ea typeface="Calibri" panose="020F0502020204030204"/>
                  <a:cs typeface="Calibri" panose="020F0502020204030204"/>
                </a:endParaRPr>
              </a:p>
              <a:p>
                <a:pPr marL="170815" indent="-170815">
                  <a:buNone/>
                </a:pPr>
                <a:r>
                  <a:rPr lang="en-US" sz="1600" b="1">
                    <a:latin typeface="Times New Roman"/>
                    <a:ea typeface="Calibri"/>
                    <a:cs typeface="Times New Roman"/>
                  </a:rPr>
                  <a:t>Initial approach: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>
                    <a:latin typeface="Arial"/>
                    <a:ea typeface="Calibri"/>
                    <a:cs typeface="Arial"/>
                  </a:rPr>
                  <a:t>• </a:t>
                </a:r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Raw inverse frequency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/>
                          </a:rPr>
                          <m:t>𝑤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cs typeface="Times New Roman"/>
                          </a:rPr>
                          <m:t>𝑘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/>
                      </a:rPr>
                      <m:t>𝑁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/>
                      </a:rPr>
                      <m:t>/(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/>
                      </a:rPr>
                      <m:t>𝐾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cs typeface="Times New Roman"/>
                      </a:rPr>
                      <m:t> × 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𝑘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)</m:t>
                    </m:r>
                  </m:oMath>
                </a14:m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 combined with </a:t>
                </a:r>
                <a:r>
                  <a:rPr lang="en-US" sz="1600" err="1">
                    <a:latin typeface="Times New Roman"/>
                    <a:ea typeface="Calibri"/>
                    <a:cs typeface="Times New Roman"/>
                  </a:rPr>
                  <a:t>WeightedRandomSampler</a:t>
                </a:r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. Result: catastrophic over-correction on OAHEGA — accuracy dropped from 55% to 20%, model predicted only minority classes.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 b="1">
                    <a:latin typeface="Times New Roman"/>
                    <a:ea typeface="Calibri"/>
                    <a:cs typeface="Times New Roman"/>
                  </a:rPr>
                  <a:t>Fix: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>
                    <a:latin typeface="Arial"/>
                    <a:ea typeface="Calibri"/>
                    <a:cs typeface="Arial"/>
                  </a:rPr>
                  <a:t>• </a:t>
                </a:r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Remove WeightedRandomSampler entirely. Replace with square-root inverse frequency: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/>
                      </a:rPr>
                      <m:t>=1/</m:t>
                    </m:r>
                    <m:rad>
                      <m:radPr>
                        <m:deg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, normalized to sum to K. Compresses weight range while preserving relative priorities.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 b="1">
                    <a:latin typeface="Times New Roman"/>
                    <a:ea typeface="Calibri"/>
                    <a:cs typeface="Times New Roman"/>
                  </a:rPr>
                  <a:t>MELD: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>
                    <a:latin typeface="Arial"/>
                    <a:ea typeface="Calibri"/>
                    <a:cs typeface="Arial"/>
                  </a:rPr>
                  <a:t>• </a:t>
                </a:r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More severe imbalance (up to 37x ratio) required stronger correction — raw inverse frequency with label smoothing epsilon=0.02.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 b="1">
                    <a:latin typeface="Times New Roman"/>
                    <a:ea typeface="Calibri"/>
                    <a:cs typeface="Times New Roman"/>
                  </a:rPr>
                  <a:t>Lesson:</a:t>
                </a:r>
                <a:endParaRPr lang="en-US" sz="1600">
                  <a:ea typeface="Calibri"/>
                  <a:cs typeface="Calibri"/>
                </a:endParaRPr>
              </a:p>
              <a:p>
                <a:pPr marL="170815" indent="-170815">
                  <a:buNone/>
                </a:pPr>
                <a:r>
                  <a:rPr lang="en-US" sz="1600">
                    <a:latin typeface="Arial"/>
                    <a:ea typeface="Calibri"/>
                    <a:cs typeface="Arial"/>
                  </a:rPr>
                  <a:t>• </a:t>
                </a:r>
                <a:r>
                  <a:rPr lang="en-US" sz="1600">
                    <a:latin typeface="Times New Roman"/>
                    <a:ea typeface="Calibri"/>
                    <a:cs typeface="Times New Roman"/>
                  </a:rPr>
                  <a:t>Combining two imbalance correction mechanisms simultaneously causes compounding over-correction.</a:t>
                </a:r>
                <a:endParaRPr lang="en-US" sz="1600">
                  <a:ea typeface="Calibri" panose="020F0502020204030204"/>
                  <a:cs typeface="Calibri" panose="020F0502020204030204"/>
                </a:endParaRPr>
              </a:p>
              <a:p>
                <a:pPr marL="170815" indent="-170815">
                  <a:lnSpc>
                    <a:spcPct val="100000"/>
                  </a:lnSpc>
                  <a:buNone/>
                </a:pPr>
                <a:endParaRPr lang="en-US" sz="1600" b="1">
                  <a:latin typeface="Times New Roman"/>
                  <a:ea typeface="Calibri"/>
                  <a:cs typeface="Times New Roman"/>
                </a:endParaRPr>
              </a:p>
              <a:p>
                <a:pPr marL="0" indent="0">
                  <a:buNone/>
                </a:pPr>
                <a:endParaRPr lang="en-US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9B89A65-3690-9F06-A7C0-E216D5B34F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2234600"/>
                <a:ext cx="7886700" cy="4536756"/>
              </a:xfrm>
              <a:blipFill>
                <a:blip r:embed="rId2"/>
                <a:stretch>
                  <a:fillRect l="-386" t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99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10A9-75B7-477A-AC1C-E7064001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052715"/>
            <a:ext cx="7886700" cy="1325563"/>
          </a:xfrm>
        </p:spPr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Methodology (Models 1-5)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4152-C20A-4F48-8C7C-AA47CD4E1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133992"/>
            <a:ext cx="7886700" cy="43526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Models 1-2 — Classical text baselines:</a:t>
            </a:r>
            <a:r>
              <a:rPr lang="en-US" sz="1600">
                <a:latin typeface="Times New Roman"/>
                <a:ea typeface="Calibri"/>
                <a:cs typeface="Times New Roman"/>
              </a:rPr>
              <a:t> We followed the standard TF-IDF + classifier design. Key finding: LR (89.7%) outperforms RF (85.6%) -- sparse high-dimensional representations favor linear boundaries.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 dirty="0">
                <a:latin typeface="Times New Roman"/>
                <a:ea typeface="Calibri"/>
                <a:cs typeface="Times New Roman"/>
              </a:rPr>
              <a:t>Model 3 — </a:t>
            </a:r>
            <a:r>
              <a:rPr lang="en-US" sz="1600" b="1" dirty="0" err="1">
                <a:latin typeface="Times New Roman"/>
                <a:ea typeface="Calibri"/>
                <a:cs typeface="Times New Roman"/>
              </a:rPr>
              <a:t>DistilBERT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: 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We followed the standard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DistilBERT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fine-tuning design. Key implementation detail: the pretrained CLS token embeddings is reused directly as the text encoder in both multimodal fusion models (models 7-8).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AdamW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lr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=2e-5, 10 epochs, 91.8% accuracy.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 dirty="0">
                <a:latin typeface="Times New Roman"/>
                <a:ea typeface="Calibri"/>
                <a:cs typeface="Times New Roman"/>
              </a:rPr>
              <a:t>Model 4 — CNN from scratch: 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We followed the standard CNN design of 3 conv blocks, 32-&gt;64-&gt;128 filters, 48x48 input). Key finding: 55.4% accuracy. Angry class had 0% recall – not an imbalance issue. For example: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Ahegao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had way fewer samples yet achieves 82% F1. The root cause is feature capacity.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 dirty="0">
                <a:latin typeface="Times New Roman"/>
                <a:ea typeface="Calibri"/>
                <a:cs typeface="Times New Roman"/>
              </a:rPr>
              <a:t>Model 5 — ResNet-18 transfer: 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We followed the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ResNet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design from class but implemented it differently: two-phase fine-tuning with differential learning rates.</a:t>
            </a:r>
          </a:p>
          <a:p>
            <a:pPr marL="170815" indent="-170815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Phase 1: freeze backbone, train head only (10 epochs,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lr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=1e-3)</a:t>
            </a:r>
          </a:p>
          <a:p>
            <a:pPr marL="170815" indent="-170815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Phase 2: unfreeze layer4, differential LRs – backbone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lr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=1e-4, head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lr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=1e-3 (20 epochs)</a:t>
            </a:r>
          </a:p>
          <a:p>
            <a:pPr marL="170815" indent="-170815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sz="1600">
                <a:latin typeface="Times New Roman"/>
                <a:ea typeface="Calibri"/>
                <a:cs typeface="Times New Roman"/>
              </a:rPr>
              <a:t>Result: 79.6% accuracy (+24.2 pts over CNN), Angry: 0% -&gt; 68% F1</a:t>
            </a:r>
          </a:p>
          <a:p>
            <a:pPr marL="170815" indent="-170815">
              <a:lnSpc>
                <a:spcPct val="100000"/>
              </a:lnSpc>
              <a:buNone/>
            </a:pPr>
            <a:endParaRPr lang="en-US" sz="16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9763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E6BF2-5622-B106-A33F-ECB7A0C8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D1402-6105-7653-B0F4-EF8020CC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052715"/>
            <a:ext cx="7886700" cy="1325563"/>
          </a:xfrm>
        </p:spPr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Methodology (Models 6-8)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30520-F99D-703E-8BD9-AE3BE95A9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133992"/>
            <a:ext cx="7886700" cy="43526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Models 6 — Multimodal Fusion with Unaligned Data: </a:t>
            </a:r>
            <a:r>
              <a:rPr lang="en-US" sz="1600">
                <a:latin typeface="Times New Roman"/>
                <a:ea typeface="Calibri"/>
                <a:cs typeface="Times New Roman"/>
              </a:rPr>
              <a:t>We paired the Twitter text dataset with the OAHEGA images by matching emotion labels. Key finding: served as an important baseline but failed because the text and image did not have the same context. Had an accuracy of 38.5% which was close to random classification. 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Model 7 — Multimodal Fusion with CNN Encoder: </a:t>
            </a:r>
            <a:r>
              <a:rPr lang="en-US" sz="1600">
                <a:latin typeface="Times New Roman"/>
                <a:ea typeface="Calibri"/>
                <a:cs typeface="Times New Roman"/>
              </a:rPr>
              <a:t>We switched to the aligned MELD dataset using 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DistilBERT</a:t>
            </a:r>
            <a:r>
              <a:rPr lang="en-US" sz="1600">
                <a:latin typeface="Times New Roman"/>
                <a:ea typeface="Calibri"/>
                <a:cs typeface="Times New Roman"/>
              </a:rPr>
              <a:t> for text, our CNN from scratch for images, and cross-modal attention for fusion. Key finding: alignment improved performance compared to the unaligned baseline, but the CNN image encoder remained a bottleneck. Achieved 42.2% accuracy, a 3.7% accuracy boost. </a:t>
            </a:r>
          </a:p>
          <a:p>
            <a:pPr marL="170815" indent="-170815">
              <a:lnSpc>
                <a:spcPct val="100000"/>
              </a:lnSpc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Model 8 — Final System Architecture: </a:t>
            </a:r>
            <a:r>
              <a:rPr lang="en-US" sz="1600">
                <a:latin typeface="Times New Roman"/>
                <a:ea typeface="Calibri"/>
                <a:cs typeface="Times New Roman"/>
              </a:rPr>
              <a:t>We kept the aligned MELD dataset, </a:t>
            </a:r>
            <a:r>
              <a:rPr lang="en-US" sz="1600" err="1">
                <a:latin typeface="Times New Roman"/>
                <a:ea typeface="Calibri"/>
                <a:cs typeface="Times New Roman"/>
              </a:rPr>
              <a:t>DistilBERT</a:t>
            </a:r>
            <a:r>
              <a:rPr lang="en-US" sz="1600">
                <a:latin typeface="Times New Roman"/>
                <a:ea typeface="Calibri"/>
                <a:cs typeface="Times New Roman"/>
              </a:rPr>
              <a:t> text encoder, and cross-modal attention fusion, but replaced the CNN with the pretrained ResNet-18 for images. Since the encoders output different vector sizes, a linear layer is applied to produce matching 256-dimensional features. Cross-modal attention lets each modality interact before fusion. The final 512-dimensional vector is then classified into 7 emotion classes. Achieved accuracy of 47.6%, a 5.4 percentage point improvement over model 7. </a:t>
            </a:r>
          </a:p>
        </p:txBody>
      </p:sp>
    </p:spTree>
    <p:extLst>
      <p:ext uri="{BB962C8B-B14F-4D97-AF65-F5344CB8AC3E}">
        <p14:creationId xmlns:p14="http://schemas.microsoft.com/office/powerpoint/2010/main" val="355299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9714-1671-E925-167A-FA70CD72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Results and Findings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453FC3-CBB6-FE9E-7184-6D33FB9F28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951163"/>
          <a:ext cx="7886699" cy="25190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5467">
                  <a:extLst>
                    <a:ext uri="{9D8B030D-6E8A-4147-A177-3AD203B41FA5}">
                      <a16:colId xmlns:a16="http://schemas.microsoft.com/office/drawing/2014/main" val="3632307379"/>
                    </a:ext>
                  </a:extLst>
                </a:gridCol>
                <a:gridCol w="1395226">
                  <a:extLst>
                    <a:ext uri="{9D8B030D-6E8A-4147-A177-3AD203B41FA5}">
                      <a16:colId xmlns:a16="http://schemas.microsoft.com/office/drawing/2014/main" val="1274962492"/>
                    </a:ext>
                  </a:extLst>
                </a:gridCol>
                <a:gridCol w="1321793">
                  <a:extLst>
                    <a:ext uri="{9D8B030D-6E8A-4147-A177-3AD203B41FA5}">
                      <a16:colId xmlns:a16="http://schemas.microsoft.com/office/drawing/2014/main" val="2253084983"/>
                    </a:ext>
                  </a:extLst>
                </a:gridCol>
                <a:gridCol w="1321793">
                  <a:extLst>
                    <a:ext uri="{9D8B030D-6E8A-4147-A177-3AD203B41FA5}">
                      <a16:colId xmlns:a16="http://schemas.microsoft.com/office/drawing/2014/main" val="1053764892"/>
                    </a:ext>
                  </a:extLst>
                </a:gridCol>
                <a:gridCol w="1292420">
                  <a:extLst>
                    <a:ext uri="{9D8B030D-6E8A-4147-A177-3AD203B41FA5}">
                      <a16:colId xmlns:a16="http://schemas.microsoft.com/office/drawing/2014/main" val="363830842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r>
                        <a:rPr lang="en-US" sz="1000" b="0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76200" marR="76200" marT="47625" marB="47625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Accuracy</a:t>
                      </a:r>
                      <a:r>
                        <a:rPr lang="en-US" sz="1000" b="0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76200" marR="76200" marT="47625" marB="47625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Macro F1</a:t>
                      </a:r>
                      <a:r>
                        <a:rPr lang="en-US" sz="1000" b="0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76200" marR="76200" marT="47625" marB="47625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Kappa</a:t>
                      </a:r>
                      <a:r>
                        <a:rPr lang="en-US" sz="1000" b="0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76200" marR="76200" marT="47625" marB="47625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ROC-AUC</a:t>
                      </a:r>
                      <a:r>
                        <a:rPr lang="en-US" sz="1000" b="0" i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solidFill>
                          <a:srgbClr val="F5F5F5"/>
                        </a:solidFill>
                        <a:effectLst/>
                      </a:endParaRPr>
                    </a:p>
                  </a:txBody>
                  <a:tcPr marL="76200" marR="76200" marT="47625" marB="47625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829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Random Forest (TF-IDF)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85.6%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48704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Logistic Regression (TF-IDF)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89.7%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91779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DistilBERT (fine-tuned)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91.8%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00938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CNN from scratch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55.4%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0.41 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6286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ResNet-18 (transfer learning)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79.6%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0.80 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—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6619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Multimodal — unaligned (failed)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38.5%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0.14 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0.00 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85357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Multimodal — MELD + CNN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42.2%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0.31 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0.29 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0.74 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01373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Multimodal — MELD + ResNet-18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47.6%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0.31 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0.31 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88"/>
                        </a:lnSpc>
                        <a:buNone/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0.74 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38100" marB="38100">
                    <a:lnL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047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689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79DD-E71B-BC57-CCB6-0C62021BB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Loss Curve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B106FA-B2BD-55E2-A5F1-CBFF3B50D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07255" y="2448275"/>
            <a:ext cx="5109409" cy="37107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AB5B46-BA7A-3FEC-75A6-E7E6131FDEFB}"/>
              </a:ext>
            </a:extLst>
          </p:cNvPr>
          <p:cNvSpPr txBox="1"/>
          <p:nvPr/>
        </p:nvSpPr>
        <p:spPr>
          <a:xfrm>
            <a:off x="631658" y="2827421"/>
            <a:ext cx="302794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Converge through epoch 6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Early stopping selected epoch 8 checkpoint</a:t>
            </a: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707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D560-BC75-C0E4-7D3F-969220CC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Tahoma"/>
                <a:ea typeface="Tahoma"/>
                <a:cs typeface="Tahoma"/>
              </a:rPr>
              <a:t>Performance of unaligned vs aligned data</a:t>
            </a:r>
            <a:endParaRPr lang="en-US" sz="2800"/>
          </a:p>
        </p:txBody>
      </p:sp>
      <p:pic>
        <p:nvPicPr>
          <p:cNvPr id="4" name="Content Placeholder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A4F5877-DBDA-8B2C-62B9-EC01677B2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829" y="2550459"/>
            <a:ext cx="7755311" cy="430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86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7F51-7B34-0B5A-C8C6-3572AA4D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6E66-9031-A24F-0A21-0D82328D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>
                <a:ea typeface="Calibri" panose="020F0502020204030204"/>
                <a:cs typeface="Calibri" panose="020F0502020204030204"/>
              </a:rPr>
              <a:t>The multimodal model trained on unaligned data failed to learn meaningful emotional expressions.</a:t>
            </a:r>
          </a:p>
          <a:p>
            <a:pPr marL="170815" indent="-170815"/>
            <a:r>
              <a:rPr lang="en-US">
                <a:ea typeface="Calibri" panose="020F0502020204030204"/>
                <a:cs typeface="Calibri" panose="020F0502020204030204"/>
              </a:rPr>
              <a:t>Models trained with aligned MELD dataset demonstrated clear improvements in both accuracy and class-level performance.</a:t>
            </a:r>
          </a:p>
          <a:p>
            <a:pPr marL="170815" indent="-170815"/>
            <a:r>
              <a:rPr lang="en-US">
                <a:ea typeface="+mn-lt"/>
                <a:cs typeface="+mn-lt"/>
              </a:rPr>
              <a:t>However, Multimodal models did not surpass the performance of the best unimodal text model.</a:t>
            </a:r>
          </a:p>
          <a:p>
            <a:pPr marL="170815" indent="-170815"/>
            <a:r>
              <a:rPr lang="en-US">
                <a:ea typeface="Calibri" panose="020F0502020204030204"/>
                <a:cs typeface="Calibri" panose="020F0502020204030204"/>
              </a:rPr>
              <a:t>More advanced fusion strategies may be required.</a:t>
            </a:r>
          </a:p>
        </p:txBody>
      </p:sp>
    </p:spTree>
    <p:extLst>
      <p:ext uri="{BB962C8B-B14F-4D97-AF65-F5344CB8AC3E}">
        <p14:creationId xmlns:p14="http://schemas.microsoft.com/office/powerpoint/2010/main" val="1057196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41C1-E26E-61A8-A6C9-B13DF8E2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B3059-AE48-1602-0E31-BA0034671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660748"/>
            <a:ext cx="7886700" cy="35163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>
                <a:latin typeface="Calibri"/>
                <a:ea typeface="Calibri" panose="020F0502020204030204"/>
                <a:cs typeface="Calibri"/>
              </a:rPr>
              <a:t>The multimodal models relied on a single frame representation of video data, which may not fully capture dynamics of facial expressions.</a:t>
            </a:r>
          </a:p>
          <a:p>
            <a:pPr marL="170815" indent="-170815"/>
            <a:endParaRPr lang="en-US">
              <a:latin typeface="Calibri"/>
              <a:ea typeface="Calibri" panose="020F0502020204030204"/>
              <a:cs typeface="Calibri"/>
            </a:endParaRPr>
          </a:p>
          <a:p>
            <a:pPr marL="170815" indent="-170815"/>
            <a:r>
              <a:rPr lang="en-US">
                <a:latin typeface="Calibri"/>
                <a:ea typeface="Calibri" panose="020F0502020204030204"/>
                <a:cs typeface="Calibri"/>
              </a:rPr>
              <a:t>lass imbalance in the datasets posed a significant challenge.</a:t>
            </a:r>
          </a:p>
          <a:p>
            <a:pPr marL="170815" indent="-170815"/>
            <a:endParaRPr lang="en-US">
              <a:latin typeface="Calibri"/>
              <a:ea typeface="Calibri" panose="020F0502020204030204"/>
              <a:cs typeface="Calibri"/>
            </a:endParaRPr>
          </a:p>
          <a:p>
            <a:pPr marL="170815" indent="-170815"/>
            <a:r>
              <a:rPr lang="en-US">
                <a:latin typeface="Calibri"/>
                <a:ea typeface="Calibri" panose="020F0502020204030204"/>
                <a:cs typeface="Calibri"/>
              </a:rPr>
              <a:t>Despite weighting strategies, minority classes such as disgust and fear remained difficult to classify accurately.</a:t>
            </a:r>
          </a:p>
        </p:txBody>
      </p:sp>
    </p:spTree>
    <p:extLst>
      <p:ext uri="{BB962C8B-B14F-4D97-AF65-F5344CB8AC3E}">
        <p14:creationId xmlns:p14="http://schemas.microsoft.com/office/powerpoint/2010/main" val="2869385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3B31-AE8C-1013-E5C2-F4323C68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ahoma"/>
                <a:ea typeface="Tahoma"/>
                <a:cs typeface="Tahoma"/>
              </a:rPr>
              <a:t>Next steps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7A38-DDD4-6DC6-2C71-D9B892224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>
                <a:latin typeface="Calibri"/>
                <a:ea typeface="Calibri"/>
                <a:cs typeface="Calibri"/>
              </a:rPr>
              <a:t>explore more sophisticated multimodal fusion techniques</a:t>
            </a:r>
          </a:p>
          <a:p>
            <a:pPr marL="170815" indent="-170815"/>
            <a:r>
              <a:rPr lang="en-US">
                <a:latin typeface="Calibri"/>
                <a:ea typeface="Calibri"/>
                <a:cs typeface="Calibri"/>
              </a:rPr>
              <a:t>Incorporate additional modality – audio</a:t>
            </a:r>
          </a:p>
          <a:p>
            <a:pPr marL="170815" indent="-170815"/>
            <a:endParaRPr lang="en-US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8262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A person with different colored faces&#10;&#10;AI-generated content may be incorrect.">
            <a:extLst>
              <a:ext uri="{FF2B5EF4-FFF2-40B4-BE49-F238E27FC236}">
                <a16:creationId xmlns:a16="http://schemas.microsoft.com/office/drawing/2014/main" id="{5EE641BB-B594-E080-B306-F2337E834A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7762" r="8926"/>
          <a:stretch>
            <a:fillRect/>
          </a:stretch>
        </p:blipFill>
        <p:spPr>
          <a:xfrm>
            <a:off x="3870433" y="0"/>
            <a:ext cx="5080268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72E9B9-DED5-6ED5-30DB-20A12BE6B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0815" indent="-170815"/>
            <a:r>
              <a:rPr lang="en-US">
                <a:latin typeface="Tahoma"/>
                <a:ea typeface="Tahoma"/>
                <a:cs typeface="Tahoma"/>
              </a:rPr>
              <a:t>Thank You!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322233"/>
      </p:ext>
    </p:extLst>
  </p:cSld>
  <p:clrMapOvr>
    <a:masterClrMapping/>
  </p:clrMapOvr>
</p:sld>
</file>

<file path=ppt/theme/theme1.xml><?xml version="1.0" encoding="utf-8"?>
<a:theme xmlns:a="http://schemas.openxmlformats.org/drawingml/2006/main" name="NMSU_2019">
  <a:themeElements>
    <a:clrScheme name="NMSU_2019">
      <a:dk1>
        <a:srgbClr val="000000"/>
      </a:dk1>
      <a:lt1>
        <a:srgbClr val="FEFFFF"/>
      </a:lt1>
      <a:dk2>
        <a:srgbClr val="8C0B41"/>
      </a:dk2>
      <a:lt2>
        <a:srgbClr val="E7E6E6"/>
      </a:lt2>
      <a:accent1>
        <a:srgbClr val="A7BABE"/>
      </a:accent1>
      <a:accent2>
        <a:srgbClr val="CFC7BD"/>
      </a:accent2>
      <a:accent3>
        <a:srgbClr val="A5A5A5"/>
      </a:accent3>
      <a:accent4>
        <a:srgbClr val="FEFFFF"/>
      </a:accent4>
      <a:accent5>
        <a:srgbClr val="5B9BD5"/>
      </a:accent5>
      <a:accent6>
        <a:srgbClr val="8C0B41"/>
      </a:accent6>
      <a:hlink>
        <a:srgbClr val="50B9F2"/>
      </a:hlink>
      <a:folHlink>
        <a:srgbClr val="6D6E7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_NMSU_Standard_Wrike" id="{B37676F9-48AD-AF43-AC32-7D2E5AC0BB8F}" vid="{E1C8F6CC-1598-1040-B9B3-DBFA67ABB1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A9D61DF888204C8139A81CE9DDA511" ma:contentTypeVersion="10" ma:contentTypeDescription="Create a new document." ma:contentTypeScope="" ma:versionID="9ffdf6476efb54183fca226d0e7dced6">
  <xsd:schema xmlns:xsd="http://www.w3.org/2001/XMLSchema" xmlns:xs="http://www.w3.org/2001/XMLSchema" xmlns:p="http://schemas.microsoft.com/office/2006/metadata/properties" xmlns:ns2="c2a35c80-fa78-4fa7-95e2-355173bbaa72" xmlns:ns3="ead5e06c-ea83-4267-93dd-8052bbf6033b" targetNamespace="http://schemas.microsoft.com/office/2006/metadata/properties" ma:root="true" ma:fieldsID="0e7ec5b8c1a30c680d5ee05b8050caff" ns2:_="" ns3:_="">
    <xsd:import namespace="c2a35c80-fa78-4fa7-95e2-355173bbaa72"/>
    <xsd:import namespace="ead5e06c-ea83-4267-93dd-8052bbf603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a35c80-fa78-4fa7-95e2-355173bbaa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98472c-f966-4aa8-ad60-5a98665d57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d5e06c-ea83-4267-93dd-8052bbf603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df36f4a-0142-45a3-b850-738b4d8d54b6}" ma:internalName="TaxCatchAll" ma:showField="CatchAllData" ma:web="ead5e06c-ea83-4267-93dd-8052bbf603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ad5e06c-ea83-4267-93dd-8052bbf6033b" xsi:nil="true"/>
    <lcf76f155ced4ddcb4097134ff3c332f xmlns="c2a35c80-fa78-4fa7-95e2-355173bbaa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AEC59B6-89D6-4B86-A70D-C71FEE1E2F24}">
  <ds:schemaRefs>
    <ds:schemaRef ds:uri="c2a35c80-fa78-4fa7-95e2-355173bbaa72"/>
    <ds:schemaRef ds:uri="ead5e06c-ea83-4267-93dd-8052bbf603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1CEE5B-593C-4B78-BCA7-5ACE4B90B1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8824ED-DC96-4CF3-A5E6-B44A0D5AADFF}">
  <ds:schemaRefs>
    <ds:schemaRef ds:uri="c2a35c80-fa78-4fa7-95e2-355173bbaa72"/>
    <ds:schemaRef ds:uri="ead5e06c-ea83-4267-93dd-8052bbf6033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Presentation slide</Template>
  <Application>Microsoft Office PowerPoint</Application>
  <PresentationFormat>On-screen Show (4:3)</PresentationFormat>
  <Slides>18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NMSU_2019</vt:lpstr>
      <vt:lpstr>Multimodal Emotional Recognition System</vt:lpstr>
      <vt:lpstr>Introduction</vt:lpstr>
      <vt:lpstr>Applications</vt:lpstr>
      <vt:lpstr>Motivation</vt:lpstr>
      <vt:lpstr>Motivation</vt:lpstr>
      <vt:lpstr>Related work</vt:lpstr>
      <vt:lpstr>Problem Statement</vt:lpstr>
      <vt:lpstr>Datasets</vt:lpstr>
      <vt:lpstr>Challenges</vt:lpstr>
      <vt:lpstr>Methodology (Models 1-5)</vt:lpstr>
      <vt:lpstr>Methodology (Models 6-8)</vt:lpstr>
      <vt:lpstr>Results and Findings</vt:lpstr>
      <vt:lpstr>Loss Curve</vt:lpstr>
      <vt:lpstr>Performance of unaligned vs aligned data</vt:lpstr>
      <vt:lpstr>Conclusion</vt:lpstr>
      <vt:lpstr>Limitations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Emotional Recognition System</dc:title>
  <dc:creator>Paras Khanal</dc:creator>
  <cp:revision>20</cp:revision>
  <dcterms:created xsi:type="dcterms:W3CDTF">2026-05-01T00:39:20Z</dcterms:created>
  <dcterms:modified xsi:type="dcterms:W3CDTF">2026-05-04T05:53:57Z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0x01010044A9D61DF888204C8139A81CE9DDA511</vt:lpwstr>
  </property>
  <property fmtid="{D5CDD505-2E9C-101B-9397-08002B2CF9AE}" pid="3" name="MediaServiceImageTags">
    <vt:lpwstr/>
  </property>
</Properties>
</file>