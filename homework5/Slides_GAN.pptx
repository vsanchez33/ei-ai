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4"/>
  </p:sldMasterIdLst>
  <p:notesMasterIdLst>
    <p:notesMasterId r:id="rId43"/>
  </p:notesMasterIdLst>
  <p:sldIdLst>
    <p:sldId id="256" r:id="rId5"/>
    <p:sldId id="257" r:id="rId6"/>
    <p:sldId id="258" r:id="rId7"/>
    <p:sldId id="259" r:id="rId8"/>
    <p:sldId id="260" r:id="rId9"/>
    <p:sldId id="269" r:id="rId10"/>
    <p:sldId id="270" r:id="rId11"/>
    <p:sldId id="294" r:id="rId12"/>
    <p:sldId id="262" r:id="rId13"/>
    <p:sldId id="295" r:id="rId14"/>
    <p:sldId id="310" r:id="rId15"/>
    <p:sldId id="311" r:id="rId16"/>
    <p:sldId id="280" r:id="rId17"/>
    <p:sldId id="264" r:id="rId18"/>
    <p:sldId id="289" r:id="rId19"/>
    <p:sldId id="290" r:id="rId20"/>
    <p:sldId id="263" r:id="rId21"/>
    <p:sldId id="281" r:id="rId22"/>
    <p:sldId id="291" r:id="rId23"/>
    <p:sldId id="293" r:id="rId24"/>
    <p:sldId id="296" r:id="rId25"/>
    <p:sldId id="297" r:id="rId26"/>
    <p:sldId id="271" r:id="rId27"/>
    <p:sldId id="298" r:id="rId28"/>
    <p:sldId id="299" r:id="rId29"/>
    <p:sldId id="300" r:id="rId30"/>
    <p:sldId id="306" r:id="rId31"/>
    <p:sldId id="307" r:id="rId32"/>
    <p:sldId id="308" r:id="rId33"/>
    <p:sldId id="309" r:id="rId34"/>
    <p:sldId id="279" r:id="rId35"/>
    <p:sldId id="278" r:id="rId36"/>
    <p:sldId id="272" r:id="rId37"/>
    <p:sldId id="274" r:id="rId38"/>
    <p:sldId id="275" r:id="rId39"/>
    <p:sldId id="276" r:id="rId40"/>
    <p:sldId id="277" r:id="rId41"/>
    <p:sldId id="27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4241ED83-AEFF-4F54-9A96-40405D169A66}">
          <p14:sldIdLst>
            <p14:sldId id="256"/>
            <p14:sldId id="257"/>
            <p14:sldId id="258"/>
            <p14:sldId id="259"/>
            <p14:sldId id="260"/>
            <p14:sldId id="269"/>
            <p14:sldId id="270"/>
            <p14:sldId id="294"/>
            <p14:sldId id="262"/>
            <p14:sldId id="295"/>
            <p14:sldId id="310"/>
            <p14:sldId id="311"/>
            <p14:sldId id="280"/>
            <p14:sldId id="264"/>
            <p14:sldId id="289"/>
            <p14:sldId id="290"/>
            <p14:sldId id="263"/>
            <p14:sldId id="281"/>
            <p14:sldId id="291"/>
            <p14:sldId id="293"/>
            <p14:sldId id="296"/>
            <p14:sldId id="297"/>
            <p14:sldId id="271"/>
            <p14:sldId id="298"/>
            <p14:sldId id="299"/>
            <p14:sldId id="300"/>
            <p14:sldId id="306"/>
            <p14:sldId id="307"/>
            <p14:sldId id="308"/>
            <p14:sldId id="309"/>
            <p14:sldId id="279"/>
            <p14:sldId id="278"/>
            <p14:sldId id="272"/>
            <p14:sldId id="274"/>
            <p14:sldId id="275"/>
            <p14:sldId id="276"/>
            <p14:sldId id="277"/>
            <p14:sldId id="27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D2DC66-4C9E-21DD-929E-D9754DB259C1}" v="189" dt="2026-04-26T20:49:47.384"/>
    <p1510:client id="{50504256-F673-18E0-9DF2-6BD3B0794A98}" v="72" dt="2026-04-26T16:01:25.655"/>
    <p1510:client id="{9006694F-C59B-2CA6-E5D3-298DE1A42FD8}" v="818" dt="2026-04-27T03:41:32.305"/>
    <p1510:client id="{98E93B68-1E80-7411-5BAD-78B020DE4333}" v="595" dt="2026-04-26T15:52:08"/>
    <p1510:client id="{A0660A3D-FCD3-124A-A2FB-3A48E2A1D5AF}" v="3057" dt="2026-04-27T03:03:33.597"/>
    <p1510:client id="{AF9A1EC6-E18F-F1D0-9958-DA9C5BE19CD4}" v="564" dt="2026-04-26T19:19:34.800"/>
    <p1510:client id="{AFAFCFAA-32EF-7901-B12E-33134D13F8DF}" v="85" dt="2026-04-26T20:11:38.1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4"/>
  </p:normalViewPr>
  <p:slideViewPr>
    <p:cSldViewPr snapToGrid="0">
      <p:cViewPr varScale="1">
        <p:scale>
          <a:sx n="72" d="100"/>
          <a:sy n="72" d="100"/>
        </p:scale>
        <p:origin x="224" y="9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080CAC-9644-44BC-BEEC-B391A93CC380}"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25E17B4C-9393-41FE-9085-8EA695DEC178}">
      <dgm:prSet phldrT="[Text]" phldr="0"/>
      <dgm:spPr/>
      <dgm:t>
        <a:bodyPr/>
        <a:lstStyle/>
        <a:p>
          <a:r>
            <a:rPr lang="en-US">
              <a:latin typeface="Calibri Light" panose="020F0302020204030204"/>
            </a:rPr>
            <a:t>GAN</a:t>
          </a:r>
          <a:endParaRPr lang="en-US"/>
        </a:p>
      </dgm:t>
    </dgm:pt>
    <dgm:pt modelId="{75042998-C9DD-460E-8527-EDE91ED83D5E}" type="parTrans" cxnId="{66F18CBF-0C5E-4719-88A7-7A1440BA58A4}">
      <dgm:prSet/>
      <dgm:spPr/>
      <dgm:t>
        <a:bodyPr/>
        <a:lstStyle/>
        <a:p>
          <a:endParaRPr lang="en-US"/>
        </a:p>
      </dgm:t>
    </dgm:pt>
    <dgm:pt modelId="{102A0C87-C1C6-4468-985F-A723751F64BE}" type="sibTrans" cxnId="{66F18CBF-0C5E-4719-88A7-7A1440BA58A4}">
      <dgm:prSet/>
      <dgm:spPr/>
      <dgm:t>
        <a:bodyPr/>
        <a:lstStyle/>
        <a:p>
          <a:endParaRPr lang="en-US"/>
        </a:p>
      </dgm:t>
    </dgm:pt>
    <dgm:pt modelId="{C8BF46B6-48B4-49EE-877B-69CF3220C73D}">
      <dgm:prSet phldrT="[Text]" phldr="0"/>
      <dgm:spPr/>
      <dgm:t>
        <a:bodyPr/>
        <a:lstStyle/>
        <a:p>
          <a:pPr rtl="0"/>
          <a:r>
            <a:rPr lang="en-US">
              <a:latin typeface="Calibri Light" panose="020F0302020204030204"/>
            </a:rPr>
            <a:t>Train on real image</a:t>
          </a:r>
          <a:endParaRPr lang="en-US"/>
        </a:p>
      </dgm:t>
    </dgm:pt>
    <dgm:pt modelId="{C360CDA1-0E42-4CFF-A3CF-AEEB2A047511}" type="parTrans" cxnId="{77331981-F628-4CEE-9A9E-2638F0097E8B}">
      <dgm:prSet/>
      <dgm:spPr/>
      <dgm:t>
        <a:bodyPr/>
        <a:lstStyle/>
        <a:p>
          <a:endParaRPr lang="en-US"/>
        </a:p>
      </dgm:t>
    </dgm:pt>
    <dgm:pt modelId="{EA2DE18B-92FB-4821-AEE6-C2FA8E98839B}" type="sibTrans" cxnId="{77331981-F628-4CEE-9A9E-2638F0097E8B}">
      <dgm:prSet/>
      <dgm:spPr/>
      <dgm:t>
        <a:bodyPr/>
        <a:lstStyle/>
        <a:p>
          <a:endParaRPr lang="en-US"/>
        </a:p>
      </dgm:t>
    </dgm:pt>
    <dgm:pt modelId="{A7B5AB39-EDA3-455D-8F77-9AC959049AAA}">
      <dgm:prSet phldrT="[Text]" phldr="0"/>
      <dgm:spPr/>
      <dgm:t>
        <a:bodyPr/>
        <a:lstStyle/>
        <a:p>
          <a:r>
            <a:rPr lang="en-US" sz="1800">
              <a:latin typeface="Calibri Light" panose="020F0302020204030204"/>
            </a:rPr>
            <a:t>Generator</a:t>
          </a:r>
          <a:endParaRPr lang="en-US" sz="1800"/>
        </a:p>
      </dgm:t>
    </dgm:pt>
    <dgm:pt modelId="{BB1DC96B-87C2-4137-80FB-A39436AB337B}" type="parTrans" cxnId="{64B9E911-6839-4C05-9731-03BBB22A6C09}">
      <dgm:prSet/>
      <dgm:spPr/>
      <dgm:t>
        <a:bodyPr/>
        <a:lstStyle/>
        <a:p>
          <a:endParaRPr lang="en-US"/>
        </a:p>
      </dgm:t>
    </dgm:pt>
    <dgm:pt modelId="{307D26FD-9659-4884-B98C-7F5B94595E0E}" type="sibTrans" cxnId="{64B9E911-6839-4C05-9731-03BBB22A6C09}">
      <dgm:prSet/>
      <dgm:spPr/>
      <dgm:t>
        <a:bodyPr/>
        <a:lstStyle/>
        <a:p>
          <a:endParaRPr lang="en-US"/>
        </a:p>
      </dgm:t>
    </dgm:pt>
    <dgm:pt modelId="{ACBA08C7-069B-4C0D-90A6-7AC475CF24B6}">
      <dgm:prSet phldrT="[Text]" phldr="0"/>
      <dgm:spPr/>
      <dgm:t>
        <a:bodyPr/>
        <a:lstStyle/>
        <a:p>
          <a:pPr rtl="0"/>
          <a:r>
            <a:rPr lang="en-US">
              <a:latin typeface="Calibri Light" panose="020F0302020204030204"/>
            </a:rPr>
            <a:t>Synthetic image</a:t>
          </a:r>
          <a:endParaRPr lang="en-US"/>
        </a:p>
      </dgm:t>
    </dgm:pt>
    <dgm:pt modelId="{0405FDD1-0C43-4765-81EE-D4E24A55C639}" type="parTrans" cxnId="{BC7DE4C0-45C8-473E-B1EF-984FC3AB48B2}">
      <dgm:prSet/>
      <dgm:spPr/>
      <dgm:t>
        <a:bodyPr/>
        <a:lstStyle/>
        <a:p>
          <a:endParaRPr lang="en-US"/>
        </a:p>
      </dgm:t>
    </dgm:pt>
    <dgm:pt modelId="{20984E1F-E1E2-48FC-9F9A-70D268B3939A}" type="sibTrans" cxnId="{BC7DE4C0-45C8-473E-B1EF-984FC3AB48B2}">
      <dgm:prSet/>
      <dgm:spPr/>
      <dgm:t>
        <a:bodyPr/>
        <a:lstStyle/>
        <a:p>
          <a:endParaRPr lang="en-US"/>
        </a:p>
      </dgm:t>
    </dgm:pt>
    <dgm:pt modelId="{C1BEEB51-304E-4D2C-B79F-29445E5C2FD3}">
      <dgm:prSet phldrT="[Text]" phldr="0"/>
      <dgm:spPr/>
      <dgm:t>
        <a:bodyPr/>
        <a:lstStyle/>
        <a:p>
          <a:r>
            <a:rPr lang="en-US">
              <a:latin typeface="Calibri Light" panose="020F0302020204030204"/>
            </a:rPr>
            <a:t>Model</a:t>
          </a:r>
          <a:endParaRPr lang="en-US"/>
        </a:p>
      </dgm:t>
    </dgm:pt>
    <dgm:pt modelId="{BDBEABA6-0784-486B-85F3-90159B5FF566}" type="parTrans" cxnId="{A6AE99CC-0D22-4AEF-B12E-66FED63DA108}">
      <dgm:prSet/>
      <dgm:spPr/>
      <dgm:t>
        <a:bodyPr/>
        <a:lstStyle/>
        <a:p>
          <a:endParaRPr lang="en-US"/>
        </a:p>
      </dgm:t>
    </dgm:pt>
    <dgm:pt modelId="{3703C08F-59F9-4BD1-B303-1A882799F533}" type="sibTrans" cxnId="{A6AE99CC-0D22-4AEF-B12E-66FED63DA108}">
      <dgm:prSet/>
      <dgm:spPr/>
      <dgm:t>
        <a:bodyPr/>
        <a:lstStyle/>
        <a:p>
          <a:endParaRPr lang="en-US"/>
        </a:p>
      </dgm:t>
    </dgm:pt>
    <dgm:pt modelId="{A35BEEDE-6999-4453-8E82-B0CBB15FE071}">
      <dgm:prSet phldrT="[Text]" phldr="0"/>
      <dgm:spPr/>
      <dgm:t>
        <a:bodyPr/>
        <a:lstStyle/>
        <a:p>
          <a:pPr rtl="0"/>
          <a:r>
            <a:rPr lang="en-US">
              <a:latin typeface="Calibri Light" panose="020F0302020204030204"/>
            </a:rPr>
            <a:t>Train Disease detection </a:t>
          </a:r>
          <a:endParaRPr lang="en-US"/>
        </a:p>
      </dgm:t>
    </dgm:pt>
    <dgm:pt modelId="{9C1121F9-0E45-4A9C-813A-6EB3BCEC3452}" type="parTrans" cxnId="{F8A81184-CA76-4993-8829-CDF4C86CF383}">
      <dgm:prSet/>
      <dgm:spPr/>
      <dgm:t>
        <a:bodyPr/>
        <a:lstStyle/>
        <a:p>
          <a:endParaRPr lang="en-US"/>
        </a:p>
      </dgm:t>
    </dgm:pt>
    <dgm:pt modelId="{844A93E4-9C96-4323-BD39-CE768056DE59}" type="sibTrans" cxnId="{F8A81184-CA76-4993-8829-CDF4C86CF383}">
      <dgm:prSet/>
      <dgm:spPr/>
      <dgm:t>
        <a:bodyPr/>
        <a:lstStyle/>
        <a:p>
          <a:endParaRPr lang="en-US"/>
        </a:p>
      </dgm:t>
    </dgm:pt>
    <dgm:pt modelId="{EFECDD12-EE39-4E39-B66D-BE9696118B74}" type="pres">
      <dgm:prSet presAssocID="{25080CAC-9644-44BC-BEEC-B391A93CC380}" presName="linearFlow" presStyleCnt="0">
        <dgm:presLayoutVars>
          <dgm:dir/>
          <dgm:animLvl val="lvl"/>
          <dgm:resizeHandles val="exact"/>
        </dgm:presLayoutVars>
      </dgm:prSet>
      <dgm:spPr/>
    </dgm:pt>
    <dgm:pt modelId="{30782780-66FD-4ED1-BE2B-8FBDD20BB565}" type="pres">
      <dgm:prSet presAssocID="{25E17B4C-9393-41FE-9085-8EA695DEC178}" presName="composite" presStyleCnt="0"/>
      <dgm:spPr/>
    </dgm:pt>
    <dgm:pt modelId="{F67517A8-78E7-4E4B-9319-B670601C46FD}" type="pres">
      <dgm:prSet presAssocID="{25E17B4C-9393-41FE-9085-8EA695DEC178}" presName="parentText" presStyleLbl="alignNode1" presStyleIdx="0" presStyleCnt="3">
        <dgm:presLayoutVars>
          <dgm:chMax val="1"/>
          <dgm:bulletEnabled val="1"/>
        </dgm:presLayoutVars>
      </dgm:prSet>
      <dgm:spPr/>
    </dgm:pt>
    <dgm:pt modelId="{D648C3DB-86C5-4D34-B1BE-C09C6E117E31}" type="pres">
      <dgm:prSet presAssocID="{25E17B4C-9393-41FE-9085-8EA695DEC178}" presName="descendantText" presStyleLbl="alignAcc1" presStyleIdx="0" presStyleCnt="3">
        <dgm:presLayoutVars>
          <dgm:bulletEnabled val="1"/>
        </dgm:presLayoutVars>
      </dgm:prSet>
      <dgm:spPr/>
    </dgm:pt>
    <dgm:pt modelId="{A62E4F4E-3037-40BC-8097-30415CB5FEEF}" type="pres">
      <dgm:prSet presAssocID="{102A0C87-C1C6-4468-985F-A723751F64BE}" presName="sp" presStyleCnt="0"/>
      <dgm:spPr/>
    </dgm:pt>
    <dgm:pt modelId="{07C2FD6A-23CF-4DC4-A597-0E0CBE39EA06}" type="pres">
      <dgm:prSet presAssocID="{A7B5AB39-EDA3-455D-8F77-9AC959049AAA}" presName="composite" presStyleCnt="0"/>
      <dgm:spPr/>
    </dgm:pt>
    <dgm:pt modelId="{6AD9C447-F638-4E42-AF22-ECB2B7FF9444}" type="pres">
      <dgm:prSet presAssocID="{A7B5AB39-EDA3-455D-8F77-9AC959049AAA}" presName="parentText" presStyleLbl="alignNode1" presStyleIdx="1" presStyleCnt="3">
        <dgm:presLayoutVars>
          <dgm:chMax val="1"/>
          <dgm:bulletEnabled val="1"/>
        </dgm:presLayoutVars>
      </dgm:prSet>
      <dgm:spPr/>
    </dgm:pt>
    <dgm:pt modelId="{EAB3241B-22B7-4A36-AEB8-F9FC5B1C9FFD}" type="pres">
      <dgm:prSet presAssocID="{A7B5AB39-EDA3-455D-8F77-9AC959049AAA}" presName="descendantText" presStyleLbl="alignAcc1" presStyleIdx="1" presStyleCnt="3">
        <dgm:presLayoutVars>
          <dgm:bulletEnabled val="1"/>
        </dgm:presLayoutVars>
      </dgm:prSet>
      <dgm:spPr/>
    </dgm:pt>
    <dgm:pt modelId="{D138763F-CAD6-4634-9E76-50AC54153532}" type="pres">
      <dgm:prSet presAssocID="{307D26FD-9659-4884-B98C-7F5B94595E0E}" presName="sp" presStyleCnt="0"/>
      <dgm:spPr/>
    </dgm:pt>
    <dgm:pt modelId="{65133C18-9D24-4FD8-B216-8CAA7090E25F}" type="pres">
      <dgm:prSet presAssocID="{C1BEEB51-304E-4D2C-B79F-29445E5C2FD3}" presName="composite" presStyleCnt="0"/>
      <dgm:spPr/>
    </dgm:pt>
    <dgm:pt modelId="{64F860D3-7DC7-4489-AE02-7F61D4A75F77}" type="pres">
      <dgm:prSet presAssocID="{C1BEEB51-304E-4D2C-B79F-29445E5C2FD3}" presName="parentText" presStyleLbl="alignNode1" presStyleIdx="2" presStyleCnt="3">
        <dgm:presLayoutVars>
          <dgm:chMax val="1"/>
          <dgm:bulletEnabled val="1"/>
        </dgm:presLayoutVars>
      </dgm:prSet>
      <dgm:spPr/>
    </dgm:pt>
    <dgm:pt modelId="{741CEF10-FF5E-4B42-BE59-E83F918C43FC}" type="pres">
      <dgm:prSet presAssocID="{C1BEEB51-304E-4D2C-B79F-29445E5C2FD3}" presName="descendantText" presStyleLbl="alignAcc1" presStyleIdx="2" presStyleCnt="3">
        <dgm:presLayoutVars>
          <dgm:bulletEnabled val="1"/>
        </dgm:presLayoutVars>
      </dgm:prSet>
      <dgm:spPr/>
    </dgm:pt>
  </dgm:ptLst>
  <dgm:cxnLst>
    <dgm:cxn modelId="{64B9E911-6839-4C05-9731-03BBB22A6C09}" srcId="{25080CAC-9644-44BC-BEEC-B391A93CC380}" destId="{A7B5AB39-EDA3-455D-8F77-9AC959049AAA}" srcOrd="1" destOrd="0" parTransId="{BB1DC96B-87C2-4137-80FB-A39436AB337B}" sibTransId="{307D26FD-9659-4884-B98C-7F5B94595E0E}"/>
    <dgm:cxn modelId="{20C2A419-7FC0-40EF-9484-D0E9C8ADF919}" type="presOf" srcId="{25E17B4C-9393-41FE-9085-8EA695DEC178}" destId="{F67517A8-78E7-4E4B-9319-B670601C46FD}" srcOrd="0" destOrd="0" presId="urn:microsoft.com/office/officeart/2005/8/layout/chevron2"/>
    <dgm:cxn modelId="{D2129F33-41F5-4E76-8492-86D2C44EE5FC}" type="presOf" srcId="{C1BEEB51-304E-4D2C-B79F-29445E5C2FD3}" destId="{64F860D3-7DC7-4489-AE02-7F61D4A75F77}" srcOrd="0" destOrd="0" presId="urn:microsoft.com/office/officeart/2005/8/layout/chevron2"/>
    <dgm:cxn modelId="{1354BC55-7C6C-4121-9A24-89EBEEA7B237}" type="presOf" srcId="{ACBA08C7-069B-4C0D-90A6-7AC475CF24B6}" destId="{EAB3241B-22B7-4A36-AEB8-F9FC5B1C9FFD}" srcOrd="0" destOrd="0" presId="urn:microsoft.com/office/officeart/2005/8/layout/chevron2"/>
    <dgm:cxn modelId="{E437F360-B187-44F1-B23A-801C9720FE98}" type="presOf" srcId="{25080CAC-9644-44BC-BEEC-B391A93CC380}" destId="{EFECDD12-EE39-4E39-B66D-BE9696118B74}" srcOrd="0" destOrd="0" presId="urn:microsoft.com/office/officeart/2005/8/layout/chevron2"/>
    <dgm:cxn modelId="{C9C24172-1FFE-4EDA-A59D-B5F2F448384C}" type="presOf" srcId="{C8BF46B6-48B4-49EE-877B-69CF3220C73D}" destId="{D648C3DB-86C5-4D34-B1BE-C09C6E117E31}" srcOrd="0" destOrd="0" presId="urn:microsoft.com/office/officeart/2005/8/layout/chevron2"/>
    <dgm:cxn modelId="{77331981-F628-4CEE-9A9E-2638F0097E8B}" srcId="{25E17B4C-9393-41FE-9085-8EA695DEC178}" destId="{C8BF46B6-48B4-49EE-877B-69CF3220C73D}" srcOrd="0" destOrd="0" parTransId="{C360CDA1-0E42-4CFF-A3CF-AEEB2A047511}" sibTransId="{EA2DE18B-92FB-4821-AEE6-C2FA8E98839B}"/>
    <dgm:cxn modelId="{F8A81184-CA76-4993-8829-CDF4C86CF383}" srcId="{C1BEEB51-304E-4D2C-B79F-29445E5C2FD3}" destId="{A35BEEDE-6999-4453-8E82-B0CBB15FE071}" srcOrd="0" destOrd="0" parTransId="{9C1121F9-0E45-4A9C-813A-6EB3BCEC3452}" sibTransId="{844A93E4-9C96-4323-BD39-CE768056DE59}"/>
    <dgm:cxn modelId="{83A07386-9D27-4AF7-B03F-C305DE0F4E18}" type="presOf" srcId="{A7B5AB39-EDA3-455D-8F77-9AC959049AAA}" destId="{6AD9C447-F638-4E42-AF22-ECB2B7FF9444}" srcOrd="0" destOrd="0" presId="urn:microsoft.com/office/officeart/2005/8/layout/chevron2"/>
    <dgm:cxn modelId="{92F79899-B914-4786-8AA8-3F7E7477EBFA}" type="presOf" srcId="{A35BEEDE-6999-4453-8E82-B0CBB15FE071}" destId="{741CEF10-FF5E-4B42-BE59-E83F918C43FC}" srcOrd="0" destOrd="0" presId="urn:microsoft.com/office/officeart/2005/8/layout/chevron2"/>
    <dgm:cxn modelId="{66F18CBF-0C5E-4719-88A7-7A1440BA58A4}" srcId="{25080CAC-9644-44BC-BEEC-B391A93CC380}" destId="{25E17B4C-9393-41FE-9085-8EA695DEC178}" srcOrd="0" destOrd="0" parTransId="{75042998-C9DD-460E-8527-EDE91ED83D5E}" sibTransId="{102A0C87-C1C6-4468-985F-A723751F64BE}"/>
    <dgm:cxn modelId="{BC7DE4C0-45C8-473E-B1EF-984FC3AB48B2}" srcId="{A7B5AB39-EDA3-455D-8F77-9AC959049AAA}" destId="{ACBA08C7-069B-4C0D-90A6-7AC475CF24B6}" srcOrd="0" destOrd="0" parTransId="{0405FDD1-0C43-4765-81EE-D4E24A55C639}" sibTransId="{20984E1F-E1E2-48FC-9F9A-70D268B3939A}"/>
    <dgm:cxn modelId="{A6AE99CC-0D22-4AEF-B12E-66FED63DA108}" srcId="{25080CAC-9644-44BC-BEEC-B391A93CC380}" destId="{C1BEEB51-304E-4D2C-B79F-29445E5C2FD3}" srcOrd="2" destOrd="0" parTransId="{BDBEABA6-0784-486B-85F3-90159B5FF566}" sibTransId="{3703C08F-59F9-4BD1-B303-1A882799F533}"/>
    <dgm:cxn modelId="{D5474BBF-9188-4F8D-9B1E-4977B90C02A2}" type="presParOf" srcId="{EFECDD12-EE39-4E39-B66D-BE9696118B74}" destId="{30782780-66FD-4ED1-BE2B-8FBDD20BB565}" srcOrd="0" destOrd="0" presId="urn:microsoft.com/office/officeart/2005/8/layout/chevron2"/>
    <dgm:cxn modelId="{539947E5-E2FD-4CE4-B6E2-7FFDA17A0F23}" type="presParOf" srcId="{30782780-66FD-4ED1-BE2B-8FBDD20BB565}" destId="{F67517A8-78E7-4E4B-9319-B670601C46FD}" srcOrd="0" destOrd="0" presId="urn:microsoft.com/office/officeart/2005/8/layout/chevron2"/>
    <dgm:cxn modelId="{C5B2EBCB-FA45-4697-B50C-6C39844E2FED}" type="presParOf" srcId="{30782780-66FD-4ED1-BE2B-8FBDD20BB565}" destId="{D648C3DB-86C5-4D34-B1BE-C09C6E117E31}" srcOrd="1" destOrd="0" presId="urn:microsoft.com/office/officeart/2005/8/layout/chevron2"/>
    <dgm:cxn modelId="{1AA220CF-EF07-4B74-8426-B3E258F1B78B}" type="presParOf" srcId="{EFECDD12-EE39-4E39-B66D-BE9696118B74}" destId="{A62E4F4E-3037-40BC-8097-30415CB5FEEF}" srcOrd="1" destOrd="0" presId="urn:microsoft.com/office/officeart/2005/8/layout/chevron2"/>
    <dgm:cxn modelId="{FD84B7AB-DD83-48DD-88BE-E3BA4FD03182}" type="presParOf" srcId="{EFECDD12-EE39-4E39-B66D-BE9696118B74}" destId="{07C2FD6A-23CF-4DC4-A597-0E0CBE39EA06}" srcOrd="2" destOrd="0" presId="urn:microsoft.com/office/officeart/2005/8/layout/chevron2"/>
    <dgm:cxn modelId="{E8FE29F3-2074-43BD-A99B-1E3B09C9C0A6}" type="presParOf" srcId="{07C2FD6A-23CF-4DC4-A597-0E0CBE39EA06}" destId="{6AD9C447-F638-4E42-AF22-ECB2B7FF9444}" srcOrd="0" destOrd="0" presId="urn:microsoft.com/office/officeart/2005/8/layout/chevron2"/>
    <dgm:cxn modelId="{AE0BA0C0-FCE3-4F35-B5B6-A6F5D3364DCC}" type="presParOf" srcId="{07C2FD6A-23CF-4DC4-A597-0E0CBE39EA06}" destId="{EAB3241B-22B7-4A36-AEB8-F9FC5B1C9FFD}" srcOrd="1" destOrd="0" presId="urn:microsoft.com/office/officeart/2005/8/layout/chevron2"/>
    <dgm:cxn modelId="{243082E7-985C-40CD-9D7F-EAF60481E104}" type="presParOf" srcId="{EFECDD12-EE39-4E39-B66D-BE9696118B74}" destId="{D138763F-CAD6-4634-9E76-50AC54153532}" srcOrd="3" destOrd="0" presId="urn:microsoft.com/office/officeart/2005/8/layout/chevron2"/>
    <dgm:cxn modelId="{5D08ED32-D7C5-4947-929A-CAAB0C5F70E7}" type="presParOf" srcId="{EFECDD12-EE39-4E39-B66D-BE9696118B74}" destId="{65133C18-9D24-4FD8-B216-8CAA7090E25F}" srcOrd="4" destOrd="0" presId="urn:microsoft.com/office/officeart/2005/8/layout/chevron2"/>
    <dgm:cxn modelId="{83B0A4A9-8CF5-47E2-97CE-6539D7EE535D}" type="presParOf" srcId="{65133C18-9D24-4FD8-B216-8CAA7090E25F}" destId="{64F860D3-7DC7-4489-AE02-7F61D4A75F77}" srcOrd="0" destOrd="0" presId="urn:microsoft.com/office/officeart/2005/8/layout/chevron2"/>
    <dgm:cxn modelId="{7EC666FB-DEF6-4B46-90BF-D0099ADD7A0C}" type="presParOf" srcId="{65133C18-9D24-4FD8-B216-8CAA7090E25F}" destId="{741CEF10-FF5E-4B42-BE59-E83F918C43FC}"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7517A8-78E7-4E4B-9319-B670601C46FD}">
      <dsp:nvSpPr>
        <dsp:cNvPr id="0" name=""/>
        <dsp:cNvSpPr/>
      </dsp:nvSpPr>
      <dsp:spPr>
        <a:xfrm rot="5400000">
          <a:off x="-202525" y="203813"/>
          <a:ext cx="1350168" cy="94511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latin typeface="Calibri Light" panose="020F0302020204030204"/>
            </a:rPr>
            <a:t>GAN</a:t>
          </a:r>
          <a:endParaRPr lang="en-US" sz="1700" kern="1200"/>
        </a:p>
      </dsp:txBody>
      <dsp:txXfrm rot="-5400000">
        <a:off x="0" y="473847"/>
        <a:ext cx="945118" cy="405050"/>
      </dsp:txXfrm>
    </dsp:sp>
    <dsp:sp modelId="{D648C3DB-86C5-4D34-B1BE-C09C6E117E31}">
      <dsp:nvSpPr>
        <dsp:cNvPr id="0" name=""/>
        <dsp:cNvSpPr/>
      </dsp:nvSpPr>
      <dsp:spPr>
        <a:xfrm rot="5400000">
          <a:off x="1994783" y="-1048377"/>
          <a:ext cx="877609" cy="297694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rtl="0">
            <a:lnSpc>
              <a:spcPct val="90000"/>
            </a:lnSpc>
            <a:spcBef>
              <a:spcPct val="0"/>
            </a:spcBef>
            <a:spcAft>
              <a:spcPct val="15000"/>
            </a:spcAft>
            <a:buChar char="•"/>
          </a:pPr>
          <a:r>
            <a:rPr lang="en-US" sz="2700" kern="1200">
              <a:latin typeface="Calibri Light" panose="020F0302020204030204"/>
            </a:rPr>
            <a:t>Train on real image</a:t>
          </a:r>
          <a:endParaRPr lang="en-US" sz="2700" kern="1200"/>
        </a:p>
      </dsp:txBody>
      <dsp:txXfrm rot="-5400000">
        <a:off x="945118" y="44129"/>
        <a:ext cx="2934099" cy="791927"/>
      </dsp:txXfrm>
    </dsp:sp>
    <dsp:sp modelId="{6AD9C447-F638-4E42-AF22-ECB2B7FF9444}">
      <dsp:nvSpPr>
        <dsp:cNvPr id="0" name=""/>
        <dsp:cNvSpPr/>
      </dsp:nvSpPr>
      <dsp:spPr>
        <a:xfrm rot="5400000">
          <a:off x="-202525" y="1356240"/>
          <a:ext cx="1350168" cy="94511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latin typeface="Calibri Light" panose="020F0302020204030204"/>
            </a:rPr>
            <a:t>Generator</a:t>
          </a:r>
          <a:endParaRPr lang="en-US" sz="1700" kern="1200"/>
        </a:p>
      </dsp:txBody>
      <dsp:txXfrm rot="-5400000">
        <a:off x="0" y="1626274"/>
        <a:ext cx="945118" cy="405050"/>
      </dsp:txXfrm>
    </dsp:sp>
    <dsp:sp modelId="{EAB3241B-22B7-4A36-AEB8-F9FC5B1C9FFD}">
      <dsp:nvSpPr>
        <dsp:cNvPr id="0" name=""/>
        <dsp:cNvSpPr/>
      </dsp:nvSpPr>
      <dsp:spPr>
        <a:xfrm rot="5400000">
          <a:off x="1994783" y="104050"/>
          <a:ext cx="877609" cy="297694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rtl="0">
            <a:lnSpc>
              <a:spcPct val="90000"/>
            </a:lnSpc>
            <a:spcBef>
              <a:spcPct val="0"/>
            </a:spcBef>
            <a:spcAft>
              <a:spcPct val="15000"/>
            </a:spcAft>
            <a:buChar char="•"/>
          </a:pPr>
          <a:r>
            <a:rPr lang="en-US" sz="2700" kern="1200">
              <a:latin typeface="Calibri Light" panose="020F0302020204030204"/>
            </a:rPr>
            <a:t>Synthetic image</a:t>
          </a:r>
          <a:endParaRPr lang="en-US" sz="2700" kern="1200"/>
        </a:p>
      </dsp:txBody>
      <dsp:txXfrm rot="-5400000">
        <a:off x="945118" y="1196557"/>
        <a:ext cx="2934099" cy="791927"/>
      </dsp:txXfrm>
    </dsp:sp>
    <dsp:sp modelId="{64F860D3-7DC7-4489-AE02-7F61D4A75F77}">
      <dsp:nvSpPr>
        <dsp:cNvPr id="0" name=""/>
        <dsp:cNvSpPr/>
      </dsp:nvSpPr>
      <dsp:spPr>
        <a:xfrm rot="5400000">
          <a:off x="-202525" y="2508668"/>
          <a:ext cx="1350168" cy="94511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latin typeface="Calibri Light" panose="020F0302020204030204"/>
            </a:rPr>
            <a:t>Model</a:t>
          </a:r>
          <a:endParaRPr lang="en-US" sz="1700" kern="1200"/>
        </a:p>
      </dsp:txBody>
      <dsp:txXfrm rot="-5400000">
        <a:off x="0" y="2778702"/>
        <a:ext cx="945118" cy="405050"/>
      </dsp:txXfrm>
    </dsp:sp>
    <dsp:sp modelId="{741CEF10-FF5E-4B42-BE59-E83F918C43FC}">
      <dsp:nvSpPr>
        <dsp:cNvPr id="0" name=""/>
        <dsp:cNvSpPr/>
      </dsp:nvSpPr>
      <dsp:spPr>
        <a:xfrm rot="5400000">
          <a:off x="1994783" y="1256477"/>
          <a:ext cx="877609" cy="297694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rtl="0">
            <a:lnSpc>
              <a:spcPct val="90000"/>
            </a:lnSpc>
            <a:spcBef>
              <a:spcPct val="0"/>
            </a:spcBef>
            <a:spcAft>
              <a:spcPct val="15000"/>
            </a:spcAft>
            <a:buChar char="•"/>
          </a:pPr>
          <a:r>
            <a:rPr lang="en-US" sz="2700" kern="1200">
              <a:latin typeface="Calibri Light" panose="020F0302020204030204"/>
            </a:rPr>
            <a:t>Train Disease detection </a:t>
          </a:r>
          <a:endParaRPr lang="en-US" sz="2700" kern="1200"/>
        </a:p>
      </dsp:txBody>
      <dsp:txXfrm rot="-5400000">
        <a:off x="945118" y="2348984"/>
        <a:ext cx="2934099" cy="791927"/>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4DA5A9-6864-CA47-835F-8F874A5C6548}" type="datetimeFigureOut">
              <a:rPr lang="en-US" smtClean="0"/>
              <a:t>4/27/26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B32DA-2A3D-4640-AFED-E8C706B3DE08}" type="slidenum">
              <a:rPr lang="en-US" smtClean="0"/>
              <a:t>‹#›</a:t>
            </a:fld>
            <a:endParaRPr lang="en-US"/>
          </a:p>
        </p:txBody>
      </p:sp>
    </p:spTree>
    <p:extLst>
      <p:ext uri="{BB962C8B-B14F-4D97-AF65-F5344CB8AC3E}">
        <p14:creationId xmlns:p14="http://schemas.microsoft.com/office/powerpoint/2010/main" val="4113532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This function updates the discriminator by training it to assign high scores to real data and low scores to generated data. It computes the loss on both real and fake samples, then updates the discriminator’s weights to improve its ability to distinguish between them.</a:t>
            </a:r>
          </a:p>
          <a:p>
            <a:endParaRPr lang="en-US"/>
          </a:p>
          <a:p>
            <a:r>
              <a:rPr lang="en-US" err="1"/>
              <a:t>Batch_size</a:t>
            </a:r>
            <a:r>
              <a:rPr lang="en-US"/>
              <a:t> – number of samples in this batch</a:t>
            </a:r>
          </a:p>
          <a:p>
            <a:r>
              <a:rPr lang="en-US"/>
              <a:t>Ones – real images</a:t>
            </a:r>
          </a:p>
          <a:p>
            <a:r>
              <a:rPr lang="en-US"/>
              <a:t>Zero – fake images </a:t>
            </a:r>
          </a:p>
          <a:p>
            <a:r>
              <a:rPr lang="en-US" err="1"/>
              <a:t>Real_Y</a:t>
            </a:r>
            <a:r>
              <a:rPr lang="en-US"/>
              <a:t> – </a:t>
            </a:r>
            <a:r>
              <a:rPr lang="en-US" err="1"/>
              <a:t>distriminator</a:t>
            </a:r>
            <a:r>
              <a:rPr lang="en-US"/>
              <a:t> predicts how real are the images</a:t>
            </a:r>
          </a:p>
          <a:p>
            <a:r>
              <a:rPr lang="en-US" err="1"/>
              <a:t>Fake_X</a:t>
            </a:r>
            <a:r>
              <a:rPr lang="en-US"/>
              <a:t> – generator creates fake images from noise</a:t>
            </a:r>
          </a:p>
          <a:p>
            <a:r>
              <a:rPr lang="en-US" err="1"/>
              <a:t>Loss_D</a:t>
            </a:r>
            <a:r>
              <a:rPr lang="en-US"/>
              <a:t> – computes discriminator loss, calculates average between real and fake images</a:t>
            </a:r>
          </a:p>
        </p:txBody>
      </p:sp>
      <p:sp>
        <p:nvSpPr>
          <p:cNvPr id="4" name="Slide Number Placeholder 3"/>
          <p:cNvSpPr>
            <a:spLocks noGrp="1"/>
          </p:cNvSpPr>
          <p:nvPr>
            <p:ph type="sldNum" sz="quarter" idx="5"/>
          </p:nvPr>
        </p:nvSpPr>
        <p:spPr/>
        <p:txBody>
          <a:bodyPr/>
          <a:lstStyle/>
          <a:p>
            <a:fld id="{155B32DA-2A3D-4640-AFED-E8C706B3DE08}" type="slidenum">
              <a:rPr lang="en-US" smtClean="0"/>
              <a:t>28</a:t>
            </a:fld>
            <a:endParaRPr lang="en-US"/>
          </a:p>
        </p:txBody>
      </p:sp>
    </p:spTree>
    <p:extLst>
      <p:ext uri="{BB962C8B-B14F-4D97-AF65-F5344CB8AC3E}">
        <p14:creationId xmlns:p14="http://schemas.microsoft.com/office/powerpoint/2010/main" val="16583097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This function updates the generator by training it to produce fake data that the discriminator classifies as real. It computes the loss by comparing the discriminator’s output on fake images to real labels, then updates the generator to better fool the discriminator.</a:t>
            </a:r>
          </a:p>
        </p:txBody>
      </p:sp>
      <p:sp>
        <p:nvSpPr>
          <p:cNvPr id="4" name="Slide Number Placeholder 3"/>
          <p:cNvSpPr>
            <a:spLocks noGrp="1"/>
          </p:cNvSpPr>
          <p:nvPr>
            <p:ph type="sldNum" sz="quarter" idx="5"/>
          </p:nvPr>
        </p:nvSpPr>
        <p:spPr/>
        <p:txBody>
          <a:bodyPr/>
          <a:lstStyle/>
          <a:p>
            <a:fld id="{155B32DA-2A3D-4640-AFED-E8C706B3DE08}" type="slidenum">
              <a:rPr lang="en-US" smtClean="0"/>
              <a:t>29</a:t>
            </a:fld>
            <a:endParaRPr lang="en-US"/>
          </a:p>
        </p:txBody>
      </p:sp>
    </p:spTree>
    <p:extLst>
      <p:ext uri="{BB962C8B-B14F-4D97-AF65-F5344CB8AC3E}">
        <p14:creationId xmlns:p14="http://schemas.microsoft.com/office/powerpoint/2010/main" val="6032445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This function runs the full GAN training loop by repeatedly generating noise, updating the discriminator, then updating the generator. After each epoch it tracks the loss of both the generator and discriminator</a:t>
            </a:r>
          </a:p>
          <a:p>
            <a:pPr marL="0" marR="0" indent="0" algn="l" defTabSz="914400" rtl="0" eaLnBrk="1" fontAlgn="auto" latinLnBrk="0" hangingPunct="1">
              <a:lnSpc>
                <a:spcPct val="100000"/>
              </a:lnSpc>
              <a:spcBef>
                <a:spcPts val="0"/>
              </a:spcBef>
              <a:spcAft>
                <a:spcPts val="0"/>
              </a:spcAft>
              <a:buClrTx/>
              <a:buSzTx/>
              <a:buFontTx/>
              <a:buNone/>
              <a:tabLst/>
              <a:defRPr/>
            </a:pP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err="1"/>
              <a:t>Data_iterator</a:t>
            </a:r>
            <a:r>
              <a:rPr lang="en-US"/>
              <a:t> – provides batches of real data to the model during training</a:t>
            </a:r>
          </a:p>
          <a:p>
            <a:pPr marL="0" marR="0" indent="0" algn="l" defTabSz="914400" rtl="0" eaLnBrk="1" fontAlgn="auto" latinLnBrk="0" hangingPunct="1">
              <a:lnSpc>
                <a:spcPct val="100000"/>
              </a:lnSpc>
              <a:spcBef>
                <a:spcPts val="0"/>
              </a:spcBef>
              <a:spcAft>
                <a:spcPts val="0"/>
              </a:spcAft>
              <a:buClrTx/>
              <a:buSzTx/>
              <a:buFontTx/>
              <a:buNone/>
              <a:tabLst/>
              <a:defRPr/>
            </a:pPr>
            <a:r>
              <a:rPr lang="en-US" err="1"/>
              <a:t>Latent_dimension</a:t>
            </a:r>
            <a:r>
              <a:rPr lang="en-US"/>
              <a:t> – determines how much info the generator has to create images </a:t>
            </a:r>
          </a:p>
          <a:p>
            <a:pPr marL="0" marR="0" indent="0" algn="l" defTabSz="914400" rtl="0" eaLnBrk="1" fontAlgn="auto" latinLnBrk="0" hangingPunct="1">
              <a:lnSpc>
                <a:spcPct val="100000"/>
              </a:lnSpc>
              <a:spcBef>
                <a:spcPts val="0"/>
              </a:spcBef>
              <a:spcAft>
                <a:spcPts val="0"/>
              </a:spcAft>
              <a:buClrTx/>
              <a:buSzTx/>
              <a:buFontTx/>
              <a:buNone/>
              <a:tabLst/>
              <a:defRPr/>
            </a:pPr>
            <a:r>
              <a:rPr lang="en-US"/>
              <a:t>	Too small: not enough information, generator can’t create diverse outputs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Too large: harder to train, model may overcomplicate things</a:t>
            </a:r>
          </a:p>
          <a:p>
            <a:pPr marL="0" marR="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155B32DA-2A3D-4640-AFED-E8C706B3DE08}" type="slidenum">
              <a:rPr lang="en-US" smtClean="0"/>
              <a:t>30</a:t>
            </a:fld>
            <a:endParaRPr lang="en-US"/>
          </a:p>
        </p:txBody>
      </p:sp>
    </p:spTree>
    <p:extLst>
      <p:ext uri="{BB962C8B-B14F-4D97-AF65-F5344CB8AC3E}">
        <p14:creationId xmlns:p14="http://schemas.microsoft.com/office/powerpoint/2010/main" val="23367381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CNN – uses filters that scan over the image to learn spatial patterns (edges, shapes)</a:t>
            </a:r>
          </a:p>
          <a:p>
            <a:r>
              <a:rPr lang="en-US"/>
              <a:t>Dead neurons – Always output 0 and stops learning</a:t>
            </a:r>
          </a:p>
          <a:p>
            <a:r>
              <a:rPr lang="en-US" err="1"/>
              <a:t>LeakyReLU</a:t>
            </a:r>
            <a:r>
              <a:rPr lang="en-US"/>
              <a:t> – introduces an alpha to values that values less than or equal to zero. Makes negative inputs not zero anymore</a:t>
            </a:r>
          </a:p>
          <a:p>
            <a:r>
              <a:rPr lang="en-US"/>
              <a:t>Pooling – reduce the size of an image based on max or average value</a:t>
            </a:r>
          </a:p>
          <a:p>
            <a:r>
              <a:rPr lang="en-US" err="1"/>
              <a:t>Strided</a:t>
            </a:r>
            <a:r>
              <a:rPr lang="en-US"/>
              <a:t> convolutions – also shrinks the image, but uses learned filters instead of fixed rules</a:t>
            </a:r>
          </a:p>
          <a:p>
            <a:r>
              <a:rPr lang="en-US"/>
              <a:t>Batch Normalization – keeps outputs of layers in a consistent range to stabilize gradients. Allows both networks to learn at similar speeds</a:t>
            </a:r>
          </a:p>
        </p:txBody>
      </p:sp>
      <p:sp>
        <p:nvSpPr>
          <p:cNvPr id="4" name="Slide Number Placeholder 3"/>
          <p:cNvSpPr>
            <a:spLocks noGrp="1"/>
          </p:cNvSpPr>
          <p:nvPr>
            <p:ph type="sldNum" sz="quarter" idx="5"/>
          </p:nvPr>
        </p:nvSpPr>
        <p:spPr/>
        <p:txBody>
          <a:bodyPr/>
          <a:lstStyle/>
          <a:p>
            <a:fld id="{155B32DA-2A3D-4640-AFED-E8C706B3DE08}" type="slidenum">
              <a:rPr lang="en-US" smtClean="0"/>
              <a:t>34</a:t>
            </a:fld>
            <a:endParaRPr lang="en-US"/>
          </a:p>
        </p:txBody>
      </p:sp>
    </p:spTree>
    <p:extLst>
      <p:ext uri="{BB962C8B-B14F-4D97-AF65-F5344CB8AC3E}">
        <p14:creationId xmlns:p14="http://schemas.microsoft.com/office/powerpoint/2010/main" val="3264390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Critic – Outputs any real number instead of 0 to 1. A score of how real something looks. A CNN</a:t>
            </a:r>
          </a:p>
          <a:p>
            <a:r>
              <a:rPr lang="en-US"/>
              <a:t>Wasserstein Loss – Calculates the distance between the real data distribution and the generated data distribution. </a:t>
            </a:r>
          </a:p>
          <a:p>
            <a:r>
              <a:rPr lang="en-US"/>
              <a:t>Original GAN – loss can go down even when images are bad or vice versa </a:t>
            </a:r>
          </a:p>
        </p:txBody>
      </p:sp>
      <p:sp>
        <p:nvSpPr>
          <p:cNvPr id="4" name="Slide Number Placeholder 3"/>
          <p:cNvSpPr>
            <a:spLocks noGrp="1"/>
          </p:cNvSpPr>
          <p:nvPr>
            <p:ph type="sldNum" sz="quarter" idx="5"/>
          </p:nvPr>
        </p:nvSpPr>
        <p:spPr/>
        <p:txBody>
          <a:bodyPr/>
          <a:lstStyle/>
          <a:p>
            <a:fld id="{155B32DA-2A3D-4640-AFED-E8C706B3DE08}" type="slidenum">
              <a:rPr lang="en-US" smtClean="0"/>
              <a:t>35</a:t>
            </a:fld>
            <a:endParaRPr lang="en-US"/>
          </a:p>
        </p:txBody>
      </p:sp>
    </p:spTree>
    <p:extLst>
      <p:ext uri="{BB962C8B-B14F-4D97-AF65-F5344CB8AC3E}">
        <p14:creationId xmlns:p14="http://schemas.microsoft.com/office/powerpoint/2010/main" val="11699985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Cycle Consistency Loss – difference between original and reconstructed image</a:t>
            </a:r>
          </a:p>
          <a:p>
            <a:r>
              <a:rPr lang="en-US" err="1"/>
              <a:t>CycleGAN</a:t>
            </a:r>
            <a:r>
              <a:rPr lang="en-US"/>
              <a:t> loss is a combination of GAN loss (realism) and Cycle consistency loss (structure) </a:t>
            </a:r>
          </a:p>
        </p:txBody>
      </p:sp>
      <p:sp>
        <p:nvSpPr>
          <p:cNvPr id="4" name="Slide Number Placeholder 3"/>
          <p:cNvSpPr>
            <a:spLocks noGrp="1"/>
          </p:cNvSpPr>
          <p:nvPr>
            <p:ph type="sldNum" sz="quarter" idx="5"/>
          </p:nvPr>
        </p:nvSpPr>
        <p:spPr/>
        <p:txBody>
          <a:bodyPr/>
          <a:lstStyle/>
          <a:p>
            <a:fld id="{155B32DA-2A3D-4640-AFED-E8C706B3DE08}" type="slidenum">
              <a:rPr lang="en-US" smtClean="0"/>
              <a:t>36</a:t>
            </a:fld>
            <a:endParaRPr lang="en-US"/>
          </a:p>
        </p:txBody>
      </p:sp>
    </p:spTree>
    <p:extLst>
      <p:ext uri="{BB962C8B-B14F-4D97-AF65-F5344CB8AC3E}">
        <p14:creationId xmlns:p14="http://schemas.microsoft.com/office/powerpoint/2010/main" val="1342391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Style-based generator – Uses style information to control different parts of the image at each layer </a:t>
            </a:r>
          </a:p>
        </p:txBody>
      </p:sp>
      <p:sp>
        <p:nvSpPr>
          <p:cNvPr id="4" name="Slide Number Placeholder 3"/>
          <p:cNvSpPr>
            <a:spLocks noGrp="1"/>
          </p:cNvSpPr>
          <p:nvPr>
            <p:ph type="sldNum" sz="quarter" idx="5"/>
          </p:nvPr>
        </p:nvSpPr>
        <p:spPr/>
        <p:txBody>
          <a:bodyPr/>
          <a:lstStyle/>
          <a:p>
            <a:fld id="{155B32DA-2A3D-4640-AFED-E8C706B3DE08}" type="slidenum">
              <a:rPr lang="en-US" smtClean="0"/>
              <a:t>37</a:t>
            </a:fld>
            <a:endParaRPr lang="en-US"/>
          </a:p>
        </p:txBody>
      </p:sp>
    </p:spTree>
    <p:extLst>
      <p:ext uri="{BB962C8B-B14F-4D97-AF65-F5344CB8AC3E}">
        <p14:creationId xmlns:p14="http://schemas.microsoft.com/office/powerpoint/2010/main" val="262519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39342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98557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19689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08370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4/27/26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0449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4/27/26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60454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11818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73323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75962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02216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73067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0293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4/27/26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573969652"/>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AB7E3-65C5-4EF7-A53E-1FF2583D9480}"/>
              </a:ext>
            </a:extLst>
          </p:cNvPr>
          <p:cNvSpPr>
            <a:spLocks noGrp="1"/>
          </p:cNvSpPr>
          <p:nvPr>
            <p:ph type="ctrTitle"/>
          </p:nvPr>
        </p:nvSpPr>
        <p:spPr/>
        <p:txBody>
          <a:bodyPr/>
          <a:lstStyle/>
          <a:p>
            <a:r>
              <a:rPr lang="en-US" b="1"/>
              <a:t>Generative Adversarial Networks (GANs)</a:t>
            </a:r>
          </a:p>
        </p:txBody>
      </p:sp>
      <p:sp>
        <p:nvSpPr>
          <p:cNvPr id="3" name="Subtitle 2">
            <a:extLst>
              <a:ext uri="{FF2B5EF4-FFF2-40B4-BE49-F238E27FC236}">
                <a16:creationId xmlns:a16="http://schemas.microsoft.com/office/drawing/2014/main" id="{80E2CF3D-3110-4446-A459-4AEEC6E25FC1}"/>
              </a:ext>
            </a:extLst>
          </p:cNvPr>
          <p:cNvSpPr>
            <a:spLocks noGrp="1"/>
          </p:cNvSpPr>
          <p:nvPr>
            <p:ph type="subTitle" idx="1"/>
          </p:nvPr>
        </p:nvSpPr>
        <p:spPr/>
        <p:txBody>
          <a:bodyPr/>
          <a:lstStyle/>
          <a:p>
            <a:r>
              <a:rPr lang="en-US"/>
              <a:t>CSCI 4425/5425: Introduction to Deep Learning</a:t>
            </a:r>
          </a:p>
          <a:p>
            <a:r>
              <a:rPr lang="en-US"/>
              <a:t>Paras Khanal, Shokhina Jalilova, Vincent Sanchez</a:t>
            </a:r>
          </a:p>
        </p:txBody>
      </p:sp>
    </p:spTree>
    <p:extLst>
      <p:ext uri="{BB962C8B-B14F-4D97-AF65-F5344CB8AC3E}">
        <p14:creationId xmlns:p14="http://schemas.microsoft.com/office/powerpoint/2010/main" val="1578665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335AB-94C4-494B-BA63-4E4C386810E0}"/>
              </a:ext>
            </a:extLst>
          </p:cNvPr>
          <p:cNvSpPr>
            <a:spLocks noGrp="1"/>
          </p:cNvSpPr>
          <p:nvPr>
            <p:ph type="title"/>
          </p:nvPr>
        </p:nvSpPr>
        <p:spPr/>
        <p:txBody>
          <a:bodyPr/>
          <a:lstStyle/>
          <a:p>
            <a:r>
              <a:rPr lang="en-US" b="1"/>
              <a:t>Introduction</a:t>
            </a:r>
          </a:p>
        </p:txBody>
      </p:sp>
      <p:sp>
        <p:nvSpPr>
          <p:cNvPr id="3" name="Content Placeholder 2">
            <a:extLst>
              <a:ext uri="{FF2B5EF4-FFF2-40B4-BE49-F238E27FC236}">
                <a16:creationId xmlns:a16="http://schemas.microsoft.com/office/drawing/2014/main" id="{A2B11F84-D39C-4339-A7C6-1F4A8C0AA7DC}"/>
              </a:ext>
            </a:extLst>
          </p:cNvPr>
          <p:cNvSpPr>
            <a:spLocks noGrp="1"/>
          </p:cNvSpPr>
          <p:nvPr>
            <p:ph idx="1"/>
          </p:nvPr>
        </p:nvSpPr>
        <p:spPr>
          <a:xfrm>
            <a:off x="838200" y="1825625"/>
            <a:ext cx="9062110" cy="4351338"/>
          </a:xfrm>
        </p:spPr>
        <p:txBody>
          <a:bodyPr vert="horz" lIns="91440" tIns="45720" rIns="91440" bIns="45720" rtlCol="0" anchor="t">
            <a:normAutofit fontScale="92500" lnSpcReduction="20000"/>
          </a:bodyPr>
          <a:lstStyle/>
          <a:p>
            <a:r>
              <a:rPr lang="en-US">
                <a:ea typeface="+mn-lt"/>
                <a:cs typeface="+mn-lt"/>
              </a:rPr>
              <a:t>A </a:t>
            </a:r>
            <a:r>
              <a:rPr lang="en-US" b="1">
                <a:ea typeface="+mn-lt"/>
                <a:cs typeface="+mn-lt"/>
              </a:rPr>
              <a:t>Generative Adversarial Network (GAN)</a:t>
            </a:r>
            <a:r>
              <a:rPr lang="en-US">
                <a:ea typeface="+mn-lt"/>
                <a:cs typeface="+mn-lt"/>
              </a:rPr>
              <a:t> is a deep learning framework designed to </a:t>
            </a:r>
            <a:r>
              <a:rPr lang="en-US" b="1">
                <a:ea typeface="+mn-lt"/>
                <a:cs typeface="+mn-lt"/>
              </a:rPr>
              <a:t>learn the underlying distribution of real data</a:t>
            </a:r>
            <a:r>
              <a:rPr lang="en-US">
                <a:ea typeface="+mn-lt"/>
                <a:cs typeface="+mn-lt"/>
              </a:rPr>
              <a:t> and generate new, realistic samples.</a:t>
            </a:r>
          </a:p>
          <a:p>
            <a:pPr marL="0" indent="0">
              <a:buNone/>
            </a:pPr>
            <a:endParaRPr lang="en-US">
              <a:ea typeface="Calibri"/>
              <a:cs typeface="Calibri"/>
            </a:endParaRPr>
          </a:p>
          <a:p>
            <a:r>
              <a:rPr lang="en-US">
                <a:ea typeface="Calibri"/>
                <a:cs typeface="Calibri"/>
              </a:rPr>
              <a:t>It consists of two neural networks:</a:t>
            </a:r>
            <a:endParaRPr lang="en-US"/>
          </a:p>
          <a:p>
            <a:pPr lvl="1"/>
            <a:r>
              <a:rPr lang="en-US" b="1">
                <a:ea typeface="+mn-lt"/>
                <a:cs typeface="+mn-lt"/>
              </a:rPr>
              <a:t>Generator (G):</a:t>
            </a:r>
            <a:r>
              <a:rPr lang="en-US">
                <a:ea typeface="+mn-lt"/>
                <a:cs typeface="+mn-lt"/>
              </a:rPr>
              <a:t> creates synthetic data from random noise, producing a learned distribution </a:t>
            </a:r>
            <a:r>
              <a:rPr lang="en-US" err="1">
                <a:ea typeface="+mn-lt"/>
                <a:cs typeface="+mn-lt"/>
              </a:rPr>
              <a:t>p</a:t>
            </a:r>
            <a:r>
              <a:rPr lang="en-US" sz="1500" err="1">
                <a:ea typeface="+mn-lt"/>
                <a:cs typeface="+mn-lt"/>
              </a:rPr>
              <a:t>g</a:t>
            </a:r>
            <a:r>
              <a:rPr lang="en-US">
                <a:ea typeface="+mn-lt"/>
                <a:cs typeface="+mn-lt"/>
              </a:rPr>
              <a:t>(x)</a:t>
            </a:r>
            <a:endParaRPr lang="en-US">
              <a:ea typeface="Calibri"/>
              <a:cs typeface="Calibri"/>
            </a:endParaRPr>
          </a:p>
          <a:p>
            <a:pPr lvl="1"/>
            <a:r>
              <a:rPr lang="en-US" b="1">
                <a:ea typeface="+mn-lt"/>
                <a:cs typeface="+mn-lt"/>
              </a:rPr>
              <a:t>Discriminator (D):</a:t>
            </a:r>
            <a:r>
              <a:rPr lang="en-US">
                <a:ea typeface="+mn-lt"/>
                <a:cs typeface="+mn-lt"/>
              </a:rPr>
              <a:t> evaluates whether a given sample is real or generated</a:t>
            </a:r>
            <a:endParaRPr lang="en-US"/>
          </a:p>
          <a:p>
            <a:pPr lvl="1"/>
            <a:endParaRPr lang="en-US">
              <a:ea typeface="Calibri"/>
              <a:cs typeface="Calibri"/>
            </a:endParaRPr>
          </a:p>
          <a:p>
            <a:r>
              <a:rPr lang="en-US" b="1" u="sng">
                <a:ea typeface="Calibri"/>
                <a:cs typeface="Calibri"/>
              </a:rPr>
              <a:t>Adversarial </a:t>
            </a:r>
            <a:r>
              <a:rPr lang="en-US">
                <a:ea typeface="Calibri"/>
                <a:cs typeface="Calibri"/>
              </a:rPr>
              <a:t>setting / Competitive</a:t>
            </a:r>
          </a:p>
          <a:p>
            <a:pPr lvl="1"/>
            <a:r>
              <a:rPr lang="en-US">
                <a:ea typeface="Calibri"/>
                <a:cs typeface="Calibri"/>
              </a:rPr>
              <a:t>The Generator learns to produce increasingly realistic data</a:t>
            </a:r>
          </a:p>
          <a:p>
            <a:pPr lvl="1"/>
            <a:r>
              <a:rPr lang="en-US">
                <a:ea typeface="Calibri"/>
                <a:cs typeface="Calibri"/>
              </a:rPr>
              <a:t>The Discriminator learns to better distinguish real from fake images</a:t>
            </a:r>
          </a:p>
          <a:p>
            <a:pPr lvl="1"/>
            <a:endParaRPr lang="en-US"/>
          </a:p>
          <a:p>
            <a:endParaRPr lang="en-US">
              <a:ea typeface="Calibri"/>
              <a:cs typeface="Calibri"/>
            </a:endParaRPr>
          </a:p>
          <a:p>
            <a:endParaRPr lang="en-US"/>
          </a:p>
        </p:txBody>
      </p:sp>
      <p:pic>
        <p:nvPicPr>
          <p:cNvPr id="5" name="Picture 4" descr="A cartoon of a person holding a knife&#10;&#10;AI-generated content may be incorrect.">
            <a:extLst>
              <a:ext uri="{FF2B5EF4-FFF2-40B4-BE49-F238E27FC236}">
                <a16:creationId xmlns:a16="http://schemas.microsoft.com/office/drawing/2014/main" id="{B1375555-170A-043A-247E-C14AA1A8887F}"/>
              </a:ext>
            </a:extLst>
          </p:cNvPr>
          <p:cNvPicPr>
            <a:picLocks noChangeAspect="1"/>
          </p:cNvPicPr>
          <p:nvPr/>
        </p:nvPicPr>
        <p:blipFill>
          <a:blip r:embed="rId2"/>
          <a:stretch>
            <a:fillRect/>
          </a:stretch>
        </p:blipFill>
        <p:spPr>
          <a:xfrm>
            <a:off x="10275449" y="2094295"/>
            <a:ext cx="1224243" cy="1523440"/>
          </a:xfrm>
          <a:prstGeom prst="rect">
            <a:avLst/>
          </a:prstGeom>
        </p:spPr>
      </p:pic>
      <p:pic>
        <p:nvPicPr>
          <p:cNvPr id="7" name="Picture 6" descr="A cartoon of a police officer&#10;&#10;AI-generated content may be incorrect.">
            <a:extLst>
              <a:ext uri="{FF2B5EF4-FFF2-40B4-BE49-F238E27FC236}">
                <a16:creationId xmlns:a16="http://schemas.microsoft.com/office/drawing/2014/main" id="{765F32CB-9B00-BBC4-4D1A-D7C2C6646EB1}"/>
              </a:ext>
            </a:extLst>
          </p:cNvPr>
          <p:cNvPicPr>
            <a:picLocks noChangeAspect="1"/>
          </p:cNvPicPr>
          <p:nvPr/>
        </p:nvPicPr>
        <p:blipFill>
          <a:blip r:embed="rId3"/>
          <a:stretch>
            <a:fillRect/>
          </a:stretch>
        </p:blipFill>
        <p:spPr>
          <a:xfrm>
            <a:off x="10276809" y="4260390"/>
            <a:ext cx="1426509" cy="1535767"/>
          </a:xfrm>
          <a:prstGeom prst="rect">
            <a:avLst/>
          </a:prstGeom>
        </p:spPr>
      </p:pic>
    </p:spTree>
    <p:extLst>
      <p:ext uri="{BB962C8B-B14F-4D97-AF65-F5344CB8AC3E}">
        <p14:creationId xmlns:p14="http://schemas.microsoft.com/office/powerpoint/2010/main" val="37544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813C6F7E-85B2-4904-A90C-D9025284D796}"/>
              </a:ext>
            </a:extLst>
          </p:cNvPr>
          <p:cNvSpPr>
            <a:spLocks noGrp="1"/>
          </p:cNvSpPr>
          <p:nvPr>
            <p:ph type="title"/>
          </p:nvPr>
        </p:nvSpPr>
        <p:spPr>
          <a:xfrm>
            <a:off x="706775" y="1503005"/>
            <a:ext cx="3644489" cy="1439577"/>
          </a:xfrm>
        </p:spPr>
        <p:txBody>
          <a:bodyPr anchor="t">
            <a:normAutofit/>
          </a:bodyPr>
          <a:lstStyle/>
          <a:p>
            <a:r>
              <a:rPr lang="en-US" sz="8800">
                <a:solidFill>
                  <a:srgbClr val="FFFFFF"/>
                </a:solidFill>
              </a:rPr>
              <a:t>Why ?</a:t>
            </a:r>
            <a:endParaRPr lang="en-US" sz="8800">
              <a:solidFill>
                <a:srgbClr val="FFFFFF"/>
              </a:solidFill>
              <a:ea typeface="Calibri Light"/>
              <a:cs typeface="Calibri Light"/>
            </a:endParaRPr>
          </a:p>
        </p:txBody>
      </p:sp>
      <p:sp>
        <p:nvSpPr>
          <p:cNvPr id="3" name="Content Placeholder 2">
            <a:extLst>
              <a:ext uri="{FF2B5EF4-FFF2-40B4-BE49-F238E27FC236}">
                <a16:creationId xmlns:a16="http://schemas.microsoft.com/office/drawing/2014/main" id="{73A9B530-18FA-4F17-8E6A-F907728F3750}"/>
              </a:ext>
            </a:extLst>
          </p:cNvPr>
          <p:cNvSpPr>
            <a:spLocks noGrp="1"/>
          </p:cNvSpPr>
          <p:nvPr>
            <p:ph idx="1"/>
          </p:nvPr>
        </p:nvSpPr>
        <p:spPr>
          <a:xfrm>
            <a:off x="6095999" y="144128"/>
            <a:ext cx="5254754" cy="6032834"/>
          </a:xfrm>
        </p:spPr>
        <p:txBody>
          <a:bodyPr vert="horz" lIns="91440" tIns="45720" rIns="91440" bIns="45720" rtlCol="0" anchor="t">
            <a:normAutofit/>
          </a:bodyPr>
          <a:lstStyle/>
          <a:p>
            <a:r>
              <a:rPr lang="en-US" sz="1800"/>
              <a:t>GAN is </a:t>
            </a:r>
            <a:r>
              <a:rPr lang="en-US" sz="1800" b="1"/>
              <a:t>not a classification</a:t>
            </a:r>
            <a:r>
              <a:rPr lang="en-US" sz="1800"/>
              <a:t> or prediction model. </a:t>
            </a:r>
            <a:endParaRPr lang="en-US" sz="1800">
              <a:ea typeface="Calibri"/>
              <a:cs typeface="Calibri"/>
            </a:endParaRPr>
          </a:p>
          <a:p>
            <a:pPr lvl="1"/>
            <a:r>
              <a:rPr lang="en-US" sz="1800"/>
              <a:t>It is a </a:t>
            </a:r>
            <a:r>
              <a:rPr lang="en-US" sz="1800" b="1"/>
              <a:t>generative model</a:t>
            </a:r>
            <a:r>
              <a:rPr lang="en-US" sz="1800"/>
              <a:t>. The generator learns the real data distribution. </a:t>
            </a:r>
            <a:endParaRPr lang="en-US" sz="1800">
              <a:ea typeface="Calibri"/>
              <a:cs typeface="Calibri"/>
            </a:endParaRPr>
          </a:p>
          <a:p>
            <a:pPr lvl="1"/>
            <a:r>
              <a:rPr lang="en-US" sz="1800"/>
              <a:t>It generates the data for specific purposes.</a:t>
            </a:r>
            <a:endParaRPr lang="en-US" sz="1800">
              <a:ea typeface="Calibri"/>
              <a:cs typeface="Calibri"/>
            </a:endParaRPr>
          </a:p>
          <a:p>
            <a:r>
              <a:rPr lang="en-US" sz="1800" b="1"/>
              <a:t>Data Augmentation</a:t>
            </a:r>
            <a:endParaRPr lang="en-US" sz="1800" b="1">
              <a:ea typeface="Calibri" panose="020F0502020204030204"/>
              <a:cs typeface="Calibri" panose="020F0502020204030204"/>
            </a:endParaRPr>
          </a:p>
          <a:p>
            <a:pPr lvl="1"/>
            <a:r>
              <a:rPr lang="en-US" sz="1800"/>
              <a:t>Generating additional training samples</a:t>
            </a:r>
            <a:endParaRPr lang="en-US" sz="1800">
              <a:ea typeface="Calibri"/>
              <a:cs typeface="Calibri"/>
            </a:endParaRPr>
          </a:p>
          <a:p>
            <a:pPr lvl="1"/>
            <a:r>
              <a:rPr lang="en-US" sz="1800"/>
              <a:t>Medical image, biology or rare datasets</a:t>
            </a:r>
            <a:endParaRPr lang="en-US" sz="1800">
              <a:ea typeface="Calibri"/>
              <a:cs typeface="Calibri"/>
            </a:endParaRPr>
          </a:p>
          <a:p>
            <a:r>
              <a:rPr lang="en-US" sz="1800" b="1"/>
              <a:t>Image generation</a:t>
            </a:r>
            <a:endParaRPr lang="en-US" sz="1800" b="1">
              <a:ea typeface="Calibri"/>
              <a:cs typeface="Calibri"/>
            </a:endParaRPr>
          </a:p>
          <a:p>
            <a:pPr lvl="1"/>
            <a:r>
              <a:rPr lang="en-US" sz="1800"/>
              <a:t>Realistic images</a:t>
            </a:r>
            <a:endParaRPr lang="en-US" sz="1800">
              <a:ea typeface="Calibri"/>
              <a:cs typeface="Calibri"/>
            </a:endParaRPr>
          </a:p>
          <a:p>
            <a:pPr lvl="1"/>
            <a:r>
              <a:rPr lang="en-US" sz="1800"/>
              <a:t>Art, design, simulation</a:t>
            </a:r>
            <a:endParaRPr lang="en-US" sz="1800">
              <a:ea typeface="Calibri"/>
              <a:cs typeface="Calibri"/>
            </a:endParaRPr>
          </a:p>
          <a:p>
            <a:r>
              <a:rPr lang="en-US" sz="1800" b="1">
                <a:ea typeface="Calibri"/>
                <a:cs typeface="Calibri"/>
              </a:rPr>
              <a:t>Image to Image translation; super resolution</a:t>
            </a:r>
          </a:p>
          <a:p>
            <a:pPr lvl="1"/>
            <a:r>
              <a:rPr lang="en-US" sz="1800">
                <a:ea typeface="Calibri"/>
                <a:cs typeface="Calibri"/>
              </a:rPr>
              <a:t>Color, format, sketch -&gt; photo</a:t>
            </a:r>
          </a:p>
          <a:p>
            <a:pPr lvl="1"/>
            <a:r>
              <a:rPr lang="en-US" sz="1800">
                <a:ea typeface="Calibri"/>
                <a:cs typeface="Calibri"/>
              </a:rPr>
              <a:t>Low resolution -&gt; high resolution</a:t>
            </a:r>
          </a:p>
          <a:p>
            <a:r>
              <a:rPr lang="en-US" sz="1800" b="1">
                <a:ea typeface="Calibri"/>
                <a:cs typeface="Calibri"/>
              </a:rPr>
              <a:t>Synthetic Data creation</a:t>
            </a:r>
          </a:p>
          <a:p>
            <a:pPr lvl="1"/>
            <a:r>
              <a:rPr lang="en-US" sz="1800">
                <a:ea typeface="Calibri"/>
                <a:cs typeface="Calibri"/>
              </a:rPr>
              <a:t>Healthcare</a:t>
            </a:r>
          </a:p>
          <a:p>
            <a:pPr lvl="1"/>
            <a:r>
              <a:rPr lang="en-US" sz="1800">
                <a:ea typeface="Calibri"/>
                <a:cs typeface="Calibri"/>
              </a:rPr>
              <a:t>Autonomous Driving</a:t>
            </a:r>
          </a:p>
          <a:p>
            <a:pPr lvl="1"/>
            <a:r>
              <a:rPr lang="en-US" sz="1800">
                <a:ea typeface="Calibri"/>
                <a:cs typeface="Calibri"/>
              </a:rPr>
              <a:t>Simulation environments</a:t>
            </a:r>
          </a:p>
          <a:p>
            <a:endParaRPr lang="en-US" sz="1800">
              <a:ea typeface="Calibri"/>
              <a:cs typeface="Calibri"/>
            </a:endParaRPr>
          </a:p>
          <a:p>
            <a:endParaRPr lang="en-US" sz="1800">
              <a:ea typeface="Calibri"/>
              <a:cs typeface="Calibri"/>
            </a:endParaRPr>
          </a:p>
          <a:p>
            <a:endParaRPr lang="en-US" sz="1800">
              <a:ea typeface="Calibri"/>
              <a:cs typeface="Calibri"/>
            </a:endParaRPr>
          </a:p>
        </p:txBody>
      </p:sp>
    </p:spTree>
    <p:extLst>
      <p:ext uri="{BB962C8B-B14F-4D97-AF65-F5344CB8AC3E}">
        <p14:creationId xmlns:p14="http://schemas.microsoft.com/office/powerpoint/2010/main" val="1122924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58921-66E8-40A8-B30F-64A63D8BB131}"/>
              </a:ext>
            </a:extLst>
          </p:cNvPr>
          <p:cNvSpPr>
            <a:spLocks noGrp="1"/>
          </p:cNvSpPr>
          <p:nvPr>
            <p:ph type="title"/>
          </p:nvPr>
        </p:nvSpPr>
        <p:spPr/>
        <p:txBody>
          <a:bodyPr/>
          <a:lstStyle/>
          <a:p>
            <a:r>
              <a:rPr lang="en-US" b="1"/>
              <a:t>Real world challenge– small dataset problem</a:t>
            </a:r>
            <a:r>
              <a:rPr lang="en-US"/>
              <a:t> </a:t>
            </a:r>
          </a:p>
        </p:txBody>
      </p:sp>
      <p:sp>
        <p:nvSpPr>
          <p:cNvPr id="3" name="Content Placeholder 2">
            <a:extLst>
              <a:ext uri="{FF2B5EF4-FFF2-40B4-BE49-F238E27FC236}">
                <a16:creationId xmlns:a16="http://schemas.microsoft.com/office/drawing/2014/main" id="{E3FB83C0-18C8-490E-9A9A-5C652B2237D5}"/>
              </a:ext>
            </a:extLst>
          </p:cNvPr>
          <p:cNvSpPr>
            <a:spLocks noGrp="1"/>
          </p:cNvSpPr>
          <p:nvPr>
            <p:ph idx="1"/>
          </p:nvPr>
        </p:nvSpPr>
        <p:spPr>
          <a:xfrm>
            <a:off x="838200" y="1679949"/>
            <a:ext cx="7422775" cy="4497014"/>
          </a:xfrm>
        </p:spPr>
        <p:txBody>
          <a:bodyPr vert="horz" lIns="91440" tIns="45720" rIns="91440" bIns="45720" rtlCol="0" anchor="t">
            <a:normAutofit lnSpcReduction="10000"/>
          </a:bodyPr>
          <a:lstStyle/>
          <a:p>
            <a:r>
              <a:rPr lang="en-US"/>
              <a:t>Limited labeled medical images for </a:t>
            </a:r>
            <a:r>
              <a:rPr lang="en-US" b="1"/>
              <a:t>rare disease</a:t>
            </a:r>
          </a:p>
          <a:p>
            <a:r>
              <a:rPr lang="en-US"/>
              <a:t>Some disease are rare. Examples include specific variants of pneumonia, different COVID-19 </a:t>
            </a:r>
            <a:r>
              <a:rPr lang="en-US" err="1"/>
              <a:t>variants,brain</a:t>
            </a:r>
            <a:r>
              <a:rPr lang="en-US"/>
              <a:t> tumor, etc. </a:t>
            </a:r>
            <a:endParaRPr lang="en-US" sz="2600">
              <a:ea typeface="Calibri"/>
              <a:cs typeface="Calibri"/>
            </a:endParaRPr>
          </a:p>
          <a:p>
            <a:r>
              <a:rPr lang="en-US"/>
              <a:t>Medical data is </a:t>
            </a:r>
            <a:r>
              <a:rPr lang="en-US" b="1"/>
              <a:t>highly sensitive and restricted</a:t>
            </a:r>
            <a:r>
              <a:rPr lang="en-US"/>
              <a:t> (HIPAA regulation and others)</a:t>
            </a:r>
            <a:endParaRPr lang="en-US">
              <a:ea typeface="Calibri"/>
              <a:cs typeface="Calibri"/>
            </a:endParaRPr>
          </a:p>
          <a:p>
            <a:r>
              <a:rPr lang="en-US"/>
              <a:t>Data collection is </a:t>
            </a:r>
            <a:r>
              <a:rPr lang="en-US" b="1"/>
              <a:t>very slow and expensive</a:t>
            </a:r>
            <a:endParaRPr lang="en-US" b="1">
              <a:ea typeface="Calibri"/>
              <a:cs typeface="Calibri"/>
            </a:endParaRPr>
          </a:p>
          <a:p>
            <a:r>
              <a:rPr lang="en-US"/>
              <a:t>Deep learning model typically require thousands or millions of sample images</a:t>
            </a:r>
          </a:p>
          <a:p>
            <a:r>
              <a:rPr lang="en-US"/>
              <a:t>Rare disease have few hundred images usually</a:t>
            </a:r>
          </a:p>
        </p:txBody>
      </p:sp>
      <p:pic>
        <p:nvPicPr>
          <p:cNvPr id="5" name="Picture 4">
            <a:extLst>
              <a:ext uri="{FF2B5EF4-FFF2-40B4-BE49-F238E27FC236}">
                <a16:creationId xmlns:a16="http://schemas.microsoft.com/office/drawing/2014/main" id="{A9747D00-A25F-48E2-1F1A-5771FF8A8113}"/>
              </a:ext>
            </a:extLst>
          </p:cNvPr>
          <p:cNvPicPr>
            <a:picLocks noChangeAspect="1"/>
          </p:cNvPicPr>
          <p:nvPr/>
        </p:nvPicPr>
        <p:blipFill>
          <a:blip r:embed="rId2"/>
          <a:stretch>
            <a:fillRect/>
          </a:stretch>
        </p:blipFill>
        <p:spPr>
          <a:xfrm>
            <a:off x="8517788" y="1692089"/>
            <a:ext cx="3218891" cy="2689411"/>
          </a:xfrm>
          <a:prstGeom prst="rect">
            <a:avLst/>
          </a:prstGeom>
        </p:spPr>
      </p:pic>
    </p:spTree>
    <p:extLst>
      <p:ext uri="{BB962C8B-B14F-4D97-AF65-F5344CB8AC3E}">
        <p14:creationId xmlns:p14="http://schemas.microsoft.com/office/powerpoint/2010/main" val="3035700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329D2-3BB7-4363-BA3C-327DC4024C75}"/>
              </a:ext>
            </a:extLst>
          </p:cNvPr>
          <p:cNvSpPr>
            <a:spLocks noGrp="1"/>
          </p:cNvSpPr>
          <p:nvPr>
            <p:ph type="title"/>
          </p:nvPr>
        </p:nvSpPr>
        <p:spPr/>
        <p:txBody>
          <a:bodyPr/>
          <a:lstStyle/>
          <a:p>
            <a:r>
              <a:rPr lang="en-US" b="1"/>
              <a:t>GAN is the solution</a:t>
            </a:r>
            <a:endParaRPr lang="en-US" b="1">
              <a:ea typeface="Calibri Light"/>
              <a:cs typeface="Calibri Light"/>
            </a:endParaRPr>
          </a:p>
        </p:txBody>
      </p:sp>
      <p:sp>
        <p:nvSpPr>
          <p:cNvPr id="3" name="Content Placeholder 2">
            <a:extLst>
              <a:ext uri="{FF2B5EF4-FFF2-40B4-BE49-F238E27FC236}">
                <a16:creationId xmlns:a16="http://schemas.microsoft.com/office/drawing/2014/main" id="{7DB5731E-E1AC-42A4-A0D2-916E6D2D2CC7}"/>
              </a:ext>
            </a:extLst>
          </p:cNvPr>
          <p:cNvSpPr>
            <a:spLocks noGrp="1"/>
          </p:cNvSpPr>
          <p:nvPr>
            <p:ph idx="1"/>
          </p:nvPr>
        </p:nvSpPr>
        <p:spPr>
          <a:xfrm>
            <a:off x="838200" y="1545479"/>
            <a:ext cx="6996954" cy="4765955"/>
          </a:xfrm>
        </p:spPr>
        <p:txBody>
          <a:bodyPr vert="horz" lIns="91440" tIns="45720" rIns="91440" bIns="45720" rtlCol="0" anchor="t">
            <a:normAutofit fontScale="92500" lnSpcReduction="20000"/>
          </a:bodyPr>
          <a:lstStyle/>
          <a:p>
            <a:r>
              <a:rPr lang="en-US"/>
              <a:t>GAN solves this by </a:t>
            </a:r>
            <a:r>
              <a:rPr lang="en-US" b="1"/>
              <a:t>learning data distribution</a:t>
            </a:r>
            <a:r>
              <a:rPr lang="en-US"/>
              <a:t> </a:t>
            </a:r>
            <a:r>
              <a:rPr lang="en-US" b="1"/>
              <a:t>and generating</a:t>
            </a:r>
            <a:r>
              <a:rPr lang="en-US"/>
              <a:t> additional samples like magic.</a:t>
            </a:r>
          </a:p>
          <a:p>
            <a:r>
              <a:rPr lang="en-US"/>
              <a:t>GANs can generate synthetic medical images – </a:t>
            </a:r>
            <a:r>
              <a:rPr lang="en-US" b="1"/>
              <a:t>very similar</a:t>
            </a:r>
            <a:r>
              <a:rPr lang="en-US"/>
              <a:t> to real images</a:t>
            </a:r>
            <a:endParaRPr lang="en-US">
              <a:ea typeface="Calibri"/>
              <a:cs typeface="Calibri"/>
            </a:endParaRPr>
          </a:p>
          <a:p>
            <a:endParaRPr lang="en-US"/>
          </a:p>
          <a:p>
            <a:pPr marL="0" indent="0">
              <a:buNone/>
            </a:pPr>
            <a:r>
              <a:rPr lang="en-US" b="1"/>
              <a:t>Example workflow:</a:t>
            </a:r>
            <a:endParaRPr lang="en-US" b="1">
              <a:ea typeface="Calibri" panose="020F0502020204030204"/>
              <a:cs typeface="Calibri" panose="020F0502020204030204"/>
            </a:endParaRPr>
          </a:p>
          <a:p>
            <a:pPr marL="514350" indent="-514350">
              <a:buFont typeface="+mj-lt"/>
              <a:buAutoNum type="arabicPeriod"/>
            </a:pPr>
            <a:r>
              <a:rPr lang="en-US" b="1"/>
              <a:t>Train </a:t>
            </a:r>
            <a:r>
              <a:rPr lang="en-US"/>
              <a:t>a GAN on real medical images (e.g. MRI, CT Scans)</a:t>
            </a:r>
            <a:endParaRPr lang="en-US">
              <a:ea typeface="Calibri"/>
              <a:cs typeface="Calibri"/>
            </a:endParaRPr>
          </a:p>
          <a:p>
            <a:pPr marL="514350" indent="-514350">
              <a:buFont typeface="+mj-lt"/>
              <a:buAutoNum type="arabicPeriod"/>
            </a:pPr>
            <a:r>
              <a:rPr lang="en-US"/>
              <a:t>Generator creates </a:t>
            </a:r>
            <a:r>
              <a:rPr lang="en-US" b="1"/>
              <a:t>synthetic </a:t>
            </a:r>
            <a:r>
              <a:rPr lang="en-US"/>
              <a:t>images -&gt; added to dataset</a:t>
            </a:r>
          </a:p>
          <a:p>
            <a:pPr marL="514350" indent="-514350">
              <a:buFont typeface="+mj-lt"/>
              <a:buAutoNum type="arabicPeriod"/>
            </a:pPr>
            <a:r>
              <a:rPr lang="en-US"/>
              <a:t>A disease </a:t>
            </a:r>
            <a:r>
              <a:rPr lang="en-US" b="1"/>
              <a:t>detection model</a:t>
            </a:r>
            <a:r>
              <a:rPr lang="en-US"/>
              <a:t> is trained with more data, improving accuracy.</a:t>
            </a:r>
          </a:p>
          <a:p>
            <a:pPr marL="514350" indent="-514350">
              <a:buFont typeface="+mj-lt"/>
              <a:buAutoNum type="arabicPeriod"/>
            </a:pPr>
            <a:endParaRPr lang="en-US"/>
          </a:p>
        </p:txBody>
      </p:sp>
      <p:graphicFrame>
        <p:nvGraphicFramePr>
          <p:cNvPr id="4" name="Diagram 3">
            <a:extLst>
              <a:ext uri="{FF2B5EF4-FFF2-40B4-BE49-F238E27FC236}">
                <a16:creationId xmlns:a16="http://schemas.microsoft.com/office/drawing/2014/main" id="{EB3F626F-DB88-793C-5C71-7AD48FBC58DD}"/>
              </a:ext>
            </a:extLst>
          </p:cNvPr>
          <p:cNvGraphicFramePr/>
          <p:nvPr>
            <p:extLst>
              <p:ext uri="{D42A27DB-BD31-4B8C-83A1-F6EECF244321}">
                <p14:modId xmlns:p14="http://schemas.microsoft.com/office/powerpoint/2010/main" val="871325754"/>
              </p:ext>
            </p:extLst>
          </p:nvPr>
        </p:nvGraphicFramePr>
        <p:xfrm>
          <a:off x="8079441" y="1824318"/>
          <a:ext cx="3922059"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68207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1B27F-B4F7-43A6-B929-E4BB6645F67C}"/>
              </a:ext>
            </a:extLst>
          </p:cNvPr>
          <p:cNvSpPr>
            <a:spLocks noGrp="1"/>
          </p:cNvSpPr>
          <p:nvPr>
            <p:ph type="title"/>
          </p:nvPr>
        </p:nvSpPr>
        <p:spPr>
          <a:xfrm>
            <a:off x="762001" y="1138265"/>
            <a:ext cx="3056625" cy="2909296"/>
          </a:xfrm>
        </p:spPr>
        <p:txBody>
          <a:bodyPr anchor="t">
            <a:normAutofit/>
          </a:bodyPr>
          <a:lstStyle/>
          <a:p>
            <a:r>
              <a:rPr lang="en-US" sz="2400" b="1"/>
              <a:t>How GAN compares to other models:</a:t>
            </a:r>
            <a:br>
              <a:rPr lang="en-US" sz="3200" b="1">
                <a:ea typeface="Calibri Light"/>
                <a:cs typeface="Calibri Light"/>
              </a:rPr>
            </a:br>
            <a:br>
              <a:rPr lang="en-US" sz="3200" b="1">
                <a:ea typeface="Calibri Light"/>
                <a:cs typeface="Calibri Light"/>
              </a:rPr>
            </a:br>
            <a:r>
              <a:rPr lang="en-US" sz="3200" b="1">
                <a:ea typeface="Calibri Light"/>
                <a:cs typeface="Calibri Light"/>
              </a:rPr>
              <a:t>GAN vs VAE</a:t>
            </a:r>
          </a:p>
        </p:txBody>
      </p:sp>
      <p:cxnSp>
        <p:nvCxnSpPr>
          <p:cNvPr id="8" name="Straight Connector 7">
            <a:extLst>
              <a:ext uri="{FF2B5EF4-FFF2-40B4-BE49-F238E27FC236}">
                <a16:creationId xmlns:a16="http://schemas.microsoft.com/office/drawing/2014/main" id="{00CD8E7C-C23B-A3B9-B18A-838AED877A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EAAE730-15B1-47EF-80F7-D2053FAF7251}"/>
              </a:ext>
            </a:extLst>
          </p:cNvPr>
          <p:cNvSpPr>
            <a:spLocks noGrp="1"/>
          </p:cNvSpPr>
          <p:nvPr>
            <p:ph idx="1"/>
          </p:nvPr>
        </p:nvSpPr>
        <p:spPr>
          <a:xfrm>
            <a:off x="4600755" y="977493"/>
            <a:ext cx="6661029" cy="5210520"/>
          </a:xfrm>
        </p:spPr>
        <p:txBody>
          <a:bodyPr vert="horz" lIns="91440" tIns="45720" rIns="91440" bIns="45720" rtlCol="0" anchor="t">
            <a:normAutofit/>
          </a:bodyPr>
          <a:lstStyle/>
          <a:p>
            <a:pPr marL="0" indent="0">
              <a:buNone/>
            </a:pPr>
            <a:r>
              <a:rPr lang="en-US" sz="2000"/>
              <a:t>Both models generate new samples but differ in training.</a:t>
            </a:r>
            <a:br>
              <a:rPr lang="en-US" sz="2000"/>
            </a:br>
            <a:endParaRPr lang="en-US" sz="2000">
              <a:ea typeface="Calibri" panose="020F0502020204030204"/>
              <a:cs typeface="Calibri" panose="020F0502020204030204"/>
            </a:endParaRPr>
          </a:p>
          <a:p>
            <a:r>
              <a:rPr lang="en-US" sz="2000" b="1"/>
              <a:t>GAN</a:t>
            </a:r>
            <a:endParaRPr lang="en-US" sz="2000"/>
          </a:p>
          <a:p>
            <a:pPr lvl="1"/>
            <a:r>
              <a:rPr lang="en-US" sz="2000"/>
              <a:t>Uses adversarial training </a:t>
            </a:r>
          </a:p>
          <a:p>
            <a:pPr lvl="1"/>
            <a:r>
              <a:rPr lang="en-US" sz="2000">
                <a:ea typeface="Calibri" panose="020F0502020204030204"/>
                <a:cs typeface="Calibri" panose="020F0502020204030204"/>
              </a:rPr>
              <a:t>Training can be unstable </a:t>
            </a:r>
            <a:endParaRPr lang="en-US" sz="2000"/>
          </a:p>
          <a:p>
            <a:pPr lvl="1"/>
            <a:r>
              <a:rPr lang="en-US" sz="2000"/>
              <a:t>Produces sharper images</a:t>
            </a:r>
          </a:p>
          <a:p>
            <a:pPr lvl="1"/>
            <a:r>
              <a:rPr lang="en-US" sz="2000"/>
              <a:t>Optimizes distribution difference</a:t>
            </a:r>
          </a:p>
          <a:p>
            <a:r>
              <a:rPr lang="en-US" sz="2000" b="1"/>
              <a:t>VAE</a:t>
            </a:r>
            <a:endParaRPr lang="en-US" sz="2000"/>
          </a:p>
          <a:p>
            <a:pPr lvl="1"/>
            <a:r>
              <a:rPr lang="en-US" sz="2000"/>
              <a:t>Uses probabilistic latent variables </a:t>
            </a:r>
          </a:p>
          <a:p>
            <a:pPr lvl="1"/>
            <a:r>
              <a:rPr lang="en-US" sz="2000"/>
              <a:t>Easier to train </a:t>
            </a:r>
          </a:p>
          <a:p>
            <a:pPr lvl="1"/>
            <a:r>
              <a:rPr lang="en-US" sz="2000"/>
              <a:t>Generated samples are often blurrier </a:t>
            </a:r>
          </a:p>
          <a:p>
            <a:pPr lvl="1"/>
            <a:r>
              <a:rPr lang="en-US" sz="2000"/>
              <a:t>VAE optimizes a likelihood-based objective</a:t>
            </a:r>
            <a:endParaRPr lang="en-US" sz="2000">
              <a:ea typeface="Calibri"/>
              <a:cs typeface="Calibri"/>
            </a:endParaRPr>
          </a:p>
        </p:txBody>
      </p:sp>
    </p:spTree>
    <p:extLst>
      <p:ext uri="{BB962C8B-B14F-4D97-AF65-F5344CB8AC3E}">
        <p14:creationId xmlns:p14="http://schemas.microsoft.com/office/powerpoint/2010/main" val="2892963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688E73-49B9-4052-A836-D248C825D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2DAF6E-4380-4F02-A1B0-6D220AA6B25A}"/>
              </a:ext>
            </a:extLst>
          </p:cNvPr>
          <p:cNvSpPr>
            <a:spLocks noGrp="1"/>
          </p:cNvSpPr>
          <p:nvPr>
            <p:ph type="title"/>
          </p:nvPr>
        </p:nvSpPr>
        <p:spPr>
          <a:xfrm>
            <a:off x="838199" y="557189"/>
            <a:ext cx="5155263" cy="5571899"/>
          </a:xfrm>
        </p:spPr>
        <p:txBody>
          <a:bodyPr>
            <a:normAutofit/>
          </a:bodyPr>
          <a:lstStyle/>
          <a:p>
            <a:r>
              <a:rPr lang="en-US" sz="3200" b="1"/>
              <a:t>GAN vs Diffusion Models</a:t>
            </a:r>
          </a:p>
        </p:txBody>
      </p:sp>
      <p:sp>
        <p:nvSpPr>
          <p:cNvPr id="3" name="Content Placeholder 2">
            <a:extLst>
              <a:ext uri="{FF2B5EF4-FFF2-40B4-BE49-F238E27FC236}">
                <a16:creationId xmlns:a16="http://schemas.microsoft.com/office/drawing/2014/main" id="{E7EBBD71-769C-4E07-9111-307BAB356E63}"/>
              </a:ext>
            </a:extLst>
          </p:cNvPr>
          <p:cNvSpPr>
            <a:spLocks noGrp="1"/>
          </p:cNvSpPr>
          <p:nvPr>
            <p:ph idx="1"/>
          </p:nvPr>
        </p:nvSpPr>
        <p:spPr>
          <a:xfrm>
            <a:off x="6195375" y="557189"/>
            <a:ext cx="5158424" cy="5571899"/>
          </a:xfrm>
        </p:spPr>
        <p:txBody>
          <a:bodyPr vert="horz" lIns="91440" tIns="45720" rIns="91440" bIns="45720" rtlCol="0" anchor="ctr">
            <a:normAutofit/>
          </a:bodyPr>
          <a:lstStyle/>
          <a:p>
            <a:pPr marL="0" indent="0">
              <a:buNone/>
            </a:pPr>
            <a:endParaRPr lang="en-US" sz="2000" b="1">
              <a:ea typeface="Calibri"/>
              <a:cs typeface="Calibri"/>
            </a:endParaRPr>
          </a:p>
          <a:p>
            <a:r>
              <a:rPr lang="en-US" sz="2000" b="1"/>
              <a:t>GAN</a:t>
            </a:r>
            <a:endParaRPr lang="en-US" sz="2000"/>
          </a:p>
          <a:p>
            <a:pPr lvl="1"/>
            <a:r>
              <a:rPr lang="en-US" sz="2000"/>
              <a:t>Fast image generation </a:t>
            </a:r>
          </a:p>
          <a:p>
            <a:pPr lvl="1"/>
            <a:r>
              <a:rPr lang="en-US" sz="2000"/>
              <a:t>Hard to train </a:t>
            </a:r>
          </a:p>
          <a:p>
            <a:pPr lvl="1"/>
            <a:r>
              <a:rPr lang="en-US" sz="2000"/>
              <a:t>Risk of mode collapse (repeating one pattern only)</a:t>
            </a:r>
          </a:p>
          <a:p>
            <a:pPr lvl="1"/>
            <a:r>
              <a:rPr lang="en-US" sz="2000">
                <a:ea typeface="Calibri" panose="020F0502020204030204"/>
                <a:cs typeface="Calibri" panose="020F0502020204030204"/>
              </a:rPr>
              <a:t>GAN start from random noise, learns to transform into realistic data</a:t>
            </a:r>
            <a:endParaRPr lang="en-US" sz="2000"/>
          </a:p>
          <a:p>
            <a:r>
              <a:rPr lang="en-US" sz="2000" b="1"/>
              <a:t>Diffusion</a:t>
            </a:r>
            <a:endParaRPr lang="en-US" sz="2000"/>
          </a:p>
          <a:p>
            <a:pPr lvl="1"/>
            <a:r>
              <a:rPr lang="en-US" sz="2000"/>
              <a:t>Slower generation due to iterative steps</a:t>
            </a:r>
          </a:p>
          <a:p>
            <a:pPr lvl="1"/>
            <a:r>
              <a:rPr lang="en-US" sz="2000"/>
              <a:t>Stable training </a:t>
            </a:r>
            <a:endParaRPr lang="en-US"/>
          </a:p>
          <a:p>
            <a:pPr lvl="1"/>
            <a:r>
              <a:rPr lang="en-US" sz="2000"/>
              <a:t>Higher image quality </a:t>
            </a:r>
          </a:p>
          <a:p>
            <a:pPr lvl="1"/>
            <a:r>
              <a:rPr lang="en-US" sz="2000"/>
              <a:t>Diffusion models gradually remove noise from data.</a:t>
            </a:r>
          </a:p>
          <a:p>
            <a:endParaRPr lang="en-US" sz="2000"/>
          </a:p>
        </p:txBody>
      </p:sp>
    </p:spTree>
    <p:extLst>
      <p:ext uri="{BB962C8B-B14F-4D97-AF65-F5344CB8AC3E}">
        <p14:creationId xmlns:p14="http://schemas.microsoft.com/office/powerpoint/2010/main" val="35666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EC5261-5F44-399F-CA1F-E8325D440E4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DB0E93E-2801-9665-AF14-37E972839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AE4A3C-4F15-37AF-ACB8-8154500B606E}"/>
              </a:ext>
            </a:extLst>
          </p:cNvPr>
          <p:cNvSpPr>
            <a:spLocks noGrp="1"/>
          </p:cNvSpPr>
          <p:nvPr>
            <p:ph type="title"/>
          </p:nvPr>
        </p:nvSpPr>
        <p:spPr>
          <a:xfrm>
            <a:off x="838199" y="557189"/>
            <a:ext cx="5155263" cy="5571899"/>
          </a:xfrm>
        </p:spPr>
        <p:txBody>
          <a:bodyPr>
            <a:normAutofit/>
          </a:bodyPr>
          <a:lstStyle/>
          <a:p>
            <a:r>
              <a:rPr lang="en-US" sz="3200" b="1">
                <a:ea typeface="Calibri"/>
                <a:cs typeface="Calibri"/>
              </a:rPr>
              <a:t>GAN vs GNN</a:t>
            </a:r>
            <a:endParaRPr lang="en-US" sz="3200"/>
          </a:p>
        </p:txBody>
      </p:sp>
      <p:sp>
        <p:nvSpPr>
          <p:cNvPr id="3" name="Content Placeholder 2">
            <a:extLst>
              <a:ext uri="{FF2B5EF4-FFF2-40B4-BE49-F238E27FC236}">
                <a16:creationId xmlns:a16="http://schemas.microsoft.com/office/drawing/2014/main" id="{8667E46F-248F-D7B8-58BE-295DA493FFBC}"/>
              </a:ext>
            </a:extLst>
          </p:cNvPr>
          <p:cNvSpPr>
            <a:spLocks noGrp="1"/>
          </p:cNvSpPr>
          <p:nvPr>
            <p:ph idx="1"/>
          </p:nvPr>
        </p:nvSpPr>
        <p:spPr>
          <a:xfrm>
            <a:off x="5023068" y="557189"/>
            <a:ext cx="6330731" cy="5571899"/>
          </a:xfrm>
        </p:spPr>
        <p:txBody>
          <a:bodyPr vert="horz" lIns="91440" tIns="45720" rIns="91440" bIns="45720" rtlCol="0" anchor="ctr">
            <a:normAutofit/>
          </a:bodyPr>
          <a:lstStyle/>
          <a:p>
            <a:pPr marL="0" indent="0">
              <a:buNone/>
            </a:pPr>
            <a:endParaRPr lang="en-US" sz="2000" b="1">
              <a:ea typeface="Calibri"/>
              <a:cs typeface="Calibri"/>
            </a:endParaRPr>
          </a:p>
          <a:p>
            <a:r>
              <a:rPr lang="en-US" sz="2000" b="1"/>
              <a:t>GAN</a:t>
            </a:r>
            <a:endParaRPr lang="en-US" sz="2000"/>
          </a:p>
          <a:p>
            <a:pPr lvl="1"/>
            <a:r>
              <a:rPr lang="en-US" sz="2000">
                <a:ea typeface="+mn-lt"/>
                <a:cs typeface="+mn-lt"/>
              </a:rPr>
              <a:t>Generates new data (continuous)</a:t>
            </a:r>
            <a:endParaRPr lang="en-US" sz="2800" b="1">
              <a:ea typeface="+mn-lt"/>
              <a:cs typeface="+mn-lt"/>
            </a:endParaRPr>
          </a:p>
          <a:p>
            <a:pPr lvl="1"/>
            <a:r>
              <a:rPr lang="en-US" sz="2000">
                <a:ea typeface="+mn-lt"/>
                <a:cs typeface="+mn-lt"/>
              </a:rPr>
              <a:t>Focuses on continuous data generation</a:t>
            </a:r>
            <a:endParaRPr lang="en-US" sz="2800" b="1">
              <a:ea typeface="+mn-lt"/>
              <a:cs typeface="+mn-lt"/>
            </a:endParaRPr>
          </a:p>
          <a:p>
            <a:pPr lvl="1"/>
            <a:r>
              <a:rPr lang="en-US" sz="2000">
                <a:ea typeface="Calibri"/>
                <a:cs typeface="Calibri"/>
              </a:rPr>
              <a:t>Use case: medical image generation, simulation</a:t>
            </a:r>
          </a:p>
          <a:p>
            <a:pPr lvl="1"/>
            <a:endParaRPr lang="en-US" sz="2000"/>
          </a:p>
          <a:p>
            <a:r>
              <a:rPr lang="en-US" sz="2000" b="1"/>
              <a:t>GNN</a:t>
            </a:r>
            <a:endParaRPr lang="en-US" sz="2000"/>
          </a:p>
          <a:p>
            <a:pPr lvl="1"/>
            <a:r>
              <a:rPr lang="en-US" sz="2000">
                <a:ea typeface="Calibri"/>
                <a:cs typeface="Calibri"/>
              </a:rPr>
              <a:t>Learn relationships in data (Graph)</a:t>
            </a:r>
          </a:p>
          <a:p>
            <a:pPr lvl="1"/>
            <a:r>
              <a:rPr lang="en-US" sz="2000">
                <a:ea typeface="Calibri"/>
                <a:cs typeface="Calibri"/>
              </a:rPr>
              <a:t>Focuses on learning relationships through nodes</a:t>
            </a:r>
          </a:p>
          <a:p>
            <a:pPr lvl="1"/>
            <a:r>
              <a:rPr lang="en-US" sz="2000">
                <a:ea typeface="Calibri"/>
                <a:cs typeface="Calibri"/>
              </a:rPr>
              <a:t>Use case: Social networks, recommendation</a:t>
            </a:r>
          </a:p>
          <a:p>
            <a:pPr lvl="1"/>
            <a:endParaRPr lang="en-US" sz="2000">
              <a:ea typeface="Calibri"/>
              <a:cs typeface="Calibri"/>
            </a:endParaRPr>
          </a:p>
          <a:p>
            <a:endParaRPr lang="en-US" sz="2000">
              <a:ea typeface="Calibri"/>
              <a:cs typeface="Calibri"/>
            </a:endParaRPr>
          </a:p>
        </p:txBody>
      </p:sp>
    </p:spTree>
    <p:extLst>
      <p:ext uri="{BB962C8B-B14F-4D97-AF65-F5344CB8AC3E}">
        <p14:creationId xmlns:p14="http://schemas.microsoft.com/office/powerpoint/2010/main" val="3162512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E185C-1317-4A80-9238-416A721369A7}"/>
              </a:ext>
            </a:extLst>
          </p:cNvPr>
          <p:cNvSpPr>
            <a:spLocks noGrp="1"/>
          </p:cNvSpPr>
          <p:nvPr>
            <p:ph type="title"/>
          </p:nvPr>
        </p:nvSpPr>
        <p:spPr>
          <a:xfrm>
            <a:off x="762001" y="1138265"/>
            <a:ext cx="3276599" cy="2909296"/>
          </a:xfrm>
        </p:spPr>
        <p:txBody>
          <a:bodyPr vert="horz" lIns="91440" tIns="45720" rIns="91440" bIns="45720" rtlCol="0" anchor="t">
            <a:normAutofit/>
          </a:bodyPr>
          <a:lstStyle/>
          <a:p>
            <a:r>
              <a:rPr lang="en-US" sz="3200" kern="1200">
                <a:latin typeface="+mj-lt"/>
                <a:ea typeface="+mj-ea"/>
                <a:cs typeface="+mj-cs"/>
              </a:rPr>
              <a:t>How does this magic happen</a:t>
            </a:r>
            <a:r>
              <a:rPr lang="en-US" sz="3200"/>
              <a:t>: </a:t>
            </a:r>
            <a:br>
              <a:rPr lang="en-US" sz="3200" kern="1200"/>
            </a:br>
            <a:r>
              <a:rPr lang="en-US" sz="3200" b="1" kern="1200">
                <a:latin typeface="+mj-lt"/>
                <a:ea typeface="+mj-ea"/>
                <a:cs typeface="+mj-cs"/>
              </a:rPr>
              <a:t>Basic Training process</a:t>
            </a:r>
            <a:r>
              <a:rPr lang="en-US" sz="3200" b="1"/>
              <a:t> - outline</a:t>
            </a:r>
            <a:endParaRPr lang="en-US" sz="3200" b="1" kern="1200">
              <a:latin typeface="+mj-lt"/>
              <a:ea typeface="+mj-ea"/>
              <a:cs typeface="+mj-cs"/>
            </a:endParaRPr>
          </a:p>
        </p:txBody>
      </p:sp>
      <p:cxnSp>
        <p:nvCxnSpPr>
          <p:cNvPr id="28" name="Straight Connector 27">
            <a:extLst>
              <a:ext uri="{FF2B5EF4-FFF2-40B4-BE49-F238E27FC236}">
                <a16:creationId xmlns:a16="http://schemas.microsoft.com/office/drawing/2014/main" id="{00CD8E7C-C23B-A3B9-B18A-838AED877A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8" name="Content Placeholder 7">
            <a:extLst>
              <a:ext uri="{FF2B5EF4-FFF2-40B4-BE49-F238E27FC236}">
                <a16:creationId xmlns:a16="http://schemas.microsoft.com/office/drawing/2014/main" id="{A54EB381-B7A1-34FE-364D-A534C95EB8FC}"/>
              </a:ext>
            </a:extLst>
          </p:cNvPr>
          <p:cNvGraphicFramePr>
            <a:graphicFrameLocks noGrp="1"/>
          </p:cNvGraphicFramePr>
          <p:nvPr>
            <p:ph idx="1"/>
            <p:extLst>
              <p:ext uri="{D42A27DB-BD31-4B8C-83A1-F6EECF244321}">
                <p14:modId xmlns:p14="http://schemas.microsoft.com/office/powerpoint/2010/main" val="4180955044"/>
              </p:ext>
            </p:extLst>
          </p:nvPr>
        </p:nvGraphicFramePr>
        <p:xfrm>
          <a:off x="4247029" y="963705"/>
          <a:ext cx="7106911" cy="5328405"/>
        </p:xfrm>
        <a:graphic>
          <a:graphicData uri="http://schemas.openxmlformats.org/drawingml/2006/table">
            <a:tbl>
              <a:tblPr firstRow="1" firstCol="1" bandRow="1">
                <a:noFill/>
                <a:tableStyleId>{5C22544A-7EE6-4342-B048-85BDC9FD1C3A}</a:tableStyleId>
              </a:tblPr>
              <a:tblGrid>
                <a:gridCol w="2254910">
                  <a:extLst>
                    <a:ext uri="{9D8B030D-6E8A-4147-A177-3AD203B41FA5}">
                      <a16:colId xmlns:a16="http://schemas.microsoft.com/office/drawing/2014/main" val="1059923906"/>
                    </a:ext>
                  </a:extLst>
                </a:gridCol>
                <a:gridCol w="4852001">
                  <a:extLst>
                    <a:ext uri="{9D8B030D-6E8A-4147-A177-3AD203B41FA5}">
                      <a16:colId xmlns:a16="http://schemas.microsoft.com/office/drawing/2014/main" val="1355471157"/>
                    </a:ext>
                  </a:extLst>
                </a:gridCol>
              </a:tblGrid>
              <a:tr h="592045">
                <a:tc>
                  <a:txBody>
                    <a:bodyPr/>
                    <a:lstStyle/>
                    <a:p>
                      <a:pPr algn="ctr">
                        <a:buNone/>
                      </a:pPr>
                      <a:r>
                        <a:rPr lang="en-US" sz="1400" b="1" kern="0">
                          <a:solidFill>
                            <a:srgbClr val="FFFFFF"/>
                          </a:solidFill>
                          <a:effectLst/>
                          <a:latin typeface="Times New Roman"/>
                          <a:ea typeface="Times New Roman" panose="02020603050405020304" pitchFamily="18" charset="0"/>
                        </a:rPr>
                        <a:t>Component</a:t>
                      </a:r>
                      <a:endParaRPr lang="en-US" sz="1400" b="1">
                        <a:solidFill>
                          <a:srgbClr val="FFFFFF"/>
                        </a:solidFill>
                        <a:effectLst/>
                        <a:latin typeface="Times New Roman"/>
                      </a:endParaRPr>
                    </a:p>
                  </a:txBody>
                  <a:tcPr marL="192074" marR="115244" marT="115244" marB="115244"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ctr">
                        <a:buNone/>
                      </a:pPr>
                      <a:r>
                        <a:rPr lang="en-US" sz="1400" b="1" kern="0">
                          <a:solidFill>
                            <a:srgbClr val="FFFFFF"/>
                          </a:solidFill>
                          <a:effectLst/>
                          <a:latin typeface="Times New Roman" panose="02020603050405020304" pitchFamily="18" charset="0"/>
                          <a:ea typeface="Times New Roman" panose="02020603050405020304" pitchFamily="18" charset="0"/>
                        </a:rPr>
                        <a:t>Role (What it does)</a:t>
                      </a:r>
                      <a:endParaRPr lang="en-US" sz="1400" b="1">
                        <a:solidFill>
                          <a:srgbClr val="FFFFFF"/>
                        </a:solidFill>
                        <a:effectLst/>
                      </a:endParaRPr>
                    </a:p>
                  </a:txBody>
                  <a:tcPr marL="192074" marR="115244" marT="115244" marB="115244"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2885295146"/>
                  </a:ext>
                </a:extLst>
              </a:tr>
              <a:tr h="592045">
                <a:tc>
                  <a:txBody>
                    <a:bodyPr/>
                    <a:lstStyle/>
                    <a:p>
                      <a:pPr>
                        <a:buNone/>
                      </a:pPr>
                      <a:r>
                        <a:rPr lang="en-US" sz="1400" b="1" kern="0">
                          <a:solidFill>
                            <a:srgbClr val="FFFFFF"/>
                          </a:solidFill>
                          <a:effectLst/>
                          <a:latin typeface="Times New Roman" panose="02020603050405020304" pitchFamily="18" charset="0"/>
                          <a:ea typeface="Times New Roman" panose="02020603050405020304" pitchFamily="18" charset="0"/>
                        </a:rPr>
                        <a:t>Generator (G)</a:t>
                      </a:r>
                      <a:endParaRPr lang="en-US" sz="1400" b="1">
                        <a:solidFill>
                          <a:srgbClr val="FFFFFF"/>
                        </a:solidFill>
                        <a:effectLst/>
                      </a:endParaRPr>
                    </a:p>
                  </a:txBody>
                  <a:tcPr marL="192074" marR="115244" marT="115244" marB="115244"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636B68">
                        <a:alpha val="69804"/>
                      </a:srgbClr>
                    </a:solidFill>
                  </a:tcPr>
                </a:tc>
                <a:tc>
                  <a:txBody>
                    <a:bodyPr/>
                    <a:lstStyle/>
                    <a:p>
                      <a:pPr>
                        <a:buNone/>
                      </a:pPr>
                      <a:r>
                        <a:rPr lang="en-US" sz="1400" kern="0">
                          <a:solidFill>
                            <a:schemeClr val="tx1">
                              <a:lumMod val="85000"/>
                              <a:lumOff val="15000"/>
                            </a:schemeClr>
                          </a:solidFill>
                          <a:effectLst/>
                          <a:latin typeface="Times New Roman" panose="02020603050405020304" pitchFamily="18" charset="0"/>
                          <a:ea typeface="Times New Roman" panose="02020603050405020304" pitchFamily="18" charset="0"/>
                        </a:rPr>
                        <a:t>Creates synthetic images from random noise ( z )</a:t>
                      </a:r>
                      <a:endParaRPr lang="en-US" sz="1400">
                        <a:solidFill>
                          <a:schemeClr val="tx1">
                            <a:lumMod val="85000"/>
                            <a:lumOff val="15000"/>
                          </a:schemeClr>
                        </a:solidFill>
                        <a:effectLst/>
                      </a:endParaRPr>
                    </a:p>
                  </a:txBody>
                  <a:tcPr marL="192074" marR="115244" marT="115244" marB="115244"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3304397237"/>
                  </a:ext>
                </a:extLst>
              </a:tr>
              <a:tr h="592045">
                <a:tc>
                  <a:txBody>
                    <a:bodyPr/>
                    <a:lstStyle/>
                    <a:p>
                      <a:pPr>
                        <a:buNone/>
                      </a:pPr>
                      <a:r>
                        <a:rPr lang="en-US" sz="1400" b="1" kern="0">
                          <a:solidFill>
                            <a:srgbClr val="FFFFFF"/>
                          </a:solidFill>
                          <a:effectLst/>
                          <a:latin typeface="Times New Roman" panose="02020603050405020304" pitchFamily="18" charset="0"/>
                          <a:ea typeface="Times New Roman" panose="02020603050405020304" pitchFamily="18" charset="0"/>
                        </a:rPr>
                        <a:t>Discriminator (D)</a:t>
                      </a:r>
                      <a:endParaRPr lang="en-US" sz="1400" b="1">
                        <a:solidFill>
                          <a:srgbClr val="FFFFFF"/>
                        </a:solidFill>
                        <a:effectLst/>
                      </a:endParaRPr>
                    </a:p>
                  </a:txBody>
                  <a:tcPr marL="192074" marR="115244" marT="115244" marB="115244"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636B68">
                        <a:alpha val="69804"/>
                      </a:srgbClr>
                    </a:solidFill>
                  </a:tcPr>
                </a:tc>
                <a:tc>
                  <a:txBody>
                    <a:bodyPr/>
                    <a:lstStyle/>
                    <a:p>
                      <a:pPr>
                        <a:buNone/>
                      </a:pPr>
                      <a:r>
                        <a:rPr lang="en-US" sz="1400" kern="0">
                          <a:solidFill>
                            <a:schemeClr val="tx1">
                              <a:lumMod val="85000"/>
                              <a:lumOff val="15000"/>
                            </a:schemeClr>
                          </a:solidFill>
                          <a:effectLst/>
                          <a:latin typeface="Times New Roman" panose="02020603050405020304" pitchFamily="18" charset="0"/>
                          <a:ea typeface="Times New Roman" panose="02020603050405020304" pitchFamily="18" charset="0"/>
                        </a:rPr>
                        <a:t>Distinguishes between real images and generated images</a:t>
                      </a:r>
                      <a:endParaRPr lang="en-US" sz="1400">
                        <a:solidFill>
                          <a:schemeClr val="tx1">
                            <a:lumMod val="85000"/>
                            <a:lumOff val="15000"/>
                          </a:schemeClr>
                        </a:solidFill>
                        <a:effectLst/>
                      </a:endParaRPr>
                    </a:p>
                  </a:txBody>
                  <a:tcPr marL="192074" marR="115244" marT="115244" marB="115244"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4206286274"/>
                  </a:ext>
                </a:extLst>
              </a:tr>
              <a:tr h="592045">
                <a:tc>
                  <a:txBody>
                    <a:bodyPr/>
                    <a:lstStyle/>
                    <a:p>
                      <a:pPr>
                        <a:buNone/>
                      </a:pPr>
                      <a:r>
                        <a:rPr lang="en-US" sz="1400" b="1" kern="0">
                          <a:solidFill>
                            <a:srgbClr val="FFFFFF"/>
                          </a:solidFill>
                          <a:effectLst/>
                          <a:latin typeface="Times New Roman" panose="02020603050405020304" pitchFamily="18" charset="0"/>
                          <a:ea typeface="Times New Roman" panose="02020603050405020304" pitchFamily="18" charset="0"/>
                        </a:rPr>
                        <a:t>Loss Calculation</a:t>
                      </a:r>
                      <a:endParaRPr lang="en-US" sz="1400" b="1">
                        <a:solidFill>
                          <a:srgbClr val="FFFFFF"/>
                        </a:solidFill>
                        <a:effectLst/>
                      </a:endParaRPr>
                    </a:p>
                  </a:txBody>
                  <a:tcPr marL="192074" marR="115244" marT="115244" marB="115244"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636B68">
                        <a:alpha val="69804"/>
                      </a:srgbClr>
                    </a:solidFill>
                  </a:tcPr>
                </a:tc>
                <a:tc>
                  <a:txBody>
                    <a:bodyPr/>
                    <a:lstStyle/>
                    <a:p>
                      <a:pPr>
                        <a:buNone/>
                      </a:pPr>
                      <a:r>
                        <a:rPr lang="en-US" sz="1400" kern="0">
                          <a:solidFill>
                            <a:schemeClr val="tx1">
                              <a:lumMod val="85000"/>
                              <a:lumOff val="15000"/>
                            </a:schemeClr>
                          </a:solidFill>
                          <a:effectLst/>
                          <a:latin typeface="Times New Roman" panose="02020603050405020304" pitchFamily="18" charset="0"/>
                          <a:ea typeface="Times New Roman" panose="02020603050405020304" pitchFamily="18" charset="0"/>
                        </a:rPr>
                        <a:t>Measures how well D detects and how well G fools D</a:t>
                      </a:r>
                      <a:endParaRPr lang="en-US" sz="1400">
                        <a:solidFill>
                          <a:schemeClr val="tx1">
                            <a:lumMod val="85000"/>
                            <a:lumOff val="15000"/>
                          </a:schemeClr>
                        </a:solidFill>
                        <a:effectLst/>
                      </a:endParaRPr>
                    </a:p>
                  </a:txBody>
                  <a:tcPr marL="192074" marR="115244" marT="115244" marB="115244"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1295074059"/>
                  </a:ext>
                </a:extLst>
              </a:tr>
              <a:tr h="592045">
                <a:tc>
                  <a:txBody>
                    <a:bodyPr/>
                    <a:lstStyle/>
                    <a:p>
                      <a:pPr>
                        <a:buNone/>
                      </a:pPr>
                      <a:r>
                        <a:rPr lang="en-US" sz="1400" b="1" kern="0">
                          <a:solidFill>
                            <a:srgbClr val="FFFFFF"/>
                          </a:solidFill>
                          <a:effectLst/>
                          <a:latin typeface="Times New Roman" panose="02020603050405020304" pitchFamily="18" charset="0"/>
                          <a:ea typeface="Times New Roman" panose="02020603050405020304" pitchFamily="18" charset="0"/>
                        </a:rPr>
                        <a:t>Generator Update</a:t>
                      </a:r>
                      <a:endParaRPr lang="en-US" sz="1400" b="1">
                        <a:solidFill>
                          <a:srgbClr val="FFFFFF"/>
                        </a:solidFill>
                        <a:effectLst/>
                      </a:endParaRPr>
                    </a:p>
                  </a:txBody>
                  <a:tcPr marL="192074" marR="115244" marT="115244" marB="115244"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636B68">
                        <a:alpha val="69804"/>
                      </a:srgbClr>
                    </a:solidFill>
                  </a:tcPr>
                </a:tc>
                <a:tc>
                  <a:txBody>
                    <a:bodyPr/>
                    <a:lstStyle/>
                    <a:p>
                      <a:pPr>
                        <a:buNone/>
                      </a:pPr>
                      <a:r>
                        <a:rPr lang="en-US" sz="1400" kern="0">
                          <a:solidFill>
                            <a:schemeClr val="tx1">
                              <a:lumMod val="85000"/>
                              <a:lumOff val="15000"/>
                            </a:schemeClr>
                          </a:solidFill>
                          <a:effectLst/>
                          <a:latin typeface="Times New Roman" panose="02020603050405020304" pitchFamily="18" charset="0"/>
                          <a:ea typeface="Times New Roman" panose="02020603050405020304" pitchFamily="18" charset="0"/>
                        </a:rPr>
                        <a:t>Improves G to produce more realistic images</a:t>
                      </a:r>
                      <a:endParaRPr lang="en-US" sz="1400">
                        <a:solidFill>
                          <a:schemeClr val="tx1">
                            <a:lumMod val="85000"/>
                            <a:lumOff val="15000"/>
                          </a:schemeClr>
                        </a:solidFill>
                        <a:effectLst/>
                      </a:endParaRPr>
                    </a:p>
                  </a:txBody>
                  <a:tcPr marL="192074" marR="115244" marT="115244" marB="115244"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440605766"/>
                  </a:ext>
                </a:extLst>
              </a:tr>
              <a:tr h="592045">
                <a:tc>
                  <a:txBody>
                    <a:bodyPr/>
                    <a:lstStyle/>
                    <a:p>
                      <a:pPr>
                        <a:buNone/>
                      </a:pPr>
                      <a:r>
                        <a:rPr lang="en-US" sz="1400" b="1" kern="0">
                          <a:solidFill>
                            <a:srgbClr val="FFFFFF"/>
                          </a:solidFill>
                          <a:effectLst/>
                          <a:latin typeface="Times New Roman" panose="02020603050405020304" pitchFamily="18" charset="0"/>
                          <a:ea typeface="Times New Roman" panose="02020603050405020304" pitchFamily="18" charset="0"/>
                        </a:rPr>
                        <a:t>Discriminator Update</a:t>
                      </a:r>
                      <a:endParaRPr lang="en-US" sz="1400" b="1">
                        <a:solidFill>
                          <a:srgbClr val="FFFFFF"/>
                        </a:solidFill>
                        <a:effectLst/>
                      </a:endParaRPr>
                    </a:p>
                  </a:txBody>
                  <a:tcPr marL="192074" marR="115244" marT="115244" marB="115244"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636B68">
                        <a:alpha val="69804"/>
                      </a:srgbClr>
                    </a:solidFill>
                  </a:tcPr>
                </a:tc>
                <a:tc>
                  <a:txBody>
                    <a:bodyPr/>
                    <a:lstStyle/>
                    <a:p>
                      <a:pPr>
                        <a:buNone/>
                      </a:pPr>
                      <a:r>
                        <a:rPr lang="en-US" sz="1400" kern="0">
                          <a:solidFill>
                            <a:schemeClr val="tx1">
                              <a:lumMod val="85000"/>
                              <a:lumOff val="15000"/>
                            </a:schemeClr>
                          </a:solidFill>
                          <a:effectLst/>
                          <a:latin typeface="Times New Roman" panose="02020603050405020304" pitchFamily="18" charset="0"/>
                          <a:ea typeface="Times New Roman" panose="02020603050405020304" pitchFamily="18" charset="0"/>
                        </a:rPr>
                        <a:t>Improves D to better detect fake images</a:t>
                      </a:r>
                      <a:endParaRPr lang="en-US" sz="1400">
                        <a:solidFill>
                          <a:schemeClr val="tx1">
                            <a:lumMod val="85000"/>
                            <a:lumOff val="15000"/>
                          </a:schemeClr>
                        </a:solidFill>
                        <a:effectLst/>
                      </a:endParaRPr>
                    </a:p>
                  </a:txBody>
                  <a:tcPr marL="192074" marR="115244" marT="115244" marB="115244"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424082527"/>
                  </a:ext>
                </a:extLst>
              </a:tr>
              <a:tr h="592045">
                <a:tc>
                  <a:txBody>
                    <a:bodyPr/>
                    <a:lstStyle/>
                    <a:p>
                      <a:pPr>
                        <a:buNone/>
                      </a:pPr>
                      <a:r>
                        <a:rPr lang="en-US" sz="1400" b="1" kern="0">
                          <a:solidFill>
                            <a:srgbClr val="FFFFFF"/>
                          </a:solidFill>
                          <a:effectLst/>
                          <a:latin typeface="Times New Roman" panose="02020603050405020304" pitchFamily="18" charset="0"/>
                          <a:ea typeface="Times New Roman" panose="02020603050405020304" pitchFamily="18" charset="0"/>
                        </a:rPr>
                        <a:t>Iterative Training</a:t>
                      </a:r>
                      <a:endParaRPr lang="en-US" sz="1400" b="1">
                        <a:solidFill>
                          <a:srgbClr val="FFFFFF"/>
                        </a:solidFill>
                        <a:effectLst/>
                      </a:endParaRPr>
                    </a:p>
                  </a:txBody>
                  <a:tcPr marL="192074" marR="115244" marT="115244" marB="115244"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636B68">
                        <a:alpha val="69804"/>
                      </a:srgbClr>
                    </a:solidFill>
                  </a:tcPr>
                </a:tc>
                <a:tc>
                  <a:txBody>
                    <a:bodyPr/>
                    <a:lstStyle/>
                    <a:p>
                      <a:pPr>
                        <a:buNone/>
                      </a:pPr>
                      <a:r>
                        <a:rPr lang="en-US" sz="1400" kern="0">
                          <a:solidFill>
                            <a:schemeClr val="tx1">
                              <a:lumMod val="85000"/>
                              <a:lumOff val="15000"/>
                            </a:schemeClr>
                          </a:solidFill>
                          <a:effectLst/>
                          <a:latin typeface="Times New Roman" panose="02020603050405020304" pitchFamily="18" charset="0"/>
                          <a:ea typeface="Times New Roman" panose="02020603050405020304" pitchFamily="18" charset="0"/>
                        </a:rPr>
                        <a:t>Repeats the process through multiple training cycles</a:t>
                      </a:r>
                      <a:endParaRPr lang="en-US" sz="1400">
                        <a:solidFill>
                          <a:schemeClr val="tx1">
                            <a:lumMod val="85000"/>
                            <a:lumOff val="15000"/>
                          </a:schemeClr>
                        </a:solidFill>
                        <a:effectLst/>
                      </a:endParaRPr>
                    </a:p>
                  </a:txBody>
                  <a:tcPr marL="192074" marR="115244" marT="115244" marB="115244"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428181508"/>
                  </a:ext>
                </a:extLst>
              </a:tr>
              <a:tr h="592045">
                <a:tc>
                  <a:txBody>
                    <a:bodyPr/>
                    <a:lstStyle/>
                    <a:p>
                      <a:pPr>
                        <a:buNone/>
                      </a:pPr>
                      <a:r>
                        <a:rPr lang="en-US" sz="1400" b="1" kern="0">
                          <a:solidFill>
                            <a:srgbClr val="FFFFFF"/>
                          </a:solidFill>
                          <a:effectLst/>
                          <a:latin typeface="Times New Roman" panose="02020603050405020304" pitchFamily="18" charset="0"/>
                          <a:ea typeface="Times New Roman" panose="02020603050405020304" pitchFamily="18" charset="0"/>
                        </a:rPr>
                        <a:t>Optimization Goal</a:t>
                      </a:r>
                      <a:endParaRPr lang="en-US" sz="1400" b="1">
                        <a:solidFill>
                          <a:srgbClr val="FFFFFF"/>
                        </a:solidFill>
                        <a:effectLst/>
                      </a:endParaRPr>
                    </a:p>
                  </a:txBody>
                  <a:tcPr marL="192074" marR="115244" marT="115244" marB="115244"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636B68">
                        <a:alpha val="69804"/>
                      </a:srgbClr>
                    </a:solidFill>
                  </a:tcPr>
                </a:tc>
                <a:tc>
                  <a:txBody>
                    <a:bodyPr/>
                    <a:lstStyle/>
                    <a:p>
                      <a:pPr>
                        <a:buNone/>
                      </a:pPr>
                      <a:r>
                        <a:rPr lang="en-US" sz="1400" kern="0">
                          <a:solidFill>
                            <a:schemeClr val="tx1">
                              <a:lumMod val="85000"/>
                              <a:lumOff val="15000"/>
                            </a:schemeClr>
                          </a:solidFill>
                          <a:effectLst/>
                          <a:latin typeface="Times New Roman" panose="02020603050405020304" pitchFamily="18" charset="0"/>
                          <a:ea typeface="Times New Roman" panose="02020603050405020304" pitchFamily="18" charset="0"/>
                        </a:rPr>
                        <a:t>Minimax game: G minimizes, D maximizes the objective</a:t>
                      </a:r>
                      <a:endParaRPr lang="en-US" sz="1400">
                        <a:solidFill>
                          <a:schemeClr val="tx1">
                            <a:lumMod val="85000"/>
                            <a:lumOff val="15000"/>
                          </a:schemeClr>
                        </a:solidFill>
                        <a:effectLst/>
                      </a:endParaRPr>
                    </a:p>
                  </a:txBody>
                  <a:tcPr marL="192074" marR="115244" marT="115244" marB="115244"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2488974903"/>
                  </a:ext>
                </a:extLst>
              </a:tr>
              <a:tr h="592045">
                <a:tc>
                  <a:txBody>
                    <a:bodyPr/>
                    <a:lstStyle/>
                    <a:p>
                      <a:pPr>
                        <a:buNone/>
                      </a:pPr>
                      <a:r>
                        <a:rPr lang="en-US" sz="1400" b="1" kern="0">
                          <a:solidFill>
                            <a:srgbClr val="FFFFFF"/>
                          </a:solidFill>
                          <a:effectLst/>
                          <a:latin typeface="Times New Roman"/>
                          <a:ea typeface="Times New Roman" panose="02020603050405020304" pitchFamily="18" charset="0"/>
                        </a:rPr>
                        <a:t>Final Outcome</a:t>
                      </a:r>
                      <a:endParaRPr lang="en-US" sz="1400" b="1">
                        <a:solidFill>
                          <a:srgbClr val="FFFFFF"/>
                        </a:solidFill>
                        <a:effectLst/>
                        <a:latin typeface="Times New Roman"/>
                      </a:endParaRPr>
                    </a:p>
                  </a:txBody>
                  <a:tcPr marL="192074" marR="115244" marT="115244" marB="115244"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noFill/>
                      <a:prstDash val="solid"/>
                    </a:lnB>
                    <a:solidFill>
                      <a:srgbClr val="636B68">
                        <a:alpha val="69804"/>
                      </a:srgbClr>
                    </a:solidFill>
                  </a:tcPr>
                </a:tc>
                <a:tc>
                  <a:txBody>
                    <a:bodyPr/>
                    <a:lstStyle/>
                    <a:p>
                      <a:pPr>
                        <a:buNone/>
                      </a:pPr>
                      <a:r>
                        <a:rPr lang="en-US" sz="1400" kern="0">
                          <a:solidFill>
                            <a:schemeClr val="tx1">
                              <a:lumMod val="85000"/>
                              <a:lumOff val="15000"/>
                            </a:schemeClr>
                          </a:solidFill>
                          <a:effectLst/>
                          <a:latin typeface="Times New Roman" panose="02020603050405020304" pitchFamily="18" charset="0"/>
                          <a:ea typeface="Times New Roman" panose="02020603050405020304" pitchFamily="18" charset="0"/>
                        </a:rPr>
                        <a:t>Generated data distribution ≈ real data distribution</a:t>
                      </a:r>
                      <a:endParaRPr lang="en-US" sz="1400">
                        <a:solidFill>
                          <a:schemeClr val="tx1">
                            <a:lumMod val="85000"/>
                            <a:lumOff val="15000"/>
                          </a:schemeClr>
                        </a:solidFill>
                        <a:effectLst/>
                      </a:endParaRPr>
                    </a:p>
                  </a:txBody>
                  <a:tcPr marL="192074" marR="115244" marT="115244" marB="115244" anchor="ctr">
                    <a:lnL w="38100" cap="flat" cmpd="sng" algn="ctr">
                      <a:solidFill>
                        <a:srgbClr val="FFFFFF"/>
                      </a:solidFill>
                      <a:prstDash val="solid"/>
                    </a:lnL>
                    <a:lnR w="12700" cmpd="sng">
                      <a:noFill/>
                      <a:prstDash val="solid"/>
                    </a:lnR>
                    <a:lnT w="38100" cap="flat" cmpd="sng" algn="ctr">
                      <a:solidFill>
                        <a:srgbClr val="FFFFFF"/>
                      </a:solidFill>
                      <a:prstDash val="solid"/>
                    </a:lnT>
                    <a:lnB w="12700" cmpd="sng">
                      <a:noFill/>
                      <a:prstDash val="solid"/>
                    </a:lnB>
                    <a:solidFill>
                      <a:srgbClr val="878E8B">
                        <a:alpha val="30196"/>
                      </a:srgbClr>
                    </a:solidFill>
                  </a:tcPr>
                </a:tc>
                <a:extLst>
                  <a:ext uri="{0D108BD9-81ED-4DB2-BD59-A6C34878D82A}">
                    <a16:rowId xmlns:a16="http://schemas.microsoft.com/office/drawing/2014/main" val="406281109"/>
                  </a:ext>
                </a:extLst>
              </a:tr>
            </a:tbl>
          </a:graphicData>
        </a:graphic>
      </p:graphicFrame>
    </p:spTree>
    <p:extLst>
      <p:ext uri="{BB962C8B-B14F-4D97-AF65-F5344CB8AC3E}">
        <p14:creationId xmlns:p14="http://schemas.microsoft.com/office/powerpoint/2010/main" val="344890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91022-CD79-F563-F404-CE36F86061DA}"/>
              </a:ext>
            </a:extLst>
          </p:cNvPr>
          <p:cNvSpPr>
            <a:spLocks noGrp="1"/>
          </p:cNvSpPr>
          <p:nvPr>
            <p:ph type="title"/>
          </p:nvPr>
        </p:nvSpPr>
        <p:spPr>
          <a:xfrm>
            <a:off x="815788" y="107390"/>
            <a:ext cx="10515600" cy="1325563"/>
          </a:xfrm>
        </p:spPr>
        <p:txBody>
          <a:bodyPr/>
          <a:lstStyle/>
          <a:p>
            <a:r>
              <a:rPr lang="en-US">
                <a:ea typeface="Calibri Light"/>
                <a:cs typeface="Calibri Light"/>
              </a:rPr>
              <a:t>GAN Architecture for Rare disease</a:t>
            </a:r>
            <a:endParaRPr lang="en-US"/>
          </a:p>
        </p:txBody>
      </p:sp>
      <p:pic>
        <p:nvPicPr>
          <p:cNvPr id="4" name="Content Placeholder 3" descr="A diagram of a brain process&#10;&#10;AI-generated content may be incorrect.">
            <a:extLst>
              <a:ext uri="{FF2B5EF4-FFF2-40B4-BE49-F238E27FC236}">
                <a16:creationId xmlns:a16="http://schemas.microsoft.com/office/drawing/2014/main" id="{34195D16-A71A-E9AE-3EB7-DD6B1BE9A7C0}"/>
              </a:ext>
            </a:extLst>
          </p:cNvPr>
          <p:cNvPicPr>
            <a:picLocks noGrp="1" noChangeAspect="1"/>
          </p:cNvPicPr>
          <p:nvPr>
            <p:ph idx="1"/>
          </p:nvPr>
        </p:nvPicPr>
        <p:blipFill>
          <a:blip r:embed="rId2"/>
          <a:stretch>
            <a:fillRect/>
          </a:stretch>
        </p:blipFill>
        <p:spPr>
          <a:xfrm>
            <a:off x="1137139" y="1295396"/>
            <a:ext cx="9911860" cy="5404287"/>
          </a:xfrm>
          <a:prstGeom prst="rect">
            <a:avLst/>
          </a:prstGeom>
        </p:spPr>
      </p:pic>
    </p:spTree>
    <p:extLst>
      <p:ext uri="{BB962C8B-B14F-4D97-AF65-F5344CB8AC3E}">
        <p14:creationId xmlns:p14="http://schemas.microsoft.com/office/powerpoint/2010/main" val="1233001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243840"/>
            <a:ext cx="10972800" cy="75590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267">
                <a:solidFill>
                  <a:srgbClr val="1A1A1A"/>
                </a:solidFill>
                <a:latin typeface="Calibri" pitchFamily="34" charset="0"/>
                <a:ea typeface="Calibri" pitchFamily="34" charset="-122"/>
                <a:cs typeface="Calibri" pitchFamily="34" charset="-120"/>
              </a:rPr>
              <a:t>The Generator</a:t>
            </a:r>
            <a:endParaRPr lang="en-US" sz="4267"/>
          </a:p>
        </p:txBody>
      </p:sp>
      <p:sp>
        <p:nvSpPr>
          <p:cNvPr id="3" name="Text 1"/>
          <p:cNvSpPr/>
          <p:nvPr/>
        </p:nvSpPr>
        <p:spPr>
          <a:xfrm>
            <a:off x="609600" y="1219200"/>
            <a:ext cx="5608320" cy="5120640"/>
          </a:xfrm>
          <a:prstGeom prst="rect">
            <a:avLst/>
          </a:prstGeom>
          <a:noFill/>
          <a:ln/>
        </p:spPr>
        <p:txBody>
          <a:bodyPr wrap="square" lIns="91440" tIns="45720" rIns="91440" bIns="4572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spcAft>
                <a:spcPts val="667"/>
              </a:spcAft>
              <a:buSzPct val="100000"/>
              <a:buChar char="•"/>
            </a:pPr>
            <a:r>
              <a:rPr lang="en-US" sz="2133">
                <a:solidFill>
                  <a:srgbClr val="1A1A1A"/>
                </a:solidFill>
                <a:latin typeface="Calibri" pitchFamily="34" charset="0"/>
                <a:ea typeface="Calibri" pitchFamily="34" charset="-122"/>
                <a:cs typeface="Calibri" pitchFamily="34" charset="-120"/>
              </a:rPr>
              <a:t>Goal: find parameters θ so that generated samples are indistinguishable from real data</a:t>
            </a:r>
            <a:endParaRPr lang="en-US" sz="2133">
              <a:ea typeface="Calibri" panose="020F0502020204030204"/>
              <a:cs typeface="Calibri" panose="020F0502020204030204"/>
            </a:endParaRPr>
          </a:p>
          <a:p>
            <a:pPr marL="456565" indent="-456565">
              <a:spcAft>
                <a:spcPts val="667"/>
              </a:spcAft>
              <a:buSzPct val="100000"/>
              <a:buChar char="•"/>
            </a:pPr>
            <a:r>
              <a:rPr lang="en-US" sz="2133">
                <a:solidFill>
                  <a:srgbClr val="1A1A1A"/>
                </a:solidFill>
                <a:latin typeface="Calibri" pitchFamily="34" charset="0"/>
                <a:ea typeface="Calibri" pitchFamily="34" charset="-122"/>
                <a:cs typeface="Calibri" pitchFamily="34" charset="-120"/>
              </a:rPr>
              <a:t>A new sample x* is generated in two steps:</a:t>
            </a:r>
            <a:endParaRPr lang="en-US" sz="2133">
              <a:ea typeface="Calibri" panose="020F0502020204030204"/>
              <a:cs typeface="Calibri" panose="020F0502020204030204"/>
            </a:endParaRPr>
          </a:p>
          <a:p>
            <a:pPr marL="913765" lvl="1" indent="-456565">
              <a:spcAft>
                <a:spcPts val="267"/>
              </a:spcAft>
              <a:buSzPct val="100000"/>
              <a:buChar char="•"/>
            </a:pPr>
            <a:r>
              <a:rPr lang="en-US" sz="1733">
                <a:solidFill>
                  <a:srgbClr val="1A1A1A"/>
                </a:solidFill>
                <a:latin typeface="Calibri" pitchFamily="34" charset="0"/>
                <a:ea typeface="Calibri" pitchFamily="34" charset="-122"/>
                <a:cs typeface="Calibri" pitchFamily="34" charset="-120"/>
              </a:rPr>
              <a:t>Sample a latent noise vector z from a simple base distribution</a:t>
            </a:r>
            <a:endParaRPr lang="en-US" sz="2133">
              <a:ea typeface="Calibri" panose="020F0502020204030204"/>
              <a:cs typeface="Calibri" panose="020F0502020204030204"/>
            </a:endParaRPr>
          </a:p>
          <a:p>
            <a:pPr marL="913765" lvl="1" indent="-456565">
              <a:spcAft>
                <a:spcPts val="267"/>
              </a:spcAft>
              <a:buSzPct val="100000"/>
              <a:buChar char="•"/>
            </a:pPr>
            <a:r>
              <a:rPr lang="en-US" sz="1733">
                <a:solidFill>
                  <a:srgbClr val="CC0000"/>
                </a:solidFill>
                <a:latin typeface="Calibri" pitchFamily="34" charset="0"/>
                <a:ea typeface="Calibri" pitchFamily="34" charset="-122"/>
                <a:cs typeface="Calibri" pitchFamily="34" charset="-120"/>
              </a:rPr>
              <a:t>z ~ N(0, I)   — standard normal, easy to sample from</a:t>
            </a:r>
            <a:endParaRPr lang="en-US" sz="2133">
              <a:ea typeface="Calibri" panose="020F0502020204030204"/>
              <a:cs typeface="Calibri" panose="020F0502020204030204"/>
            </a:endParaRPr>
          </a:p>
          <a:p>
            <a:pPr marL="913765" lvl="1" indent="-456565">
              <a:spcAft>
                <a:spcPts val="267"/>
              </a:spcAft>
              <a:buSzPct val="100000"/>
              <a:buChar char="•"/>
            </a:pPr>
            <a:r>
              <a:rPr lang="en-US" sz="1733">
                <a:solidFill>
                  <a:srgbClr val="1A1A1A"/>
                </a:solidFill>
                <a:latin typeface="Calibri" pitchFamily="34" charset="0"/>
                <a:ea typeface="Calibri" pitchFamily="34" charset="-122"/>
                <a:cs typeface="Calibri" pitchFamily="34" charset="-120"/>
              </a:rPr>
              <a:t>Pass z through the generator network to get a fake sample:</a:t>
            </a:r>
            <a:endParaRPr lang="en-US" sz="2133">
              <a:ea typeface="Calibri" panose="020F0502020204030204"/>
              <a:cs typeface="Calibri" panose="020F0502020204030204"/>
            </a:endParaRPr>
          </a:p>
          <a:p>
            <a:pPr marL="913765" lvl="1" indent="-456565">
              <a:spcAft>
                <a:spcPts val="267"/>
              </a:spcAft>
              <a:buSzPct val="100000"/>
              <a:buChar char="•"/>
            </a:pPr>
            <a:r>
              <a:rPr lang="en-US" sz="1733">
                <a:solidFill>
                  <a:srgbClr val="CC0000"/>
                </a:solidFill>
                <a:latin typeface="Calibri" pitchFamily="34" charset="0"/>
                <a:ea typeface="Calibri" pitchFamily="34" charset="-122"/>
                <a:cs typeface="Calibri" pitchFamily="34" charset="-120"/>
              </a:rPr>
              <a:t>x*  =  g[z, θ]</a:t>
            </a:r>
            <a:endParaRPr lang="en-US" sz="2133">
              <a:ea typeface="Calibri" panose="020F0502020204030204"/>
              <a:cs typeface="Calibri" panose="020F0502020204030204"/>
            </a:endParaRPr>
          </a:p>
          <a:p>
            <a:pPr marL="456565" indent="-456565">
              <a:spcAft>
                <a:spcPts val="667"/>
              </a:spcAft>
              <a:buSzPct val="100000"/>
              <a:buChar char="•"/>
            </a:pPr>
            <a:r>
              <a:rPr lang="en-US" sz="2133">
                <a:solidFill>
                  <a:srgbClr val="1A1A1A"/>
                </a:solidFill>
                <a:latin typeface="Calibri" pitchFamily="34" charset="0"/>
                <a:ea typeface="Calibri" pitchFamily="34" charset="-122"/>
                <a:cs typeface="Calibri" pitchFamily="34" charset="-120"/>
              </a:rPr>
              <a:t>The generator never sees real images directly — it only learns from the gradient signal fed back by the discriminator</a:t>
            </a:r>
            <a:endParaRPr lang="en-US" sz="2133">
              <a:ea typeface="Calibri" panose="020F0502020204030204"/>
              <a:cs typeface="Calibri" panose="020F0502020204030204"/>
            </a:endParaRPr>
          </a:p>
          <a:p>
            <a:pPr marL="456565" indent="-456565">
              <a:spcAft>
                <a:spcPts val="667"/>
              </a:spcAft>
              <a:buSzPct val="100000"/>
              <a:buChar char="•"/>
            </a:pPr>
            <a:r>
              <a:rPr lang="en-US" sz="2133">
                <a:solidFill>
                  <a:srgbClr val="CC0000"/>
                </a:solidFill>
                <a:latin typeface="Calibri" pitchFamily="34" charset="0"/>
                <a:ea typeface="Calibri" pitchFamily="34" charset="-122"/>
                <a:cs typeface="Calibri" pitchFamily="34" charset="-120"/>
              </a:rPr>
              <a:t>After training: discriminator is discarded; only g[z, θ] is kept for generating new samples</a:t>
            </a:r>
            <a:endParaRPr lang="en-US" sz="2133">
              <a:ea typeface="Calibri" panose="020F0502020204030204"/>
              <a:cs typeface="Calibri" panose="020F0502020204030204"/>
            </a:endParaRPr>
          </a:p>
        </p:txBody>
      </p:sp>
      <p:sp>
        <p:nvSpPr>
          <p:cNvPr id="5" name="Text 2"/>
          <p:cNvSpPr/>
          <p:nvPr/>
        </p:nvSpPr>
        <p:spPr>
          <a:xfrm>
            <a:off x="6522720" y="3474720"/>
            <a:ext cx="536448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a:solidFill>
                  <a:srgbClr val="666666"/>
                </a:solidFill>
                <a:latin typeface="Calibri" pitchFamily="34" charset="0"/>
                <a:ea typeface="Calibri" pitchFamily="34" charset="-122"/>
                <a:cs typeface="Calibri" pitchFamily="34" charset="-120"/>
              </a:rPr>
              <a:t>Why z ~ N(0, I)?</a:t>
            </a:r>
            <a:endParaRPr lang="en-US" sz="1867"/>
          </a:p>
        </p:txBody>
      </p:sp>
      <p:sp>
        <p:nvSpPr>
          <p:cNvPr id="6" name="Text 3"/>
          <p:cNvSpPr/>
          <p:nvPr/>
        </p:nvSpPr>
        <p:spPr>
          <a:xfrm>
            <a:off x="6522720" y="3840480"/>
            <a:ext cx="5364480" cy="2316480"/>
          </a:xfrm>
          <a:prstGeom prst="rect">
            <a:avLst/>
          </a:prstGeom>
          <a:noFill/>
          <a:ln/>
        </p:spPr>
        <p:txBody>
          <a:bodyPr wrap="square" lIns="91440" tIns="45720" rIns="91440" bIns="4572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00">
                <a:solidFill>
                  <a:srgbClr val="1A1A1A"/>
                </a:solidFill>
                <a:latin typeface="Calibri"/>
                <a:ea typeface="Calibri"/>
                <a:cs typeface="Calibri"/>
              </a:rPr>
              <a:t>• Simple to sample from — any random number generator
• Low-dimensional (e.g., 100D) — the generator learns to
  warp this into the high-dimensional image space
• Continuous and smooth — nearby z values produce</a:t>
            </a:r>
            <a:endParaRPr lang="en-US" sz="1700">
              <a:latin typeface="Calibri"/>
              <a:ea typeface="Calibri"/>
              <a:cs typeface="Calibri"/>
            </a:endParaRPr>
          </a:p>
          <a:p>
            <a:pPr marL="0" indent="0">
              <a:buNone/>
            </a:pPr>
            <a:r>
              <a:rPr lang="en-US" sz="1733">
                <a:solidFill>
                  <a:srgbClr val="1A1A1A"/>
                </a:solidFill>
                <a:latin typeface="Calibri" pitchFamily="34" charset="0"/>
                <a:ea typeface="Calibri" pitchFamily="34" charset="-122"/>
                <a:cs typeface="Calibri" pitchFamily="34" charset="-120"/>
              </a:rPr>
              <a:t>  similar images (latent space interpolation)</a:t>
            </a:r>
            <a:endParaRPr lang="en-US" sz="1733"/>
          </a:p>
        </p:txBody>
      </p:sp>
      <p:pic>
        <p:nvPicPr>
          <p:cNvPr id="7" name="Picture 6" descr="A diagram of a sample&#10;&#10;AI-generated content may be incorrect.">
            <a:extLst>
              <a:ext uri="{FF2B5EF4-FFF2-40B4-BE49-F238E27FC236}">
                <a16:creationId xmlns:a16="http://schemas.microsoft.com/office/drawing/2014/main" id="{D3D8313A-62B0-D85B-3762-F6BE00806974}"/>
              </a:ext>
            </a:extLst>
          </p:cNvPr>
          <p:cNvPicPr>
            <a:picLocks noChangeAspect="1"/>
          </p:cNvPicPr>
          <p:nvPr/>
        </p:nvPicPr>
        <p:blipFill>
          <a:blip r:embed="rId3"/>
          <a:stretch>
            <a:fillRect/>
          </a:stretch>
        </p:blipFill>
        <p:spPr>
          <a:xfrm>
            <a:off x="6220176" y="619318"/>
            <a:ext cx="5892802" cy="2746346"/>
          </a:xfrm>
          <a:prstGeom prst="rect">
            <a:avLst/>
          </a:prstGeom>
        </p:spPr>
      </p:pic>
    </p:spTree>
    <p:extLst>
      <p:ext uri="{BB962C8B-B14F-4D97-AF65-F5344CB8AC3E}">
        <p14:creationId xmlns:p14="http://schemas.microsoft.com/office/powerpoint/2010/main" val="3138662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243840"/>
            <a:ext cx="10972800" cy="75590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267">
                <a:solidFill>
                  <a:srgbClr val="1A1A1A"/>
                </a:solidFill>
                <a:latin typeface="Calibri" pitchFamily="34" charset="0"/>
                <a:ea typeface="Calibri" pitchFamily="34" charset="-122"/>
                <a:cs typeface="Calibri" pitchFamily="34" charset="-120"/>
              </a:rPr>
              <a:t>The Discriminator</a:t>
            </a:r>
            <a:endParaRPr lang="en-US" sz="4267"/>
          </a:p>
        </p:txBody>
      </p:sp>
      <p:sp>
        <p:nvSpPr>
          <p:cNvPr id="3" name="Text 1"/>
          <p:cNvSpPr/>
          <p:nvPr/>
        </p:nvSpPr>
        <p:spPr>
          <a:xfrm>
            <a:off x="609600" y="1219200"/>
            <a:ext cx="5608320" cy="524256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667"/>
              </a:spcAft>
              <a:buSzPct val="100000"/>
              <a:buChar char="•"/>
            </a:pPr>
            <a:r>
              <a:rPr lang="en-US" sz="2067">
                <a:solidFill>
                  <a:srgbClr val="1A1A1A"/>
                </a:solidFill>
                <a:latin typeface="Calibri" pitchFamily="34" charset="0"/>
                <a:ea typeface="Calibri" pitchFamily="34" charset="-122"/>
                <a:cs typeface="Calibri" pitchFamily="34" charset="-120"/>
              </a:rPr>
              <a:t>The discriminator f[x, ϕ] takes any image x (real or fake) and outputs a single scalar</a:t>
            </a:r>
            <a:endParaRPr lang="en-US" sz="2067"/>
          </a:p>
          <a:p>
            <a:pPr marL="457189" indent="-457189">
              <a:spcAft>
                <a:spcPts val="667"/>
              </a:spcAft>
              <a:buSzPct val="100000"/>
              <a:buChar char="•"/>
            </a:pPr>
            <a:r>
              <a:rPr lang="en-US" sz="2067">
                <a:solidFill>
                  <a:srgbClr val="1A1A1A"/>
                </a:solidFill>
                <a:latin typeface="Calibri" pitchFamily="34" charset="0"/>
                <a:ea typeface="Calibri" pitchFamily="34" charset="-122"/>
                <a:cs typeface="Calibri" pitchFamily="34" charset="-120"/>
              </a:rPr>
              <a:t>Output passed through sigmoid to get a probability:</a:t>
            </a:r>
            <a:endParaRPr lang="en-US" sz="2067"/>
          </a:p>
          <a:p>
            <a:pPr marL="914377" lvl="1" indent="-457189">
              <a:spcAft>
                <a:spcPts val="267"/>
              </a:spcAft>
              <a:buSzPct val="100000"/>
              <a:buChar char="•"/>
            </a:pPr>
            <a:r>
              <a:rPr lang="en-US" sz="1733">
                <a:solidFill>
                  <a:srgbClr val="CC0000"/>
                </a:solidFill>
                <a:latin typeface="Calibri" pitchFamily="34" charset="0"/>
                <a:ea typeface="Calibri" pitchFamily="34" charset="-122"/>
                <a:cs typeface="Calibri" pitchFamily="34" charset="-120"/>
              </a:rPr>
              <a:t>sig[f[x, ϕ]]  ∈  [0, 1]</a:t>
            </a:r>
            <a:endParaRPr lang="en-US" sz="2067"/>
          </a:p>
          <a:p>
            <a:pPr marL="914377" lvl="1" indent="-457189">
              <a:spcAft>
                <a:spcPts val="267"/>
              </a:spcAft>
              <a:buSzPct val="100000"/>
              <a:buChar char="•"/>
            </a:pPr>
            <a:r>
              <a:rPr lang="en-US" sz="1733">
                <a:solidFill>
                  <a:srgbClr val="1A1A1A"/>
                </a:solidFill>
                <a:latin typeface="Calibri" pitchFamily="34" charset="0"/>
                <a:ea typeface="Calibri" pitchFamily="34" charset="-122"/>
                <a:cs typeface="Calibri" pitchFamily="34" charset="-120"/>
              </a:rPr>
              <a:t>High output (≈ 1) → D believes the input is real</a:t>
            </a:r>
            <a:endParaRPr lang="en-US" sz="2067"/>
          </a:p>
          <a:p>
            <a:pPr marL="914377" lvl="1" indent="-457189">
              <a:spcAft>
                <a:spcPts val="267"/>
              </a:spcAft>
              <a:buSzPct val="100000"/>
              <a:buChar char="•"/>
            </a:pPr>
            <a:r>
              <a:rPr lang="en-US" sz="1733">
                <a:solidFill>
                  <a:srgbClr val="1A1A1A"/>
                </a:solidFill>
                <a:latin typeface="Calibri" pitchFamily="34" charset="0"/>
                <a:ea typeface="Calibri" pitchFamily="34" charset="-122"/>
                <a:cs typeface="Calibri" pitchFamily="34" charset="-120"/>
              </a:rPr>
              <a:t>Low output (≈ 0) → D believes the input is fake</a:t>
            </a:r>
            <a:endParaRPr lang="en-US" sz="2067"/>
          </a:p>
          <a:p>
            <a:pPr marL="457189" indent="-457189">
              <a:spcAft>
                <a:spcPts val="667"/>
              </a:spcAft>
              <a:buSzPct val="100000"/>
              <a:buChar char="•"/>
            </a:pPr>
            <a:r>
              <a:rPr lang="en-US" sz="2067">
                <a:solidFill>
                  <a:srgbClr val="1A1A1A"/>
                </a:solidFill>
                <a:latin typeface="Calibri" pitchFamily="34" charset="0"/>
                <a:ea typeface="Calibri" pitchFamily="34" charset="-122"/>
                <a:cs typeface="Calibri" pitchFamily="34" charset="-120"/>
              </a:rPr>
              <a:t>Why sigmoid? It maps any real number to a probability — essential for binary classification</a:t>
            </a:r>
            <a:endParaRPr lang="en-US" sz="2067"/>
          </a:p>
          <a:p>
            <a:pPr marL="457189" indent="-457189">
              <a:spcAft>
                <a:spcPts val="667"/>
              </a:spcAft>
              <a:buSzPct val="100000"/>
              <a:buChar char="•"/>
            </a:pPr>
            <a:r>
              <a:rPr lang="en-US" sz="2067">
                <a:solidFill>
                  <a:srgbClr val="1A1A1A"/>
                </a:solidFill>
                <a:latin typeface="Calibri" pitchFamily="34" charset="0"/>
                <a:ea typeface="Calibri" pitchFamily="34" charset="-122"/>
                <a:cs typeface="Calibri" pitchFamily="34" charset="-120"/>
              </a:rPr>
              <a:t>GAN labeling convention:</a:t>
            </a:r>
            <a:endParaRPr lang="en-US" sz="2067"/>
          </a:p>
          <a:p>
            <a:pPr marL="914377" lvl="1" indent="-457189">
              <a:spcAft>
                <a:spcPts val="267"/>
              </a:spcAft>
              <a:buSzPct val="100000"/>
              <a:buChar char="•"/>
            </a:pPr>
            <a:r>
              <a:rPr lang="en-US" sz="1733">
                <a:solidFill>
                  <a:srgbClr val="1A1A1A"/>
                </a:solidFill>
                <a:latin typeface="Calibri" pitchFamily="34" charset="0"/>
                <a:ea typeface="Calibri" pitchFamily="34" charset="-122"/>
                <a:cs typeface="Calibri" pitchFamily="34" charset="-120"/>
              </a:rPr>
              <a:t>Real images: label y = 1   →   D should output ≈ 1</a:t>
            </a:r>
            <a:endParaRPr lang="en-US" sz="2067"/>
          </a:p>
          <a:p>
            <a:pPr marL="914377" lvl="1" indent="-457189">
              <a:spcAft>
                <a:spcPts val="267"/>
              </a:spcAft>
              <a:buSzPct val="100000"/>
              <a:buChar char="•"/>
            </a:pPr>
            <a:r>
              <a:rPr lang="en-US" sz="1733">
                <a:solidFill>
                  <a:srgbClr val="1A1A1A"/>
                </a:solidFill>
                <a:latin typeface="Calibri" pitchFamily="34" charset="0"/>
                <a:ea typeface="Calibri" pitchFamily="34" charset="-122"/>
                <a:cs typeface="Calibri" pitchFamily="34" charset="-120"/>
              </a:rPr>
              <a:t>Generated samples: label y = 0   →   D should output ≈ 0</a:t>
            </a:r>
            <a:endParaRPr lang="en-US" sz="2067"/>
          </a:p>
          <a:p>
            <a:pPr marL="457189" indent="-457189">
              <a:spcAft>
                <a:spcPts val="667"/>
              </a:spcAft>
              <a:buSzPct val="100000"/>
              <a:buChar char="•"/>
            </a:pPr>
            <a:r>
              <a:rPr lang="en-US" sz="2067">
                <a:solidFill>
                  <a:srgbClr val="CC0000"/>
                </a:solidFill>
                <a:latin typeface="Calibri" pitchFamily="34" charset="0"/>
                <a:ea typeface="Calibri" pitchFamily="34" charset="-122"/>
                <a:cs typeface="Calibri" pitchFamily="34" charset="-120"/>
              </a:rPr>
              <a:t>At convergence: sig[f[x, ϕ]] = 0.5 for all x — D is at chance (perfect uncertainty)</a:t>
            </a:r>
            <a:endParaRPr lang="en-US" sz="2067"/>
          </a:p>
        </p:txBody>
      </p:sp>
      <p:sp>
        <p:nvSpPr>
          <p:cNvPr id="5" name="Text 2"/>
          <p:cNvSpPr/>
          <p:nvPr/>
        </p:nvSpPr>
        <p:spPr>
          <a:xfrm>
            <a:off x="6522720" y="3901440"/>
            <a:ext cx="536448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a:solidFill>
                  <a:srgbClr val="666666"/>
                </a:solidFill>
                <a:latin typeface="Calibri" pitchFamily="34" charset="0"/>
                <a:ea typeface="Calibri" pitchFamily="34" charset="-122"/>
                <a:cs typeface="Calibri" pitchFamily="34" charset="-120"/>
              </a:rPr>
              <a:t>Why discard the discriminator after training?</a:t>
            </a:r>
            <a:endParaRPr lang="en-US" sz="1867"/>
          </a:p>
        </p:txBody>
      </p:sp>
      <p:sp>
        <p:nvSpPr>
          <p:cNvPr id="6" name="Text 3"/>
          <p:cNvSpPr/>
          <p:nvPr/>
        </p:nvSpPr>
        <p:spPr>
          <a:xfrm>
            <a:off x="6522720" y="4267200"/>
            <a:ext cx="5364480" cy="195072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33">
                <a:solidFill>
                  <a:srgbClr val="1A1A1A"/>
                </a:solidFill>
                <a:latin typeface="Calibri" pitchFamily="34" charset="0"/>
                <a:ea typeface="Calibri" pitchFamily="34" charset="-122"/>
                <a:cs typeface="Calibri" pitchFamily="34" charset="-120"/>
              </a:rPr>
              <a:t>• It is only a training signal — not the end product
• At convergence it outputs 0.5 everywhere,
  so it carries no useful information
• We only ever needed it to teach the generator</a:t>
            </a:r>
            <a:endParaRPr lang="en-US" sz="1733"/>
          </a:p>
        </p:txBody>
      </p:sp>
      <p:pic>
        <p:nvPicPr>
          <p:cNvPr id="7" name="Picture 6" descr="A diagram of a sample&#10;&#10;AI-generated content may be incorrect.">
            <a:extLst>
              <a:ext uri="{FF2B5EF4-FFF2-40B4-BE49-F238E27FC236}">
                <a16:creationId xmlns:a16="http://schemas.microsoft.com/office/drawing/2014/main" id="{781BBCC7-A12F-F5C7-CEA8-3DE03D31686B}"/>
              </a:ext>
            </a:extLst>
          </p:cNvPr>
          <p:cNvPicPr>
            <a:picLocks noChangeAspect="1"/>
          </p:cNvPicPr>
          <p:nvPr/>
        </p:nvPicPr>
        <p:blipFill>
          <a:blip r:embed="rId3"/>
          <a:stretch>
            <a:fillRect/>
          </a:stretch>
        </p:blipFill>
        <p:spPr>
          <a:xfrm>
            <a:off x="5892799" y="773233"/>
            <a:ext cx="5994401" cy="2799755"/>
          </a:xfrm>
          <a:prstGeom prst="rect">
            <a:avLst/>
          </a:prstGeom>
        </p:spPr>
      </p:pic>
    </p:spTree>
    <p:extLst>
      <p:ext uri="{BB962C8B-B14F-4D97-AF65-F5344CB8AC3E}">
        <p14:creationId xmlns:p14="http://schemas.microsoft.com/office/powerpoint/2010/main" val="3086166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304800"/>
            <a:ext cx="1097280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267">
                <a:solidFill>
                  <a:srgbClr val="2E2E2E"/>
                </a:solidFill>
                <a:latin typeface="Calibri" pitchFamily="34" charset="0"/>
                <a:ea typeface="Calibri" pitchFamily="34" charset="-122"/>
                <a:cs typeface="Calibri" pitchFamily="34" charset="-120"/>
              </a:rPr>
              <a:t>Notation</a:t>
            </a:r>
            <a:endParaRPr lang="en-US" sz="4267"/>
          </a:p>
        </p:txBody>
      </p:sp>
      <p:sp>
        <p:nvSpPr>
          <p:cNvPr id="3" name="Shape 1"/>
          <p:cNvSpPr/>
          <p:nvPr/>
        </p:nvSpPr>
        <p:spPr>
          <a:xfrm>
            <a:off x="609600" y="1121664"/>
            <a:ext cx="10972800" cy="0"/>
          </a:xfrm>
          <a:prstGeom prst="line">
            <a:avLst/>
          </a:prstGeom>
          <a:noFill/>
          <a:ln w="9525">
            <a:solidFill>
              <a:srgbClr val="CCCCCC"/>
            </a:solidFill>
            <a:prstDash val="solid"/>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98515888"/>
              </p:ext>
            </p:extLst>
          </p:nvPr>
        </p:nvGraphicFramePr>
        <p:xfrm>
          <a:off x="609600" y="1219200"/>
          <a:ext cx="10972800" cy="4974336"/>
        </p:xfrm>
        <a:graphic>
          <a:graphicData uri="http://schemas.openxmlformats.org/drawingml/2006/table">
            <a:tbl>
              <a:tblPr/>
              <a:tblGrid>
                <a:gridCol w="2682240">
                  <a:extLst>
                    <a:ext uri="{9D8B030D-6E8A-4147-A177-3AD203B41FA5}">
                      <a16:colId xmlns:a16="http://schemas.microsoft.com/office/drawing/2014/main" val="20000"/>
                    </a:ext>
                  </a:extLst>
                </a:gridCol>
                <a:gridCol w="8290560">
                  <a:extLst>
                    <a:ext uri="{9D8B030D-6E8A-4147-A177-3AD203B41FA5}">
                      <a16:colId xmlns:a16="http://schemas.microsoft.com/office/drawing/2014/main" val="20001"/>
                    </a:ext>
                  </a:extLst>
                </a:gridCol>
              </a:tblGrid>
              <a:tr h="414528">
                <a:tc>
                  <a:txBody>
                    <a:bodyPr/>
                    <a:lstStyle/>
                    <a:p>
                      <a:pPr marL="0" indent="0" algn="ctr">
                        <a:buNone/>
                      </a:pPr>
                      <a:r>
                        <a:rPr lang="en-US" sz="1700" b="1">
                          <a:solidFill>
                            <a:srgbClr val="FFFFFF"/>
                          </a:solidFill>
                          <a:latin typeface="Calibri" pitchFamily="34" charset="0"/>
                          <a:ea typeface="Calibri" pitchFamily="34" charset="-122"/>
                          <a:cs typeface="Calibri" pitchFamily="34" charset="-120"/>
                        </a:rPr>
                        <a:t>Symbol</a:t>
                      </a:r>
                      <a:endParaRPr lang="en-US" sz="170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5F8A"/>
                    </a:solidFill>
                  </a:tcPr>
                </a:tc>
                <a:tc>
                  <a:txBody>
                    <a:bodyPr/>
                    <a:lstStyle/>
                    <a:p>
                      <a:pPr marL="0" indent="0" algn="ctr">
                        <a:buNone/>
                      </a:pPr>
                      <a:r>
                        <a:rPr lang="en-US" sz="1700" b="1">
                          <a:solidFill>
                            <a:srgbClr val="FFFFFF"/>
                          </a:solidFill>
                          <a:latin typeface="Calibri" pitchFamily="34" charset="0"/>
                          <a:ea typeface="Calibri" pitchFamily="34" charset="-122"/>
                          <a:cs typeface="Calibri" pitchFamily="34" charset="-120"/>
                        </a:rPr>
                        <a:t>Meaning</a:t>
                      </a:r>
                      <a:endParaRPr lang="en-US" sz="170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5F8A"/>
                    </a:solidFill>
                  </a:tcPr>
                </a:tc>
                <a:extLst>
                  <a:ext uri="{0D108BD9-81ED-4DB2-BD59-A6C34878D82A}">
                    <a16:rowId xmlns:a16="http://schemas.microsoft.com/office/drawing/2014/main" val="10000"/>
                  </a:ext>
                </a:extLst>
              </a:tr>
              <a:tr h="414528">
                <a:tc>
                  <a:txBody>
                    <a:bodyPr/>
                    <a:lstStyle/>
                    <a:p>
                      <a:pPr marL="0" indent="0">
                        <a:buNone/>
                      </a:pPr>
                      <a:r>
                        <a:rPr lang="en-US" sz="1700" b="1">
                          <a:solidFill>
                            <a:srgbClr val="1A6FA3"/>
                          </a:solidFill>
                          <a:latin typeface="Calibri" pitchFamily="34" charset="0"/>
                          <a:ea typeface="Calibri" pitchFamily="34" charset="-122"/>
                          <a:cs typeface="Calibri" pitchFamily="34" charset="-120"/>
                        </a:rPr>
                        <a:t>x</a:t>
                      </a:r>
                      <a:endParaRPr lang="en-US" sz="170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700">
                          <a:solidFill>
                            <a:srgbClr val="333333"/>
                          </a:solidFill>
                          <a:latin typeface="Calibri"/>
                          <a:ea typeface="Calibri"/>
                          <a:cs typeface="Calibri"/>
                        </a:rPr>
                        <a:t>A real data sample (e.g., an image)</a:t>
                      </a:r>
                      <a:endParaRPr lang="en-US" sz="1700">
                        <a:latin typeface="Calibri"/>
                        <a:ea typeface="Calibri"/>
                        <a:cs typeface="Calibri"/>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4528">
                <a:tc>
                  <a:txBody>
                    <a:bodyPr/>
                    <a:lstStyle/>
                    <a:p>
                      <a:pPr marL="0" indent="0">
                        <a:buNone/>
                      </a:pPr>
                      <a:r>
                        <a:rPr lang="en-US" sz="1700" b="1">
                          <a:solidFill>
                            <a:srgbClr val="1A6FA3"/>
                          </a:solidFill>
                          <a:latin typeface="Calibri"/>
                          <a:ea typeface="Calibri"/>
                          <a:cs typeface="Calibri"/>
                        </a:rPr>
                        <a:t>x*</a:t>
                      </a:r>
                      <a:endParaRPr lang="en-US" sz="1700">
                        <a:latin typeface="Calibri"/>
                        <a:ea typeface="Calibri"/>
                        <a:cs typeface="Calibri"/>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7FF"/>
                    </a:solidFill>
                  </a:tcPr>
                </a:tc>
                <a:tc>
                  <a:txBody>
                    <a:bodyPr/>
                    <a:lstStyle/>
                    <a:p>
                      <a:pPr marL="0" indent="0">
                        <a:buNone/>
                      </a:pPr>
                      <a:r>
                        <a:rPr lang="en-US" sz="1700">
                          <a:solidFill>
                            <a:srgbClr val="333333"/>
                          </a:solidFill>
                          <a:latin typeface="Calibri"/>
                          <a:ea typeface="Calibri"/>
                          <a:cs typeface="Calibri"/>
                        </a:rPr>
                        <a:t>Generated (fake) sample</a:t>
                      </a: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7FF"/>
                    </a:solidFill>
                  </a:tcPr>
                </a:tc>
                <a:extLst>
                  <a:ext uri="{0D108BD9-81ED-4DB2-BD59-A6C34878D82A}">
                    <a16:rowId xmlns:a16="http://schemas.microsoft.com/office/drawing/2014/main" val="10002"/>
                  </a:ext>
                </a:extLst>
              </a:tr>
              <a:tr h="414528">
                <a:tc>
                  <a:txBody>
                    <a:bodyPr/>
                    <a:lstStyle/>
                    <a:p>
                      <a:pPr marL="0" indent="0">
                        <a:buNone/>
                      </a:pPr>
                      <a:r>
                        <a:rPr lang="en-US" sz="1700" b="1">
                          <a:solidFill>
                            <a:srgbClr val="1A6FA3"/>
                          </a:solidFill>
                          <a:latin typeface="Calibri" pitchFamily="34" charset="0"/>
                          <a:ea typeface="Calibri" pitchFamily="34" charset="-122"/>
                          <a:cs typeface="Calibri" pitchFamily="34" charset="-120"/>
                        </a:rPr>
                        <a:t>z</a:t>
                      </a:r>
                      <a:endParaRPr lang="en-US" sz="170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700">
                          <a:solidFill>
                            <a:srgbClr val="333333"/>
                          </a:solidFill>
                          <a:latin typeface="Calibri" pitchFamily="34" charset="0"/>
                          <a:ea typeface="Calibri" pitchFamily="34" charset="-122"/>
                          <a:cs typeface="Calibri" pitchFamily="34" charset="-120"/>
                        </a:rPr>
                        <a:t>Latent noise vector (input to generator)</a:t>
                      </a:r>
                      <a:endParaRPr lang="en-US" sz="170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4528">
                <a:tc>
                  <a:txBody>
                    <a:bodyPr/>
                    <a:lstStyle/>
                    <a:p>
                      <a:pPr marL="0" indent="0">
                        <a:buNone/>
                      </a:pPr>
                      <a:r>
                        <a:rPr lang="en-US" sz="1700" b="1" err="1">
                          <a:solidFill>
                            <a:srgbClr val="1A6FA3"/>
                          </a:solidFill>
                          <a:latin typeface="Calibri"/>
                          <a:ea typeface="Calibri"/>
                          <a:cs typeface="Calibri"/>
                        </a:rPr>
                        <a:t>Pr</a:t>
                      </a:r>
                      <a:r>
                        <a:rPr lang="en-US" sz="1700" b="1">
                          <a:solidFill>
                            <a:srgbClr val="1A6FA3"/>
                          </a:solidFill>
                          <a:latin typeface="Calibri"/>
                          <a:ea typeface="Calibri"/>
                          <a:cs typeface="Calibri"/>
                        </a:rPr>
                        <a:t>(x)</a:t>
                      </a: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7FF"/>
                    </a:solidFill>
                  </a:tcPr>
                </a:tc>
                <a:tc>
                  <a:txBody>
                    <a:bodyPr/>
                    <a:lstStyle/>
                    <a:p>
                      <a:pPr marL="0" indent="0">
                        <a:buNone/>
                      </a:pPr>
                      <a:r>
                        <a:rPr lang="en-US" sz="1700">
                          <a:solidFill>
                            <a:srgbClr val="333333"/>
                          </a:solidFill>
                          <a:latin typeface="Calibri"/>
                          <a:ea typeface="Calibri"/>
                          <a:cs typeface="Calibri"/>
                        </a:rPr>
                        <a:t>True data distribution</a:t>
                      </a:r>
                      <a:endParaRPr lang="en-US" sz="170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7FF"/>
                    </a:solidFill>
                  </a:tcPr>
                </a:tc>
                <a:extLst>
                  <a:ext uri="{0D108BD9-81ED-4DB2-BD59-A6C34878D82A}">
                    <a16:rowId xmlns:a16="http://schemas.microsoft.com/office/drawing/2014/main" val="10004"/>
                  </a:ext>
                </a:extLst>
              </a:tr>
              <a:tr h="414528">
                <a:tc>
                  <a:txBody>
                    <a:bodyPr/>
                    <a:lstStyle/>
                    <a:p>
                      <a:pPr marL="0" indent="0">
                        <a:buNone/>
                      </a:pPr>
                      <a:r>
                        <a:rPr lang="en-US" sz="1700" b="1" err="1">
                          <a:solidFill>
                            <a:srgbClr val="1A6FA3"/>
                          </a:solidFill>
                          <a:latin typeface="Calibri"/>
                          <a:ea typeface="Calibri"/>
                          <a:cs typeface="Calibri"/>
                        </a:rPr>
                        <a:t>Pr</a:t>
                      </a:r>
                      <a:r>
                        <a:rPr lang="en-US" sz="1700" b="1">
                          <a:solidFill>
                            <a:srgbClr val="1A6FA3"/>
                          </a:solidFill>
                          <a:latin typeface="Calibri"/>
                          <a:ea typeface="Calibri"/>
                          <a:cs typeface="Calibri"/>
                        </a:rPr>
                        <a:t>(x*)</a:t>
                      </a: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700">
                          <a:solidFill>
                            <a:srgbClr val="333333"/>
                          </a:solidFill>
                          <a:latin typeface="Calibri"/>
                          <a:ea typeface="Calibri"/>
                          <a:cs typeface="Calibri"/>
                        </a:rPr>
                        <a:t>Generated sample distribution</a:t>
                      </a:r>
                      <a:endParaRPr lang="en-US" sz="170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4528">
                <a:tc>
                  <a:txBody>
                    <a:bodyPr/>
                    <a:lstStyle/>
                    <a:p>
                      <a:pPr marL="0" indent="0">
                        <a:buNone/>
                      </a:pPr>
                      <a:r>
                        <a:rPr lang="en-US" sz="1700" b="1">
                          <a:solidFill>
                            <a:srgbClr val="1A6FA3"/>
                          </a:solidFill>
                          <a:latin typeface="Calibri"/>
                          <a:ea typeface="Calibri"/>
                          <a:cs typeface="Calibri"/>
                        </a:rPr>
                        <a:t>g[z, </a:t>
                      </a:r>
                      <a:r>
                        <a:rPr lang="en-US" sz="1600" b="0" i="0" u="none" strike="noStrike" noProof="0">
                          <a:solidFill>
                            <a:srgbClr val="1A1A1A"/>
                          </a:solidFill>
                          <a:highlight>
                            <a:srgbClr val="F5F5F5"/>
                          </a:highlight>
                          <a:latin typeface="Calibri"/>
                          <a:ea typeface="Calibri"/>
                          <a:cs typeface="Calibri"/>
                        </a:rPr>
                        <a:t>θ]</a:t>
                      </a:r>
                      <a:endParaRPr lang="en-US" sz="1600" b="1">
                        <a:solidFill>
                          <a:srgbClr val="1A6FA3"/>
                        </a:solidFill>
                        <a:latin typeface="Calibri"/>
                        <a:ea typeface="Calibri"/>
                        <a:cs typeface="Calibri"/>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7FF"/>
                    </a:solidFill>
                  </a:tcPr>
                </a:tc>
                <a:tc>
                  <a:txBody>
                    <a:bodyPr/>
                    <a:lstStyle/>
                    <a:p>
                      <a:pPr marL="0" indent="0">
                        <a:buNone/>
                      </a:pPr>
                      <a:r>
                        <a:rPr lang="en-US" sz="1700">
                          <a:solidFill>
                            <a:srgbClr val="333333"/>
                          </a:solidFill>
                          <a:latin typeface="Calibri"/>
                          <a:ea typeface="Calibri"/>
                          <a:cs typeface="Calibri"/>
                        </a:rPr>
                        <a:t>Generator network with parameters </a:t>
                      </a:r>
                      <a:r>
                        <a:rPr lang="en-US" sz="1600" b="0" i="0" u="none" strike="noStrike" noProof="0">
                          <a:solidFill>
                            <a:srgbClr val="1A1A1A"/>
                          </a:solidFill>
                          <a:latin typeface="Calibri"/>
                          <a:ea typeface="Calibri"/>
                          <a:cs typeface="Calibri"/>
                        </a:rPr>
                        <a:t>θ</a:t>
                      </a:r>
                      <a:endParaRPr lang="en-US" sz="170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7FF"/>
                    </a:solidFill>
                  </a:tcPr>
                </a:tc>
                <a:extLst>
                  <a:ext uri="{0D108BD9-81ED-4DB2-BD59-A6C34878D82A}">
                    <a16:rowId xmlns:a16="http://schemas.microsoft.com/office/drawing/2014/main" val="10006"/>
                  </a:ext>
                </a:extLst>
              </a:tr>
              <a:tr h="414528">
                <a:tc>
                  <a:txBody>
                    <a:bodyPr/>
                    <a:lstStyle/>
                    <a:p>
                      <a:pPr marL="0" indent="0">
                        <a:buNone/>
                      </a:pPr>
                      <a:r>
                        <a:rPr lang="en-US" sz="1700" b="1">
                          <a:solidFill>
                            <a:srgbClr val="1A6FA3"/>
                          </a:solidFill>
                          <a:latin typeface="Calibri"/>
                          <a:ea typeface="Calibri"/>
                          <a:cs typeface="Calibri"/>
                        </a:rPr>
                        <a:t>f[x, </a:t>
                      </a:r>
                      <a:r>
                        <a:rPr lang="en-US" sz="1600" b="0" i="0" u="none" strike="noStrike" noProof="0">
                          <a:solidFill>
                            <a:srgbClr val="1A1A1A"/>
                          </a:solidFill>
                          <a:highlight>
                            <a:srgbClr val="F5F5F5"/>
                          </a:highlight>
                          <a:latin typeface="Cambria"/>
                          <a:ea typeface="Cambria"/>
                          <a:cs typeface="Calibri"/>
                        </a:rPr>
                        <a:t>ϕ]</a:t>
                      </a:r>
                      <a:endParaRPr lang="en-US" sz="1600" b="1">
                        <a:solidFill>
                          <a:srgbClr val="1A6FA3"/>
                        </a:solidFill>
                        <a:latin typeface="Calibri"/>
                        <a:ea typeface="Calibri"/>
                        <a:cs typeface="Calibri"/>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700">
                          <a:solidFill>
                            <a:srgbClr val="333333"/>
                          </a:solidFill>
                          <a:latin typeface="Calibri"/>
                          <a:ea typeface="Calibri"/>
                          <a:cs typeface="Calibri"/>
                        </a:rPr>
                        <a:t>Discriminator network with parameters </a:t>
                      </a:r>
                      <a:r>
                        <a:rPr lang="en-US" sz="1600" b="0" i="0" u="none" strike="noStrike" noProof="0">
                          <a:solidFill>
                            <a:srgbClr val="1A1A1A"/>
                          </a:solidFill>
                          <a:latin typeface="Cambria"/>
                          <a:ea typeface="Cambria"/>
                          <a:cs typeface="Calibri"/>
                        </a:rPr>
                        <a:t>ϕ</a:t>
                      </a:r>
                      <a:endParaRPr lang="en-US" sz="170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14528">
                <a:tc>
                  <a:txBody>
                    <a:bodyPr/>
                    <a:lstStyle/>
                    <a:p>
                      <a:pPr marL="0" lvl="0" indent="0">
                        <a:buNone/>
                      </a:pPr>
                      <a:r>
                        <a:rPr lang="en-US" sz="1700" b="0" i="0" u="none" strike="noStrike" noProof="0">
                          <a:solidFill>
                            <a:srgbClr val="1A6FA3"/>
                          </a:solidFill>
                        </a:rPr>
                        <a:t>L[ϕ], L[θ]</a:t>
                      </a:r>
                      <a:endParaRPr lang="en-US"/>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7FF"/>
                    </a:solidFill>
                  </a:tcPr>
                </a:tc>
                <a:tc>
                  <a:txBody>
                    <a:bodyPr/>
                    <a:lstStyle/>
                    <a:p>
                      <a:pPr marL="0" lvl="0" indent="0">
                        <a:buNone/>
                      </a:pPr>
                      <a:r>
                        <a:rPr lang="en-US" sz="1700" b="0" i="0" u="none" strike="noStrike" noProof="0">
                          <a:solidFill>
                            <a:srgbClr val="333333"/>
                          </a:solidFill>
                        </a:rPr>
                        <a:t>Discriminator and generator loss functions</a:t>
                      </a:r>
                      <a:endParaRPr lang="en-US"/>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7FF"/>
                    </a:solidFill>
                  </a:tcPr>
                </a:tc>
                <a:extLst>
                  <a:ext uri="{0D108BD9-81ED-4DB2-BD59-A6C34878D82A}">
                    <a16:rowId xmlns:a16="http://schemas.microsoft.com/office/drawing/2014/main" val="10008"/>
                  </a:ext>
                </a:extLst>
              </a:tr>
              <a:tr h="414528">
                <a:tc>
                  <a:txBody>
                    <a:bodyPr/>
                    <a:lstStyle/>
                    <a:p>
                      <a:pPr marL="0" indent="0">
                        <a:buNone/>
                      </a:pPr>
                      <a:r>
                        <a:rPr lang="en-US" sz="1700" b="1">
                          <a:solidFill>
                            <a:srgbClr val="1A6FA3"/>
                          </a:solidFill>
                          <a:latin typeface="Calibri" pitchFamily="34" charset="0"/>
                          <a:ea typeface="Calibri" pitchFamily="34" charset="-122"/>
                          <a:cs typeface="Calibri" pitchFamily="34" charset="-120"/>
                        </a:rPr>
                        <a:t>𝔼[·]</a:t>
                      </a:r>
                      <a:endParaRPr lang="en-US" sz="170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700">
                          <a:solidFill>
                            <a:srgbClr val="333333"/>
                          </a:solidFill>
                          <a:latin typeface="Calibri" pitchFamily="34" charset="0"/>
                          <a:ea typeface="Calibri" pitchFamily="34" charset="-122"/>
                          <a:cs typeface="Calibri" pitchFamily="34" charset="-120"/>
                        </a:rPr>
                        <a:t>Expectation (average over a distribution)</a:t>
                      </a:r>
                      <a:endParaRPr lang="en-US" sz="170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14528">
                <a:tc>
                  <a:txBody>
                    <a:bodyPr/>
                    <a:lstStyle/>
                    <a:p>
                      <a:pPr marL="0" indent="0">
                        <a:buNone/>
                      </a:pPr>
                      <a:r>
                        <a:rPr lang="en-US" sz="1700" b="1">
                          <a:solidFill>
                            <a:srgbClr val="1A6FA3"/>
                          </a:solidFill>
                          <a:latin typeface="Calibri"/>
                          <a:ea typeface="Calibri"/>
                          <a:cs typeface="Calibri"/>
                        </a:rPr>
                        <a:t>D_JS</a:t>
                      </a: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7FF"/>
                    </a:solidFill>
                  </a:tcPr>
                </a:tc>
                <a:tc>
                  <a:txBody>
                    <a:bodyPr/>
                    <a:lstStyle/>
                    <a:p>
                      <a:pPr marL="0" lvl="0" indent="0">
                        <a:buNone/>
                      </a:pPr>
                      <a:r>
                        <a:rPr lang="en-US" sz="1700" b="0" i="0" u="none" strike="noStrike" noProof="0">
                          <a:solidFill>
                            <a:srgbClr val="333333"/>
                          </a:solidFill>
                        </a:rPr>
                        <a:t>Jensen–Shannon divergence</a:t>
                      </a:r>
                      <a:endParaRPr lang="en-US"/>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7FF"/>
                    </a:solidFill>
                  </a:tcPr>
                </a:tc>
                <a:extLst>
                  <a:ext uri="{0D108BD9-81ED-4DB2-BD59-A6C34878D82A}">
                    <a16:rowId xmlns:a16="http://schemas.microsoft.com/office/drawing/2014/main" val="10010"/>
                  </a:ext>
                </a:extLst>
              </a:tr>
              <a:tr h="414528">
                <a:tc>
                  <a:txBody>
                    <a:bodyPr/>
                    <a:lstStyle/>
                    <a:p>
                      <a:pPr marL="0" indent="0">
                        <a:buNone/>
                      </a:pPr>
                      <a:r>
                        <a:rPr lang="en-US" sz="1700" b="1">
                          <a:solidFill>
                            <a:srgbClr val="1A6FA3"/>
                          </a:solidFill>
                          <a:latin typeface="Calibri"/>
                          <a:ea typeface="Calibri"/>
                          <a:cs typeface="Calibri"/>
                        </a:rPr>
                        <a:t>D_W</a:t>
                      </a: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lvl="0" indent="0">
                        <a:buNone/>
                      </a:pPr>
                      <a:r>
                        <a:rPr lang="en-US" sz="1700" b="0" i="0" u="none" strike="noStrike" noProof="0">
                          <a:solidFill>
                            <a:srgbClr val="333333"/>
                          </a:solidFill>
                        </a:rPr>
                        <a:t>Wasserstein distance</a:t>
                      </a:r>
                      <a:endParaRPr lang="en-US"/>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534874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B815-1BC2-45AD-AE0C-FD71CEE77513}"/>
              </a:ext>
            </a:extLst>
          </p:cNvPr>
          <p:cNvSpPr>
            <a:spLocks noGrp="1"/>
          </p:cNvSpPr>
          <p:nvPr>
            <p:ph type="title"/>
          </p:nvPr>
        </p:nvSpPr>
        <p:spPr/>
        <p:txBody>
          <a:bodyPr/>
          <a:lstStyle/>
          <a:p>
            <a:r>
              <a:rPr lang="en-US"/>
              <a:t>Loss Function </a:t>
            </a:r>
            <a:r>
              <a:rPr lang="en-US" sz="4300">
                <a:solidFill>
                  <a:srgbClr val="1A1A1A"/>
                </a:solidFill>
                <a:latin typeface="Calibri"/>
                <a:ea typeface="Calibri"/>
                <a:cs typeface="Calibri"/>
              </a:rPr>
              <a:t>—</a:t>
            </a:r>
            <a:r>
              <a:rPr lang="en-US"/>
              <a:t> overview</a:t>
            </a:r>
          </a:p>
        </p:txBody>
      </p:sp>
      <p:sp>
        <p:nvSpPr>
          <p:cNvPr id="3" name="Content Placeholder 2">
            <a:extLst>
              <a:ext uri="{FF2B5EF4-FFF2-40B4-BE49-F238E27FC236}">
                <a16:creationId xmlns:a16="http://schemas.microsoft.com/office/drawing/2014/main" id="{73055DA7-E1D5-4464-A7B4-D3B5B71714B7}"/>
              </a:ext>
            </a:extLst>
          </p:cNvPr>
          <p:cNvSpPr>
            <a:spLocks noGrp="1"/>
          </p:cNvSpPr>
          <p:nvPr>
            <p:ph idx="1"/>
          </p:nvPr>
        </p:nvSpPr>
        <p:spPr>
          <a:xfrm>
            <a:off x="7208213" y="1669633"/>
            <a:ext cx="4527358" cy="4024474"/>
          </a:xfrm>
        </p:spPr>
        <p:txBody>
          <a:bodyPr vert="horz" lIns="91440" tIns="45720" rIns="91440" bIns="45720" rtlCol="0" anchor="t">
            <a:noAutofit/>
          </a:bodyPr>
          <a:lstStyle/>
          <a:p>
            <a:r>
              <a:rPr lang="en-US" sz="1800"/>
              <a:t>The loss function in GAN measures how well the generator and discriminator perform their competing tasks. </a:t>
            </a:r>
            <a:endParaRPr lang="en-US" sz="1800">
              <a:ea typeface="Calibri"/>
              <a:cs typeface="Calibri"/>
            </a:endParaRPr>
          </a:p>
          <a:p>
            <a:r>
              <a:rPr lang="en-US" sz="1800"/>
              <a:t>The discriminator’s objective is to correctly classify real images as real and generated images as fake, while the generator’s objective is to fool the discriminator into labeling fake images as real.</a:t>
            </a:r>
            <a:endParaRPr lang="en-US" sz="1800">
              <a:ea typeface="Calibri"/>
              <a:cs typeface="Calibri"/>
            </a:endParaRPr>
          </a:p>
          <a:p>
            <a:r>
              <a:rPr lang="en-US" sz="1800"/>
              <a:t>This adversarial objective is typically expressed as a </a:t>
            </a:r>
            <a:r>
              <a:rPr lang="en-US" sz="1800" b="1"/>
              <a:t>minimax function</a:t>
            </a:r>
            <a:r>
              <a:rPr lang="en-US" sz="1800"/>
              <a:t>, where the discriminator maximizes the probability of correct classification and the generator minimizes the discriminator’s ability to detect fake samples. </a:t>
            </a:r>
            <a:endParaRPr lang="en-US" sz="1800">
              <a:ea typeface="Calibri"/>
              <a:cs typeface="Calibri"/>
            </a:endParaRPr>
          </a:p>
        </p:txBody>
      </p:sp>
      <p:pic>
        <p:nvPicPr>
          <p:cNvPr id="5" name="Content Placeholder 4" descr="A white background with black text&#10;&#10;AI-generated content may be incorrect.">
            <a:extLst>
              <a:ext uri="{FF2B5EF4-FFF2-40B4-BE49-F238E27FC236}">
                <a16:creationId xmlns:a16="http://schemas.microsoft.com/office/drawing/2014/main" id="{ECAB6E5C-F645-8FDA-04CE-D3F5FFB0E2A1}"/>
              </a:ext>
            </a:extLst>
          </p:cNvPr>
          <p:cNvPicPr>
            <a:picLocks noChangeAspect="1"/>
          </p:cNvPicPr>
          <p:nvPr/>
        </p:nvPicPr>
        <p:blipFill>
          <a:blip r:embed="rId2"/>
          <a:stretch>
            <a:fillRect/>
          </a:stretch>
        </p:blipFill>
        <p:spPr>
          <a:xfrm>
            <a:off x="641989" y="1675226"/>
            <a:ext cx="6556153" cy="3820860"/>
          </a:xfrm>
          <a:prstGeom prst="rect">
            <a:avLst/>
          </a:prstGeom>
        </p:spPr>
      </p:pic>
    </p:spTree>
    <p:extLst>
      <p:ext uri="{BB962C8B-B14F-4D97-AF65-F5344CB8AC3E}">
        <p14:creationId xmlns:p14="http://schemas.microsoft.com/office/powerpoint/2010/main" val="104066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268224"/>
            <a:ext cx="1097280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267">
                <a:solidFill>
                  <a:srgbClr val="1A1A1A"/>
                </a:solidFill>
                <a:latin typeface="Calibri" pitchFamily="34" charset="0"/>
                <a:ea typeface="Calibri" pitchFamily="34" charset="-122"/>
                <a:cs typeface="Calibri" pitchFamily="34" charset="-120"/>
              </a:rPr>
              <a:t>GAN loss function — setup</a:t>
            </a:r>
            <a:endParaRPr lang="en-US" sz="4267"/>
          </a:p>
        </p:txBody>
      </p:sp>
      <p:sp>
        <p:nvSpPr>
          <p:cNvPr id="4" name="Text 2"/>
          <p:cNvSpPr/>
          <p:nvPr/>
        </p:nvSpPr>
        <p:spPr>
          <a:xfrm>
            <a:off x="609600" y="1219200"/>
            <a:ext cx="10972800" cy="60960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2400">
                <a:solidFill>
                  <a:srgbClr val="1A1A1A"/>
                </a:solidFill>
                <a:latin typeface="Calibri" pitchFamily="34" charset="0"/>
                <a:ea typeface="Calibri" pitchFamily="34" charset="-122"/>
                <a:cs typeface="Calibri" pitchFamily="34" charset="-120"/>
              </a:rPr>
              <a:t>Start from binary cross-entropy loss (section 5.4):</a:t>
            </a:r>
            <a:endParaRPr lang="en-US" sz="2400"/>
          </a:p>
        </p:txBody>
      </p:sp>
      <p:sp>
        <p:nvSpPr>
          <p:cNvPr id="6" name="Text 4"/>
          <p:cNvSpPr/>
          <p:nvPr/>
        </p:nvSpPr>
        <p:spPr>
          <a:xfrm>
            <a:off x="609600" y="2682240"/>
            <a:ext cx="10972800" cy="54864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2400">
                <a:solidFill>
                  <a:srgbClr val="1A1A1A"/>
                </a:solidFill>
                <a:latin typeface="Calibri" pitchFamily="34" charset="0"/>
                <a:ea typeface="Calibri" pitchFamily="34" charset="-122"/>
                <a:cs typeface="Calibri" pitchFamily="34" charset="-120"/>
              </a:rPr>
              <a:t>Assign real examples y = 1, generated samples y = 0:</a:t>
            </a:r>
            <a:endParaRPr lang="en-US" sz="2400"/>
          </a:p>
        </p:txBody>
      </p:sp>
      <p:sp>
        <p:nvSpPr>
          <p:cNvPr id="8" name="Text 6"/>
          <p:cNvSpPr/>
          <p:nvPr/>
        </p:nvSpPr>
        <p:spPr>
          <a:xfrm>
            <a:off x="609600" y="4207641"/>
            <a:ext cx="10972800" cy="548640"/>
          </a:xfrm>
          <a:prstGeom prst="rect">
            <a:avLst/>
          </a:prstGeom>
          <a:noFill/>
          <a:ln/>
        </p:spPr>
        <p:txBody>
          <a:bodyPr wrap="square" lIns="91440" tIns="45720" rIns="91440" bIns="4572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spcAft>
                <a:spcPts val="800"/>
              </a:spcAft>
              <a:buSzPct val="100000"/>
              <a:buChar char="•"/>
            </a:pPr>
            <a:r>
              <a:rPr lang="en-US" sz="2400">
                <a:solidFill>
                  <a:srgbClr val="1A1A1A"/>
                </a:solidFill>
                <a:latin typeface="Calibri"/>
                <a:ea typeface="Calibri"/>
                <a:cs typeface="Calibri"/>
              </a:rPr>
              <a:t>Substitute generator x*ⱼ = g[zⱼ, θ] </a:t>
            </a:r>
            <a:r>
              <a:rPr lang="en-US">
                <a:solidFill>
                  <a:srgbClr val="1A1A1A"/>
                </a:solidFill>
                <a:latin typeface="Calibri"/>
                <a:ea typeface="Calibri"/>
                <a:cs typeface="Calibri"/>
              </a:rPr>
              <a:t>(note</a:t>
            </a:r>
            <a:r>
              <a:rPr lang="en-US" sz="2400">
                <a:solidFill>
                  <a:srgbClr val="1A1A1A"/>
                </a:solidFill>
                <a:latin typeface="Calibri"/>
                <a:ea typeface="Calibri"/>
                <a:cs typeface="Calibri"/>
              </a:rPr>
              <a:t>: generator must maximize this loss to fool D</a:t>
            </a:r>
            <a:r>
              <a:rPr lang="en-US">
                <a:solidFill>
                  <a:srgbClr val="1A1A1A"/>
                </a:solidFill>
                <a:latin typeface="Calibri"/>
                <a:ea typeface="Calibri"/>
                <a:cs typeface="Calibri"/>
              </a:rPr>
              <a:t>):</a:t>
            </a:r>
            <a:endParaRPr lang="en-US" sz="2400">
              <a:latin typeface="Calibri"/>
              <a:ea typeface="Calibri"/>
              <a:cs typeface="Calibri"/>
            </a:endParaRPr>
          </a:p>
        </p:txBody>
      </p:sp>
      <p:sp>
        <p:nvSpPr>
          <p:cNvPr id="10" name="Text 8"/>
          <p:cNvSpPr/>
          <p:nvPr/>
        </p:nvSpPr>
        <p:spPr>
          <a:xfrm>
            <a:off x="618359" y="5933439"/>
            <a:ext cx="109728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i="1">
                <a:solidFill>
                  <a:srgbClr val="888888"/>
                </a:solidFill>
                <a:latin typeface="Calibri" pitchFamily="34" charset="0"/>
                <a:ea typeface="Calibri" pitchFamily="34" charset="-122"/>
                <a:cs typeface="Calibri" pitchFamily="34" charset="-120"/>
              </a:rPr>
              <a:t>Equation 15.4 — the minimax GAN objective</a:t>
            </a:r>
            <a:endParaRPr lang="en-US" sz="1467"/>
          </a:p>
        </p:txBody>
      </p:sp>
      <p:pic>
        <p:nvPicPr>
          <p:cNvPr id="3" name="Picture 2" descr="A black text with black letters&#10;&#10;AI-generated content may be incorrect.">
            <a:extLst>
              <a:ext uri="{FF2B5EF4-FFF2-40B4-BE49-F238E27FC236}">
                <a16:creationId xmlns:a16="http://schemas.microsoft.com/office/drawing/2014/main" id="{7D76289C-7CD5-5082-4021-1E338657989D}"/>
              </a:ext>
            </a:extLst>
          </p:cNvPr>
          <p:cNvPicPr>
            <a:picLocks noChangeAspect="1"/>
          </p:cNvPicPr>
          <p:nvPr/>
        </p:nvPicPr>
        <p:blipFill>
          <a:blip r:embed="rId3"/>
          <a:stretch>
            <a:fillRect/>
          </a:stretch>
        </p:blipFill>
        <p:spPr>
          <a:xfrm>
            <a:off x="2552700" y="1711325"/>
            <a:ext cx="7086600" cy="895350"/>
          </a:xfrm>
          <a:prstGeom prst="rect">
            <a:avLst/>
          </a:prstGeom>
        </p:spPr>
      </p:pic>
      <p:pic>
        <p:nvPicPr>
          <p:cNvPr id="11" name="Picture 10" descr="A black text on a white background&#10;&#10;AI-generated content may be incorrect.">
            <a:extLst>
              <a:ext uri="{FF2B5EF4-FFF2-40B4-BE49-F238E27FC236}">
                <a16:creationId xmlns:a16="http://schemas.microsoft.com/office/drawing/2014/main" id="{B51EC4F9-E1D2-2E40-0D6C-E01A29CB2245}"/>
              </a:ext>
            </a:extLst>
          </p:cNvPr>
          <p:cNvPicPr>
            <a:picLocks noChangeAspect="1"/>
          </p:cNvPicPr>
          <p:nvPr/>
        </p:nvPicPr>
        <p:blipFill>
          <a:blip r:embed="rId4"/>
          <a:stretch>
            <a:fillRect/>
          </a:stretch>
        </p:blipFill>
        <p:spPr>
          <a:xfrm>
            <a:off x="2793890" y="3230726"/>
            <a:ext cx="6586701" cy="1018409"/>
          </a:xfrm>
          <a:prstGeom prst="rect">
            <a:avLst/>
          </a:prstGeom>
        </p:spPr>
      </p:pic>
      <p:pic>
        <p:nvPicPr>
          <p:cNvPr id="12" name="Picture 11" descr="A black text on a white background&#10;&#10;AI-generated content may be incorrect.">
            <a:extLst>
              <a:ext uri="{FF2B5EF4-FFF2-40B4-BE49-F238E27FC236}">
                <a16:creationId xmlns:a16="http://schemas.microsoft.com/office/drawing/2014/main" id="{CF939509-6BB3-36D2-A087-51CE4CCADDFA}"/>
              </a:ext>
            </a:extLst>
          </p:cNvPr>
          <p:cNvPicPr>
            <a:picLocks noChangeAspect="1"/>
          </p:cNvPicPr>
          <p:nvPr/>
        </p:nvPicPr>
        <p:blipFill>
          <a:blip r:embed="rId5"/>
          <a:srcRect l="278" t="13158" r="-1053" b="9868"/>
          <a:stretch>
            <a:fillRect/>
          </a:stretch>
        </p:blipFill>
        <p:spPr>
          <a:xfrm>
            <a:off x="2329711" y="4899354"/>
            <a:ext cx="7544641" cy="1026446"/>
          </a:xfrm>
          <a:prstGeom prst="rect">
            <a:avLst/>
          </a:prstGeom>
        </p:spPr>
      </p:pic>
    </p:spTree>
    <p:extLst>
      <p:ext uri="{BB962C8B-B14F-4D97-AF65-F5344CB8AC3E}">
        <p14:creationId xmlns:p14="http://schemas.microsoft.com/office/powerpoint/2010/main" val="3902809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268224"/>
            <a:ext cx="1097280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267">
                <a:solidFill>
                  <a:srgbClr val="1A1A1A"/>
                </a:solidFill>
                <a:latin typeface="Calibri" pitchFamily="34" charset="0"/>
                <a:ea typeface="Calibri" pitchFamily="34" charset="-122"/>
                <a:cs typeface="Calibri" pitchFamily="34" charset="-120"/>
              </a:rPr>
              <a:t>GAN loss function — training the two networks</a:t>
            </a:r>
            <a:endParaRPr lang="en-US" sz="4267"/>
          </a:p>
        </p:txBody>
      </p:sp>
      <p:sp>
        <p:nvSpPr>
          <p:cNvPr id="3" name="Text 1"/>
          <p:cNvSpPr/>
          <p:nvPr/>
        </p:nvSpPr>
        <p:spPr>
          <a:xfrm>
            <a:off x="11216640" y="6461760"/>
            <a:ext cx="731520" cy="341376"/>
          </a:xfrm>
          <a:prstGeom prst="rect">
            <a:avLst/>
          </a:prstGeom>
          <a:noFill/>
          <a:ln/>
        </p:spPr>
        <p:txBody>
          <a:bodyPr wrap="square" lIns="91440" tIns="45720" rIns="91440" bIns="4572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endParaRPr lang="en-US" sz="1450">
              <a:solidFill>
                <a:srgbClr val="888888"/>
              </a:solidFill>
              <a:ea typeface="Calibri"/>
              <a:cs typeface="Calibri"/>
            </a:endParaRPr>
          </a:p>
        </p:txBody>
      </p:sp>
      <p:sp>
        <p:nvSpPr>
          <p:cNvPr id="4" name="Text 2"/>
          <p:cNvSpPr/>
          <p:nvPr/>
        </p:nvSpPr>
        <p:spPr>
          <a:xfrm>
            <a:off x="609600" y="1219200"/>
            <a:ext cx="10972800" cy="54864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2400">
                <a:solidFill>
                  <a:srgbClr val="1A1A1A"/>
                </a:solidFill>
                <a:latin typeface="Calibri" pitchFamily="34" charset="0"/>
                <a:ea typeface="Calibri" pitchFamily="34" charset="-122"/>
                <a:cs typeface="Calibri" pitchFamily="34" charset="-120"/>
              </a:rPr>
              <a:t>Equation 15.4 is split into two loss functions for practical training:</a:t>
            </a:r>
            <a:endParaRPr lang="en-US" sz="2400"/>
          </a:p>
        </p:txBody>
      </p:sp>
      <p:sp>
        <p:nvSpPr>
          <p:cNvPr id="5" name="Text 3"/>
          <p:cNvSpPr/>
          <p:nvPr/>
        </p:nvSpPr>
        <p:spPr>
          <a:xfrm>
            <a:off x="609600" y="1616590"/>
            <a:ext cx="10363200" cy="4267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133">
                <a:solidFill>
                  <a:srgbClr val="555555"/>
                </a:solidFill>
                <a:latin typeface="Calibri" pitchFamily="34" charset="0"/>
                <a:ea typeface="Calibri" pitchFamily="34" charset="-122"/>
                <a:cs typeface="Calibri" pitchFamily="34" charset="-120"/>
              </a:rPr>
              <a:t>Discriminator loss (minimize to update ϕ):</a:t>
            </a:r>
            <a:endParaRPr lang="en-US" sz="2133"/>
          </a:p>
        </p:txBody>
      </p:sp>
      <p:sp>
        <p:nvSpPr>
          <p:cNvPr id="7" name="Text 5"/>
          <p:cNvSpPr/>
          <p:nvPr/>
        </p:nvSpPr>
        <p:spPr>
          <a:xfrm>
            <a:off x="609600" y="3079630"/>
            <a:ext cx="10363200" cy="4267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133">
                <a:solidFill>
                  <a:srgbClr val="555555"/>
                </a:solidFill>
                <a:latin typeface="Calibri" pitchFamily="34" charset="0"/>
                <a:ea typeface="Calibri" pitchFamily="34" charset="-122"/>
                <a:cs typeface="Calibri" pitchFamily="34" charset="-120"/>
              </a:rPr>
              <a:t>Generator loss (minimize to update θ):</a:t>
            </a:r>
            <a:endParaRPr lang="en-US" sz="2133"/>
          </a:p>
        </p:txBody>
      </p:sp>
      <p:sp>
        <p:nvSpPr>
          <p:cNvPr id="9" name="Text 7"/>
          <p:cNvSpPr/>
          <p:nvPr/>
        </p:nvSpPr>
        <p:spPr>
          <a:xfrm>
            <a:off x="609600" y="4511040"/>
            <a:ext cx="10972800" cy="195072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2267">
                <a:solidFill>
                  <a:srgbClr val="1A1A1A"/>
                </a:solidFill>
                <a:latin typeface="Calibri" pitchFamily="34" charset="0"/>
                <a:ea typeface="Calibri" pitchFamily="34" charset="-122"/>
                <a:cs typeface="Calibri" pitchFamily="34" charset="-120"/>
              </a:rPr>
              <a:t>Minimizing L[ϕ] trains the discriminator to correctly classify real vs. fake</a:t>
            </a:r>
            <a:endParaRPr lang="en-US" sz="2267"/>
          </a:p>
          <a:p>
            <a:pPr marL="457189" indent="-457189">
              <a:spcAft>
                <a:spcPts val="800"/>
              </a:spcAft>
              <a:buSzPct val="100000"/>
              <a:buChar char="•"/>
            </a:pPr>
            <a:r>
              <a:rPr lang="en-US" sz="2267">
                <a:solidFill>
                  <a:srgbClr val="CC0000"/>
                </a:solidFill>
                <a:latin typeface="Calibri" pitchFamily="34" charset="0"/>
                <a:ea typeface="Calibri" pitchFamily="34" charset="-122"/>
                <a:cs typeface="Calibri" pitchFamily="34" charset="-120"/>
              </a:rPr>
              <a:t>Minimizing L[θ] trains the generator to fool the discriminator</a:t>
            </a:r>
            <a:endParaRPr lang="en-US" sz="2267"/>
          </a:p>
          <a:p>
            <a:pPr marL="457189" indent="-457189">
              <a:spcAft>
                <a:spcPts val="800"/>
              </a:spcAft>
              <a:buSzPct val="100000"/>
              <a:buChar char="•"/>
            </a:pPr>
            <a:r>
              <a:rPr lang="en-US" sz="2267">
                <a:solidFill>
                  <a:srgbClr val="1A1A1A"/>
                </a:solidFill>
                <a:latin typeface="Calibri" pitchFamily="34" charset="0"/>
                <a:ea typeface="Calibri" pitchFamily="34" charset="-122"/>
                <a:cs typeface="Calibri" pitchFamily="34" charset="-120"/>
              </a:rPr>
              <a:t>At each step: draw batch of z, pass through G to get x*, draw batch of real xi, then update both</a:t>
            </a:r>
            <a:endParaRPr lang="en-US" sz="2267"/>
          </a:p>
        </p:txBody>
      </p:sp>
      <p:pic>
        <p:nvPicPr>
          <p:cNvPr id="10" name="Picture 9" descr="A close up of a number&#10;&#10;AI-generated content may be incorrect.">
            <a:extLst>
              <a:ext uri="{FF2B5EF4-FFF2-40B4-BE49-F238E27FC236}">
                <a16:creationId xmlns:a16="http://schemas.microsoft.com/office/drawing/2014/main" id="{EC406E0B-8764-ACEF-2BEE-1B3C111BA665}"/>
              </a:ext>
            </a:extLst>
          </p:cNvPr>
          <p:cNvPicPr>
            <a:picLocks noChangeAspect="1"/>
          </p:cNvPicPr>
          <p:nvPr/>
        </p:nvPicPr>
        <p:blipFill>
          <a:blip r:embed="rId3"/>
          <a:srcRect l="1508" r="4188" b="46212"/>
          <a:stretch>
            <a:fillRect/>
          </a:stretch>
        </p:blipFill>
        <p:spPr>
          <a:xfrm>
            <a:off x="2044640" y="2077888"/>
            <a:ext cx="8099307" cy="1016839"/>
          </a:xfrm>
          <a:prstGeom prst="rect">
            <a:avLst/>
          </a:prstGeom>
        </p:spPr>
      </p:pic>
      <p:pic>
        <p:nvPicPr>
          <p:cNvPr id="12" name="Picture 11" descr="A black text on a white background&#10;&#10;AI-generated content may be incorrect.">
            <a:extLst>
              <a:ext uri="{FF2B5EF4-FFF2-40B4-BE49-F238E27FC236}">
                <a16:creationId xmlns:a16="http://schemas.microsoft.com/office/drawing/2014/main" id="{DED53445-6B66-A34B-1E00-DF969B59D30F}"/>
              </a:ext>
            </a:extLst>
          </p:cNvPr>
          <p:cNvPicPr>
            <a:picLocks noChangeAspect="1"/>
          </p:cNvPicPr>
          <p:nvPr/>
        </p:nvPicPr>
        <p:blipFill>
          <a:blip r:embed="rId4"/>
          <a:srcRect l="269"/>
          <a:stretch>
            <a:fillRect/>
          </a:stretch>
        </p:blipFill>
        <p:spPr>
          <a:xfrm>
            <a:off x="3127615" y="3517600"/>
            <a:ext cx="5332891" cy="1001748"/>
          </a:xfrm>
          <a:prstGeom prst="rect">
            <a:avLst/>
          </a:prstGeom>
        </p:spPr>
      </p:pic>
    </p:spTree>
    <p:extLst>
      <p:ext uri="{BB962C8B-B14F-4D97-AF65-F5344CB8AC3E}">
        <p14:creationId xmlns:p14="http://schemas.microsoft.com/office/powerpoint/2010/main" val="3857461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74D51-ED3F-42AB-940A-772C1C5103B7}"/>
              </a:ext>
            </a:extLst>
          </p:cNvPr>
          <p:cNvSpPr>
            <a:spLocks noGrp="1"/>
          </p:cNvSpPr>
          <p:nvPr>
            <p:ph type="title"/>
          </p:nvPr>
        </p:nvSpPr>
        <p:spPr/>
        <p:txBody>
          <a:bodyPr/>
          <a:lstStyle/>
          <a:p>
            <a:r>
              <a:rPr lang="en-US"/>
              <a:t>Training Process:</a:t>
            </a:r>
          </a:p>
        </p:txBody>
      </p:sp>
      <p:sp>
        <p:nvSpPr>
          <p:cNvPr id="3" name="Content Placeholder 2">
            <a:extLst>
              <a:ext uri="{FF2B5EF4-FFF2-40B4-BE49-F238E27FC236}">
                <a16:creationId xmlns:a16="http://schemas.microsoft.com/office/drawing/2014/main" id="{22A23E24-022F-43E0-8729-EAC323594395}"/>
              </a:ext>
            </a:extLst>
          </p:cNvPr>
          <p:cNvSpPr>
            <a:spLocks noGrp="1"/>
          </p:cNvSpPr>
          <p:nvPr>
            <p:ph idx="1"/>
          </p:nvPr>
        </p:nvSpPr>
        <p:spPr/>
        <p:txBody>
          <a:bodyPr vert="horz" lIns="91440" tIns="45720" rIns="91440" bIns="45720" rtlCol="0" anchor="t">
            <a:normAutofit/>
          </a:bodyPr>
          <a:lstStyle/>
          <a:p>
            <a:r>
              <a:rPr lang="en-US" sz="2400"/>
              <a:t>In a </a:t>
            </a:r>
            <a:r>
              <a:rPr lang="en-US" sz="2400" b="1"/>
              <a:t>Generative Adversarial Network (GAN)</a:t>
            </a:r>
            <a:r>
              <a:rPr lang="en-US" sz="2400"/>
              <a:t>, training involves two neural networks learning simultaneously in an adversarial setup. </a:t>
            </a:r>
            <a:endParaRPr lang="en-US" sz="2400">
              <a:ea typeface="Calibri"/>
              <a:cs typeface="Calibri"/>
            </a:endParaRPr>
          </a:p>
          <a:p>
            <a:r>
              <a:rPr lang="en-US" sz="2400"/>
              <a:t>The </a:t>
            </a:r>
            <a:r>
              <a:rPr lang="en-US" sz="2400" b="1"/>
              <a:t>generator</a:t>
            </a:r>
            <a:r>
              <a:rPr lang="en-US" sz="2400"/>
              <a:t> takes a random noise vector and produces synthetic (fake) images that resemble the training data, while the </a:t>
            </a:r>
            <a:r>
              <a:rPr lang="en-US" sz="2400" b="1"/>
              <a:t>discriminator</a:t>
            </a:r>
            <a:r>
              <a:rPr lang="en-US" sz="2400"/>
              <a:t> receives both real images from the dataset and fake images from the generator and attempts to classify them as real or fake. </a:t>
            </a:r>
          </a:p>
          <a:p>
            <a:r>
              <a:rPr lang="en-US" sz="2400"/>
              <a:t>During each training iteration, the discriminator first learns to better distinguish real from generated images. Then the generator is updated based on the discriminator’s feedback so it can produce more realistic outputs. </a:t>
            </a:r>
          </a:p>
          <a:p>
            <a:r>
              <a:rPr lang="en-US" sz="2400"/>
              <a:t>This alternating process continues repeatedly until the generated data becomes increasingly difficult for the discriminator to distinguish from real data.</a:t>
            </a:r>
            <a:endParaRPr lang="en-US" sz="2400">
              <a:ea typeface="Calibri"/>
              <a:cs typeface="Calibri"/>
            </a:endParaRPr>
          </a:p>
        </p:txBody>
      </p:sp>
    </p:spTree>
    <p:extLst>
      <p:ext uri="{BB962C8B-B14F-4D97-AF65-F5344CB8AC3E}">
        <p14:creationId xmlns:p14="http://schemas.microsoft.com/office/powerpoint/2010/main" val="404300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304800"/>
            <a:ext cx="10972800" cy="792480"/>
          </a:xfrm>
          <a:prstGeom prst="rect">
            <a:avLst/>
          </a:prstGeom>
          <a:noFill/>
          <a:ln/>
        </p:spPr>
        <p:txBody>
          <a:bodyPr wrap="square" lIns="91440" tIns="45720" rIns="91440" bIns="4572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4250">
                <a:solidFill>
                  <a:srgbClr val="2E2E2E"/>
                </a:solidFill>
                <a:latin typeface="Calibri"/>
                <a:ea typeface="Calibri"/>
                <a:cs typeface="Calibri"/>
              </a:rPr>
              <a:t>Training process - pseudocode</a:t>
            </a:r>
            <a:endParaRPr lang="en-US" sz="4267"/>
          </a:p>
        </p:txBody>
      </p:sp>
      <p:sp>
        <p:nvSpPr>
          <p:cNvPr id="3" name="Shape 1"/>
          <p:cNvSpPr/>
          <p:nvPr/>
        </p:nvSpPr>
        <p:spPr>
          <a:xfrm>
            <a:off x="609600" y="1121664"/>
            <a:ext cx="10972800" cy="0"/>
          </a:xfrm>
          <a:prstGeom prst="line">
            <a:avLst/>
          </a:prstGeom>
          <a:noFill/>
          <a:ln w="9525">
            <a:solidFill>
              <a:srgbClr val="CCCCCC"/>
            </a:solidFill>
            <a:prstDash val="solid"/>
          </a:ln>
        </p:spPr>
        <p:txBody>
          <a:bodyPr/>
          <a:lstStyle/>
          <a:p>
            <a:endParaRPr lang="en-US"/>
          </a:p>
        </p:txBody>
      </p:sp>
      <p:pic>
        <p:nvPicPr>
          <p:cNvPr id="5" name="Picture 4" descr="A screenshot of a white sheet of paper&#10;&#10;AI-generated content may be incorrect.">
            <a:extLst>
              <a:ext uri="{FF2B5EF4-FFF2-40B4-BE49-F238E27FC236}">
                <a16:creationId xmlns:a16="http://schemas.microsoft.com/office/drawing/2014/main" id="{F80BA6D2-145B-850F-469A-D4A404BD7153}"/>
              </a:ext>
            </a:extLst>
          </p:cNvPr>
          <p:cNvPicPr>
            <a:picLocks noChangeAspect="1"/>
          </p:cNvPicPr>
          <p:nvPr/>
        </p:nvPicPr>
        <p:blipFill>
          <a:blip r:embed="rId3"/>
          <a:stretch>
            <a:fillRect/>
          </a:stretch>
        </p:blipFill>
        <p:spPr>
          <a:xfrm>
            <a:off x="326015" y="1249456"/>
            <a:ext cx="8155793" cy="5412442"/>
          </a:xfrm>
          <a:prstGeom prst="rect">
            <a:avLst/>
          </a:prstGeom>
        </p:spPr>
      </p:pic>
      <p:sp>
        <p:nvSpPr>
          <p:cNvPr id="6" name="TextBox 5">
            <a:extLst>
              <a:ext uri="{FF2B5EF4-FFF2-40B4-BE49-F238E27FC236}">
                <a16:creationId xmlns:a16="http://schemas.microsoft.com/office/drawing/2014/main" id="{79B7C13A-59D5-3C74-BDE6-F6D6CB22744F}"/>
              </a:ext>
            </a:extLst>
          </p:cNvPr>
          <p:cNvSpPr txBox="1"/>
          <p:nvPr/>
        </p:nvSpPr>
        <p:spPr>
          <a:xfrm>
            <a:off x="8874851" y="1407460"/>
            <a:ext cx="2944905" cy="3649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sz="2400">
                <a:ea typeface="Calibri"/>
                <a:cs typeface="Calibri"/>
              </a:rPr>
              <a:t>Training loop:</a:t>
            </a:r>
          </a:p>
          <a:p>
            <a:pPr>
              <a:lnSpc>
                <a:spcPct val="90000"/>
              </a:lnSpc>
              <a:spcBef>
                <a:spcPts val="1000"/>
              </a:spcBef>
            </a:pPr>
            <a:r>
              <a:rPr lang="en-US" sz="2400">
                <a:ea typeface="Calibri"/>
                <a:cs typeface="Calibri"/>
              </a:rPr>
              <a:t>Generator → </a:t>
            </a:r>
            <a:endParaRPr lang="en-US">
              <a:ea typeface="Calibri"/>
              <a:cs typeface="Calibri"/>
            </a:endParaRPr>
          </a:p>
          <a:p>
            <a:pPr>
              <a:lnSpc>
                <a:spcPct val="90000"/>
              </a:lnSpc>
              <a:spcBef>
                <a:spcPts val="1000"/>
              </a:spcBef>
            </a:pPr>
            <a:r>
              <a:rPr lang="en-US" sz="2400">
                <a:ea typeface="Calibri"/>
                <a:cs typeface="Calibri"/>
              </a:rPr>
              <a:t>Fake Image →</a:t>
            </a:r>
            <a:endParaRPr lang="en-US">
              <a:ea typeface="Calibri"/>
              <a:cs typeface="Calibri"/>
            </a:endParaRPr>
          </a:p>
          <a:p>
            <a:pPr>
              <a:lnSpc>
                <a:spcPct val="90000"/>
              </a:lnSpc>
              <a:spcBef>
                <a:spcPts val="1000"/>
              </a:spcBef>
            </a:pPr>
            <a:r>
              <a:rPr lang="en-US" sz="2400">
                <a:ea typeface="Calibri"/>
                <a:cs typeface="Calibri"/>
              </a:rPr>
              <a:t>Discriminator →</a:t>
            </a:r>
            <a:endParaRPr lang="en-US">
              <a:ea typeface="Calibri"/>
              <a:cs typeface="Calibri"/>
            </a:endParaRPr>
          </a:p>
          <a:p>
            <a:pPr>
              <a:lnSpc>
                <a:spcPct val="90000"/>
              </a:lnSpc>
              <a:spcBef>
                <a:spcPts val="1000"/>
              </a:spcBef>
            </a:pPr>
            <a:r>
              <a:rPr lang="en-US" sz="2400">
                <a:ea typeface="Calibri"/>
                <a:cs typeface="Calibri"/>
              </a:rPr>
              <a:t>Real/Fake → </a:t>
            </a:r>
            <a:endParaRPr lang="en-US">
              <a:ea typeface="Calibri"/>
              <a:cs typeface="Calibri"/>
            </a:endParaRPr>
          </a:p>
          <a:p>
            <a:pPr>
              <a:lnSpc>
                <a:spcPct val="90000"/>
              </a:lnSpc>
              <a:spcBef>
                <a:spcPts val="1000"/>
              </a:spcBef>
            </a:pPr>
            <a:r>
              <a:rPr lang="en-US" sz="2400">
                <a:ea typeface="Calibri"/>
                <a:cs typeface="Calibri"/>
              </a:rPr>
              <a:t>Loss →</a:t>
            </a:r>
            <a:endParaRPr lang="en-US">
              <a:ea typeface="Calibri"/>
              <a:cs typeface="Calibri"/>
            </a:endParaRPr>
          </a:p>
          <a:p>
            <a:pPr>
              <a:lnSpc>
                <a:spcPct val="90000"/>
              </a:lnSpc>
              <a:spcBef>
                <a:spcPts val="1000"/>
              </a:spcBef>
            </a:pPr>
            <a:r>
              <a:rPr lang="en-US" sz="2400">
                <a:ea typeface="Calibri"/>
                <a:cs typeface="Calibri"/>
              </a:rPr>
              <a:t>Backpropagation →</a:t>
            </a:r>
            <a:endParaRPr lang="en-US">
              <a:ea typeface="Calibri"/>
              <a:cs typeface="Calibri"/>
            </a:endParaRPr>
          </a:p>
          <a:p>
            <a:pPr>
              <a:lnSpc>
                <a:spcPct val="90000"/>
              </a:lnSpc>
              <a:spcBef>
                <a:spcPts val="1000"/>
              </a:spcBef>
            </a:pPr>
            <a:r>
              <a:rPr lang="en-US" sz="2400">
                <a:ea typeface="Calibri"/>
                <a:cs typeface="Calibri"/>
              </a:rPr>
              <a:t>Update weights</a:t>
            </a:r>
            <a:endParaRPr lang="en-US">
              <a:ea typeface="Calibri"/>
              <a:cs typeface="Calibri"/>
            </a:endParaRPr>
          </a:p>
        </p:txBody>
      </p:sp>
    </p:spTree>
    <p:extLst>
      <p:ext uri="{BB962C8B-B14F-4D97-AF65-F5344CB8AC3E}">
        <p14:creationId xmlns:p14="http://schemas.microsoft.com/office/powerpoint/2010/main" val="3378266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268224"/>
            <a:ext cx="1097280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267">
                <a:solidFill>
                  <a:srgbClr val="1A1A1A"/>
                </a:solidFill>
                <a:latin typeface="Calibri" pitchFamily="34" charset="0"/>
                <a:ea typeface="Calibri" pitchFamily="34" charset="-122"/>
                <a:cs typeface="Calibri" pitchFamily="34" charset="-120"/>
              </a:rPr>
              <a:t>GAN training loop</a:t>
            </a:r>
            <a:endParaRPr lang="en-US" sz="4267"/>
          </a:p>
        </p:txBody>
      </p:sp>
      <p:sp>
        <p:nvSpPr>
          <p:cNvPr id="5" name="Text 2"/>
          <p:cNvSpPr/>
          <p:nvPr/>
        </p:nvSpPr>
        <p:spPr>
          <a:xfrm>
            <a:off x="8940114" y="1711412"/>
            <a:ext cx="3249828" cy="2229980"/>
          </a:xfrm>
          <a:prstGeom prst="rect">
            <a:avLst/>
          </a:prstGeom>
          <a:noFill/>
          <a:ln/>
        </p:spPr>
        <p:txBody>
          <a:bodyPr wrap="square" lIns="91440" tIns="45720" rIns="91440" bIns="4572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spcAft>
                <a:spcPts val="800"/>
              </a:spcAft>
              <a:buSzPct val="100000"/>
              <a:buChar char="•"/>
            </a:pPr>
            <a:r>
              <a:rPr lang="en-US" sz="2000">
                <a:solidFill>
                  <a:srgbClr val="1A1A1A"/>
                </a:solidFill>
                <a:latin typeface="Calibri"/>
                <a:ea typeface="Calibri"/>
                <a:cs typeface="Calibri"/>
              </a:rPr>
              <a:t>Alternate: update D for one or more steps, then update G for one step</a:t>
            </a:r>
            <a:endParaRPr lang="en-US" sz="2000">
              <a:latin typeface="Calibri"/>
              <a:ea typeface="Calibri"/>
              <a:cs typeface="Calibri"/>
            </a:endParaRPr>
          </a:p>
          <a:p>
            <a:pPr marL="456565" indent="-456565">
              <a:spcAft>
                <a:spcPts val="800"/>
              </a:spcAft>
              <a:buSzPct val="100000"/>
              <a:buChar char="•"/>
            </a:pPr>
            <a:r>
              <a:rPr lang="en-US" sz="2000">
                <a:solidFill>
                  <a:srgbClr val="CC0000"/>
                </a:solidFill>
                <a:latin typeface="Calibri"/>
                <a:ea typeface="Calibri"/>
                <a:cs typeface="Calibri"/>
              </a:rPr>
              <a:t>Goal: Nash equilibrium — neither player can unilaterally improve</a:t>
            </a:r>
            <a:endParaRPr lang="en-US" sz="1800">
              <a:solidFill>
                <a:srgbClr val="CC0000"/>
              </a:solidFill>
              <a:latin typeface="Calibri"/>
              <a:ea typeface="Calibri"/>
              <a:cs typeface="Calibri"/>
            </a:endParaRPr>
          </a:p>
          <a:p>
            <a:pPr marL="456565" indent="-456565">
              <a:spcAft>
                <a:spcPts val="800"/>
              </a:spcAft>
              <a:buSzPct val="100000"/>
              <a:buChar char="•"/>
            </a:pPr>
            <a:r>
              <a:rPr lang="en-US" sz="1800" b="1">
                <a:solidFill>
                  <a:srgbClr val="333333"/>
                </a:solidFill>
                <a:latin typeface="Calibri"/>
                <a:ea typeface="Calibri"/>
                <a:cs typeface="Calibri"/>
              </a:rPr>
              <a:t>Convergence</a:t>
            </a:r>
            <a:r>
              <a:rPr lang="en-US" sz="1800" b="1">
                <a:solidFill>
                  <a:srgbClr val="333333"/>
                </a:solidFill>
                <a:ea typeface="Calibri" panose="020F0502020204030204"/>
                <a:cs typeface="Calibri" panose="020F0502020204030204"/>
              </a:rPr>
              <a:t>: D(x) = ½ for all x — perfect uncertainty</a:t>
            </a:r>
            <a:endParaRPr lang="en-US" sz="1800">
              <a:solidFill>
                <a:srgbClr val="CC0000"/>
              </a:solidFill>
              <a:ea typeface="Calibri" panose="020F0502020204030204"/>
              <a:cs typeface="Calibri" panose="020F0502020204030204"/>
            </a:endParaRPr>
          </a:p>
          <a:p>
            <a:pPr marL="456565" indent="-456565">
              <a:spcAft>
                <a:spcPts val="800"/>
              </a:spcAft>
              <a:buSzPct val="100000"/>
              <a:buFont typeface="Arial"/>
              <a:buChar char="•"/>
            </a:pPr>
            <a:endParaRPr lang="en-US" sz="1400">
              <a:solidFill>
                <a:srgbClr val="000000"/>
              </a:solidFill>
              <a:ea typeface="Calibri" panose="020F0502020204030204"/>
              <a:cs typeface="Calibri" panose="020F0502020204030204"/>
            </a:endParaRPr>
          </a:p>
        </p:txBody>
      </p:sp>
      <p:pic>
        <p:nvPicPr>
          <p:cNvPr id="8" name="Picture 7" descr="A diagram of a graph&#10;&#10;AI-generated content may be incorrect.">
            <a:extLst>
              <a:ext uri="{FF2B5EF4-FFF2-40B4-BE49-F238E27FC236}">
                <a16:creationId xmlns:a16="http://schemas.microsoft.com/office/drawing/2014/main" id="{97D07218-09A8-4AB0-221F-877FB36B6431}"/>
              </a:ext>
            </a:extLst>
          </p:cNvPr>
          <p:cNvPicPr>
            <a:picLocks noChangeAspect="1"/>
          </p:cNvPicPr>
          <p:nvPr/>
        </p:nvPicPr>
        <p:blipFill>
          <a:blip r:embed="rId3"/>
          <a:stretch>
            <a:fillRect/>
          </a:stretch>
        </p:blipFill>
        <p:spPr>
          <a:xfrm>
            <a:off x="248937" y="1031016"/>
            <a:ext cx="8687314" cy="5763911"/>
          </a:xfrm>
          <a:prstGeom prst="rect">
            <a:avLst/>
          </a:prstGeom>
        </p:spPr>
      </p:pic>
    </p:spTree>
    <p:extLst>
      <p:ext uri="{BB962C8B-B14F-4D97-AF65-F5344CB8AC3E}">
        <p14:creationId xmlns:p14="http://schemas.microsoft.com/office/powerpoint/2010/main" val="1691290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268224"/>
            <a:ext cx="1097280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267">
                <a:solidFill>
                  <a:srgbClr val="1A1A1A"/>
                </a:solidFill>
                <a:latin typeface="Calibri" pitchFamily="34" charset="0"/>
                <a:ea typeface="Calibri" pitchFamily="34" charset="-122"/>
                <a:cs typeface="Calibri" pitchFamily="34" charset="-120"/>
              </a:rPr>
              <a:t>Nash equilibrium in GAN training</a:t>
            </a:r>
            <a:endParaRPr lang="en-US" sz="4267"/>
          </a:p>
        </p:txBody>
      </p:sp>
      <p:sp>
        <p:nvSpPr>
          <p:cNvPr id="4" name="Text 2"/>
          <p:cNvSpPr/>
          <p:nvPr/>
        </p:nvSpPr>
        <p:spPr>
          <a:xfrm>
            <a:off x="609600" y="1219200"/>
            <a:ext cx="10972800" cy="5364480"/>
          </a:xfrm>
          <a:prstGeom prst="rect">
            <a:avLst/>
          </a:prstGeom>
          <a:noFill/>
          <a:ln/>
        </p:spPr>
        <p:txBody>
          <a:bodyPr wrap="square" lIns="91440" tIns="45720" rIns="91440" bIns="4572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2533">
                <a:solidFill>
                  <a:srgbClr val="1A1A1A"/>
                </a:solidFill>
                <a:latin typeface="Calibri" pitchFamily="34" charset="0"/>
                <a:ea typeface="Calibri" pitchFamily="34" charset="-122"/>
                <a:cs typeface="Calibri" pitchFamily="34" charset="-120"/>
              </a:rPr>
              <a:t>Technically, the solution to GAN training is a Nash equilibrium</a:t>
            </a:r>
            <a:endParaRPr lang="en-US" sz="2533"/>
          </a:p>
          <a:p>
            <a:pPr marL="457189" indent="-457189">
              <a:spcAft>
                <a:spcPts val="800"/>
              </a:spcAft>
              <a:buSzPct val="100000"/>
              <a:buChar char="•"/>
            </a:pPr>
            <a:r>
              <a:rPr lang="en-US" sz="2533">
                <a:solidFill>
                  <a:srgbClr val="1A1A1A"/>
                </a:solidFill>
                <a:latin typeface="Calibri" pitchFamily="34" charset="0"/>
                <a:ea typeface="Calibri" pitchFamily="34" charset="-122"/>
                <a:cs typeface="Calibri" pitchFamily="34" charset="-120"/>
              </a:rPr>
              <a:t>The optimization algorithm searches for a position that is simultaneously:</a:t>
            </a:r>
            <a:endParaRPr lang="en-US" sz="2533"/>
          </a:p>
          <a:p>
            <a:pPr marL="914377" lvl="1" indent="-457189">
              <a:spcAft>
                <a:spcPts val="400"/>
              </a:spcAft>
              <a:buSzPct val="100000"/>
              <a:buChar char="•"/>
            </a:pPr>
            <a:r>
              <a:rPr lang="en-US" sz="2000">
                <a:solidFill>
                  <a:srgbClr val="1A1A1A"/>
                </a:solidFill>
                <a:latin typeface="Calibri" pitchFamily="34" charset="0"/>
                <a:ea typeface="Calibri" pitchFamily="34" charset="-122"/>
                <a:cs typeface="Calibri" pitchFamily="34" charset="-120"/>
              </a:rPr>
              <a:t>A minimum of L[ϕ] — discriminator cannot improve further</a:t>
            </a:r>
            <a:endParaRPr lang="en-US" sz="2533"/>
          </a:p>
          <a:p>
            <a:pPr marL="913765" lvl="1" indent="-456565">
              <a:spcAft>
                <a:spcPts val="400"/>
              </a:spcAft>
              <a:buSzPct val="100000"/>
              <a:buChar char="•"/>
            </a:pPr>
            <a:r>
              <a:rPr lang="en-US" sz="2000">
                <a:solidFill>
                  <a:srgbClr val="1A1A1A"/>
                </a:solidFill>
                <a:latin typeface="Calibri"/>
                <a:ea typeface="Calibri"/>
                <a:cs typeface="Calibri"/>
              </a:rPr>
              <a:t>A maximum of the generator objective — generator cannot improve further</a:t>
            </a:r>
            <a:endParaRPr lang="en-US" sz="2533">
              <a:latin typeface="Calibri"/>
              <a:ea typeface="Calibri"/>
              <a:cs typeface="Calibri"/>
            </a:endParaRPr>
          </a:p>
          <a:p>
            <a:pPr marL="457189" indent="-457189">
              <a:spcAft>
                <a:spcPts val="800"/>
              </a:spcAft>
              <a:buSzPct val="100000"/>
              <a:buChar char="•"/>
            </a:pPr>
            <a:r>
              <a:rPr lang="en-US" sz="2533">
                <a:solidFill>
                  <a:srgbClr val="CC0000"/>
                </a:solidFill>
                <a:latin typeface="Calibri" pitchFamily="34" charset="0"/>
                <a:ea typeface="Calibri" pitchFamily="34" charset="-122"/>
                <a:cs typeface="Calibri" pitchFamily="34" charset="-120"/>
              </a:rPr>
              <a:t>Upon convergence: g[z, θ] generates samples from the same distribution as the data</a:t>
            </a:r>
            <a:endParaRPr lang="en-US" sz="2533"/>
          </a:p>
          <a:p>
            <a:pPr marL="457189" indent="-457189">
              <a:spcAft>
                <a:spcPts val="800"/>
              </a:spcAft>
              <a:buSzPct val="100000"/>
              <a:buChar char="•"/>
            </a:pPr>
            <a:r>
              <a:rPr lang="en-US" sz="2533">
                <a:solidFill>
                  <a:srgbClr val="CC0000"/>
                </a:solidFill>
                <a:latin typeface="Calibri" pitchFamily="34" charset="0"/>
                <a:ea typeface="Calibri" pitchFamily="34" charset="-122"/>
                <a:cs typeface="Calibri" pitchFamily="34" charset="-120"/>
              </a:rPr>
              <a:t>Upon convergence: sig[f[•, ϕ]] = 0.5 everywhere — discriminator is at chance</a:t>
            </a:r>
            <a:endParaRPr lang="en-US" sz="2533"/>
          </a:p>
          <a:p>
            <a:pPr marL="456565" indent="-456565">
              <a:spcAft>
                <a:spcPts val="800"/>
              </a:spcAft>
              <a:buSzPct val="100000"/>
              <a:buChar char="•"/>
            </a:pPr>
            <a:r>
              <a:rPr lang="en-US" sz="2500">
                <a:solidFill>
                  <a:srgbClr val="1A1A1A"/>
                </a:solidFill>
                <a:latin typeface="Calibri"/>
                <a:ea typeface="Calibri"/>
                <a:cs typeface="Calibri"/>
              </a:rPr>
              <a:t>In practice: true Nash equilibria are hard to find; </a:t>
            </a:r>
            <a:r>
              <a:rPr lang="en-US" sz="2500" b="1">
                <a:solidFill>
                  <a:srgbClr val="1A1A1A"/>
                </a:solidFill>
                <a:latin typeface="Calibri"/>
                <a:ea typeface="Calibri"/>
                <a:cs typeface="Calibri"/>
              </a:rPr>
              <a:t>GAN training can be unstable</a:t>
            </a:r>
            <a:endParaRPr lang="en-US" sz="2500" b="1">
              <a:latin typeface="Calibri"/>
              <a:ea typeface="Calibri"/>
              <a:cs typeface="Calibri"/>
            </a:endParaRPr>
          </a:p>
        </p:txBody>
      </p:sp>
    </p:spTree>
    <p:extLst>
      <p:ext uri="{BB962C8B-B14F-4D97-AF65-F5344CB8AC3E}">
        <p14:creationId xmlns:p14="http://schemas.microsoft.com/office/powerpoint/2010/main" val="4208159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2194560"/>
            <a:ext cx="10972800" cy="121920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5067">
                <a:solidFill>
                  <a:srgbClr val="1A1A1A"/>
                </a:solidFill>
                <a:latin typeface="Calibri" pitchFamily="34" charset="0"/>
                <a:ea typeface="Calibri" pitchFamily="34" charset="-122"/>
                <a:cs typeface="Calibri" pitchFamily="34" charset="-120"/>
              </a:rPr>
              <a:t>Improving Stability</a:t>
            </a:r>
            <a:endParaRPr lang="en-US" sz="5067"/>
          </a:p>
        </p:txBody>
      </p:sp>
      <p:sp>
        <p:nvSpPr>
          <p:cNvPr id="3" name="Text 1"/>
          <p:cNvSpPr/>
          <p:nvPr/>
        </p:nvSpPr>
        <p:spPr>
          <a:xfrm>
            <a:off x="609600" y="3535680"/>
            <a:ext cx="10972800" cy="609600"/>
          </a:xfrm>
          <a:prstGeom prst="rect">
            <a:avLst/>
          </a:prstGeom>
          <a:noFill/>
          <a:ln/>
        </p:spPr>
        <p:txBody>
          <a:bodyPr wrap="square" lIns="91440" tIns="45720" rIns="91440" bIns="4572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a:solidFill>
                  <a:srgbClr val="555555"/>
                </a:solidFill>
                <a:latin typeface="Calibri"/>
                <a:ea typeface="Calibri"/>
                <a:cs typeface="Calibri"/>
              </a:rPr>
              <a:t>Section 15.2 — Analysis, Vanishing </a:t>
            </a:r>
            <a:r>
              <a:rPr lang="en-US">
                <a:solidFill>
                  <a:srgbClr val="555555"/>
                </a:solidFill>
                <a:latin typeface="Calibri"/>
                <a:ea typeface="Calibri"/>
                <a:cs typeface="Calibri"/>
              </a:rPr>
              <a:t>Gradients</a:t>
            </a:r>
            <a:endParaRPr lang="en-US" sz="2400"/>
          </a:p>
        </p:txBody>
      </p:sp>
    </p:spTree>
    <p:extLst>
      <p:ext uri="{BB962C8B-B14F-4D97-AF65-F5344CB8AC3E}">
        <p14:creationId xmlns:p14="http://schemas.microsoft.com/office/powerpoint/2010/main" val="3230533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268224"/>
            <a:ext cx="1097280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267">
                <a:solidFill>
                  <a:srgbClr val="1A1A1A"/>
                </a:solidFill>
                <a:latin typeface="Calibri" pitchFamily="34" charset="0"/>
                <a:ea typeface="Calibri" pitchFamily="34" charset="-122"/>
                <a:cs typeface="Calibri" pitchFamily="34" charset="-120"/>
              </a:rPr>
              <a:t>Analysis of GAN loss — expectation form</a:t>
            </a:r>
            <a:endParaRPr lang="en-US" sz="4267"/>
          </a:p>
        </p:txBody>
      </p:sp>
      <p:sp>
        <p:nvSpPr>
          <p:cNvPr id="4" name="Text 2"/>
          <p:cNvSpPr/>
          <p:nvPr/>
        </p:nvSpPr>
        <p:spPr>
          <a:xfrm>
            <a:off x="609600" y="1219200"/>
            <a:ext cx="10972800" cy="54864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2400">
                <a:solidFill>
                  <a:srgbClr val="1A1A1A"/>
                </a:solidFill>
                <a:latin typeface="Calibri" pitchFamily="34" charset="0"/>
                <a:ea typeface="Calibri" pitchFamily="34" charset="-122"/>
                <a:cs typeface="Calibri" pitchFamily="34" charset="-120"/>
              </a:rPr>
              <a:t>Dividing the sums in eq. 15.3 by I, J (number of samples) gives an expectation form:</a:t>
            </a:r>
            <a:endParaRPr lang="en-US" sz="2400"/>
          </a:p>
        </p:txBody>
      </p:sp>
      <p:sp>
        <p:nvSpPr>
          <p:cNvPr id="7" name="Text 5"/>
          <p:cNvSpPr/>
          <p:nvPr/>
        </p:nvSpPr>
        <p:spPr>
          <a:xfrm>
            <a:off x="959708" y="4074435"/>
            <a:ext cx="10972800" cy="48768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2400">
                <a:solidFill>
                  <a:srgbClr val="1A1A1A"/>
                </a:solidFill>
                <a:latin typeface="Calibri" pitchFamily="34" charset="0"/>
                <a:ea typeface="Calibri" pitchFamily="34" charset="-122"/>
                <a:cs typeface="Calibri" pitchFamily="34" charset="-120"/>
              </a:rPr>
              <a:t>The optimal discriminator for any fixed generator is:</a:t>
            </a:r>
            <a:endParaRPr lang="en-US" sz="2400"/>
          </a:p>
        </p:txBody>
      </p:sp>
      <p:sp>
        <p:nvSpPr>
          <p:cNvPr id="9" name="Text 7"/>
          <p:cNvSpPr/>
          <p:nvPr/>
        </p:nvSpPr>
        <p:spPr>
          <a:xfrm>
            <a:off x="959708" y="5415555"/>
            <a:ext cx="109728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i="1">
                <a:solidFill>
                  <a:srgbClr val="888888"/>
                </a:solidFill>
                <a:latin typeface="Calibri" pitchFamily="34" charset="0"/>
                <a:ea typeface="Calibri" pitchFamily="34" charset="-122"/>
                <a:cs typeface="Calibri" pitchFamily="34" charset="-120"/>
              </a:rPr>
              <a:t>Equation 15.7 — optimal discriminator as a function of the two distributions</a:t>
            </a:r>
            <a:endParaRPr lang="en-US" sz="1467"/>
          </a:p>
        </p:txBody>
      </p:sp>
      <p:sp>
        <p:nvSpPr>
          <p:cNvPr id="10" name="Text 8"/>
          <p:cNvSpPr/>
          <p:nvPr/>
        </p:nvSpPr>
        <p:spPr>
          <a:xfrm>
            <a:off x="1000897" y="5865341"/>
            <a:ext cx="10972800" cy="60960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2267">
                <a:solidFill>
                  <a:srgbClr val="1A1A1A"/>
                </a:solidFill>
                <a:latin typeface="Calibri" pitchFamily="34" charset="0"/>
                <a:ea typeface="Calibri" pitchFamily="34" charset="-122"/>
                <a:cs typeface="Calibri" pitchFamily="34" charset="-120"/>
              </a:rPr>
              <a:t>This means: the discriminator tells us the relative probability of x being real vs. generated</a:t>
            </a:r>
            <a:endParaRPr lang="en-US" sz="2267"/>
          </a:p>
        </p:txBody>
      </p:sp>
      <p:pic>
        <p:nvPicPr>
          <p:cNvPr id="11" name="Picture 10" descr="A group of math symbols">
            <a:extLst>
              <a:ext uri="{FF2B5EF4-FFF2-40B4-BE49-F238E27FC236}">
                <a16:creationId xmlns:a16="http://schemas.microsoft.com/office/drawing/2014/main" id="{F635767A-7946-6A8A-FE5A-0EA699509E69}"/>
              </a:ext>
            </a:extLst>
          </p:cNvPr>
          <p:cNvPicPr>
            <a:picLocks noChangeAspect="1"/>
          </p:cNvPicPr>
          <p:nvPr/>
        </p:nvPicPr>
        <p:blipFill>
          <a:blip r:embed="rId3"/>
          <a:stretch>
            <a:fillRect/>
          </a:stretch>
        </p:blipFill>
        <p:spPr>
          <a:xfrm>
            <a:off x="1933575" y="1772165"/>
            <a:ext cx="8324850" cy="2057400"/>
          </a:xfrm>
          <a:prstGeom prst="rect">
            <a:avLst/>
          </a:prstGeom>
        </p:spPr>
      </p:pic>
      <p:pic>
        <p:nvPicPr>
          <p:cNvPr id="12" name="Picture 11" descr="A black text with a white background&#10;&#10;AI-generated content may be incorrect.">
            <a:extLst>
              <a:ext uri="{FF2B5EF4-FFF2-40B4-BE49-F238E27FC236}">
                <a16:creationId xmlns:a16="http://schemas.microsoft.com/office/drawing/2014/main" id="{5801CF1C-80D9-EBD1-1829-6AE7E5A6BBC5}"/>
              </a:ext>
            </a:extLst>
          </p:cNvPr>
          <p:cNvPicPr>
            <a:picLocks noChangeAspect="1"/>
          </p:cNvPicPr>
          <p:nvPr/>
        </p:nvPicPr>
        <p:blipFill>
          <a:blip r:embed="rId4"/>
          <a:stretch>
            <a:fillRect/>
          </a:stretch>
        </p:blipFill>
        <p:spPr>
          <a:xfrm>
            <a:off x="2559136" y="4575089"/>
            <a:ext cx="6991350" cy="838200"/>
          </a:xfrm>
          <a:prstGeom prst="rect">
            <a:avLst/>
          </a:prstGeom>
        </p:spPr>
      </p:pic>
    </p:spTree>
    <p:extLst>
      <p:ext uri="{BB962C8B-B14F-4D97-AF65-F5344CB8AC3E}">
        <p14:creationId xmlns:p14="http://schemas.microsoft.com/office/powerpoint/2010/main" val="3420267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268224"/>
            <a:ext cx="1097280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267">
                <a:solidFill>
                  <a:srgbClr val="1A1A1A"/>
                </a:solidFill>
                <a:latin typeface="Calibri" pitchFamily="34" charset="0"/>
                <a:ea typeface="Calibri" pitchFamily="34" charset="-122"/>
                <a:cs typeface="Calibri" pitchFamily="34" charset="-120"/>
              </a:rPr>
              <a:t>Jensen–Shannon divergence</a:t>
            </a:r>
            <a:endParaRPr lang="en-US" sz="4267"/>
          </a:p>
        </p:txBody>
      </p:sp>
      <p:sp>
        <p:nvSpPr>
          <p:cNvPr id="4" name="Text 2"/>
          <p:cNvSpPr/>
          <p:nvPr/>
        </p:nvSpPr>
        <p:spPr>
          <a:xfrm>
            <a:off x="609600" y="1219200"/>
            <a:ext cx="10972800" cy="48768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2400">
                <a:solidFill>
                  <a:srgbClr val="1A1A1A"/>
                </a:solidFill>
                <a:latin typeface="Calibri" pitchFamily="34" charset="0"/>
                <a:ea typeface="Calibri" pitchFamily="34" charset="-122"/>
                <a:cs typeface="Calibri" pitchFamily="34" charset="-120"/>
              </a:rPr>
              <a:t>Substituting the optimal discriminator into L[ϕ] and simplifying:</a:t>
            </a:r>
            <a:endParaRPr lang="en-US" sz="2400"/>
          </a:p>
        </p:txBody>
      </p:sp>
      <p:sp>
        <p:nvSpPr>
          <p:cNvPr id="5" name="Text 3"/>
          <p:cNvSpPr/>
          <p:nvPr/>
        </p:nvSpPr>
        <p:spPr>
          <a:xfrm>
            <a:off x="609600" y="1889760"/>
            <a:ext cx="2299855" cy="1188720"/>
          </a:xfrm>
          <a:prstGeom prst="rect">
            <a:avLst/>
          </a:prstGeom>
          <a:noFill/>
          <a:ln/>
        </p:spPr>
        <p:txBody>
          <a:bodyPr wrap="square" lIns="91440" tIns="45720" rIns="91440" bIns="4572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50">
                <a:solidFill>
                  <a:srgbClr val="1A1A1A"/>
                </a:solidFill>
                <a:latin typeface="Cambria"/>
                <a:ea typeface="Cambria"/>
                <a:cs typeface="Cambria" pitchFamily="34" charset="-120"/>
              </a:rPr>
              <a:t>L[ϕ]</a:t>
            </a:r>
          </a:p>
          <a:p>
            <a:pPr algn="ctr"/>
            <a:endParaRPr lang="en-US" sz="1850">
              <a:solidFill>
                <a:srgbClr val="1A1A1A"/>
              </a:solidFill>
              <a:latin typeface="Cambria"/>
              <a:ea typeface="Cambria"/>
            </a:endParaRPr>
          </a:p>
          <a:p>
            <a:pPr algn="ctr"/>
            <a:endParaRPr lang="en-US" sz="1850">
              <a:solidFill>
                <a:srgbClr val="1A1A1A"/>
              </a:solidFill>
              <a:latin typeface="Cambria"/>
              <a:ea typeface="Cambria"/>
            </a:endParaRPr>
          </a:p>
        </p:txBody>
      </p:sp>
      <p:sp>
        <p:nvSpPr>
          <p:cNvPr id="6" name="Text 4"/>
          <p:cNvSpPr/>
          <p:nvPr/>
        </p:nvSpPr>
        <p:spPr>
          <a:xfrm>
            <a:off x="609600" y="2621280"/>
            <a:ext cx="10972800" cy="48768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2400">
                <a:solidFill>
                  <a:srgbClr val="1A1A1A"/>
                </a:solidFill>
                <a:latin typeface="Calibri" pitchFamily="34" charset="0"/>
                <a:ea typeface="Calibri" pitchFamily="34" charset="-122"/>
                <a:cs typeface="Calibri" pitchFamily="34" charset="-120"/>
              </a:rPr>
              <a:t>Ignoring additive/multiplicative constants, this is the Jensen–Shannon divergence:</a:t>
            </a:r>
            <a:endParaRPr lang="en-US" sz="2400"/>
          </a:p>
        </p:txBody>
      </p:sp>
      <p:sp>
        <p:nvSpPr>
          <p:cNvPr id="8" name="Text 6"/>
          <p:cNvSpPr/>
          <p:nvPr/>
        </p:nvSpPr>
        <p:spPr>
          <a:xfrm>
            <a:off x="609600" y="4471386"/>
            <a:ext cx="10972800" cy="2438400"/>
          </a:xfrm>
          <a:prstGeom prst="rect">
            <a:avLst/>
          </a:prstGeom>
          <a:noFill/>
          <a:ln/>
        </p:spPr>
        <p:txBody>
          <a:bodyPr wrap="square" lIns="91440" tIns="45720" rIns="91440" bIns="4572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2267">
                <a:solidFill>
                  <a:srgbClr val="1A1A1A"/>
                </a:solidFill>
                <a:latin typeface="Calibri" pitchFamily="34" charset="0"/>
                <a:ea typeface="Calibri" pitchFamily="34" charset="-122"/>
                <a:cs typeface="Calibri" pitchFamily="34" charset="-120"/>
              </a:rPr>
              <a:t>The two KL terms have interpretations:</a:t>
            </a:r>
            <a:endParaRPr lang="en-US" sz="2267"/>
          </a:p>
          <a:p>
            <a:pPr marL="914377" lvl="1" indent="-457189">
              <a:spcAft>
                <a:spcPts val="400"/>
              </a:spcAft>
              <a:buSzPct val="100000"/>
              <a:buChar char="•"/>
            </a:pPr>
            <a:r>
              <a:rPr lang="en-US" sz="1867">
                <a:solidFill>
                  <a:srgbClr val="1A1A1A"/>
                </a:solidFill>
                <a:latin typeface="Calibri" pitchFamily="34" charset="0"/>
                <a:ea typeface="Calibri" pitchFamily="34" charset="-122"/>
                <a:cs typeface="Calibri" pitchFamily="34" charset="-120"/>
              </a:rPr>
              <a:t>First term (quality): penalizes generated samples in regions with no real data</a:t>
            </a:r>
            <a:endParaRPr lang="en-US" sz="2267"/>
          </a:p>
          <a:p>
            <a:pPr marL="914377" lvl="1" indent="-457189">
              <a:spcAft>
                <a:spcPts val="400"/>
              </a:spcAft>
              <a:buSzPct val="100000"/>
              <a:buChar char="•"/>
            </a:pPr>
            <a:r>
              <a:rPr lang="en-US" sz="1867">
                <a:solidFill>
                  <a:srgbClr val="1A1A1A"/>
                </a:solidFill>
                <a:latin typeface="Calibri" pitchFamily="34" charset="0"/>
                <a:ea typeface="Calibri" pitchFamily="34" charset="-122"/>
                <a:cs typeface="Calibri" pitchFamily="34" charset="-120"/>
              </a:rPr>
              <a:t>Second term (coverage): penalizes real data regions with no generated samples</a:t>
            </a:r>
            <a:endParaRPr lang="en-US" sz="2267"/>
          </a:p>
          <a:p>
            <a:pPr marL="456565" indent="-456565">
              <a:spcAft>
                <a:spcPts val="800"/>
              </a:spcAft>
              <a:buSzPct val="100000"/>
              <a:buChar char="•"/>
            </a:pPr>
            <a:r>
              <a:rPr lang="en-US" sz="2267">
                <a:solidFill>
                  <a:srgbClr val="CC0000"/>
                </a:solidFill>
                <a:latin typeface="Calibri" pitchFamily="34" charset="0"/>
                <a:ea typeface="Calibri" pitchFamily="34" charset="-122"/>
                <a:cs typeface="Calibri" pitchFamily="34" charset="-120"/>
              </a:rPr>
              <a:t>The second term does not depend on the generator — GAN does not enforce coverage → mode dropping</a:t>
            </a:r>
            <a:endParaRPr lang="en-US" sz="2267">
              <a:ea typeface="Calibri" panose="020F0502020204030204"/>
              <a:cs typeface="Calibri" panose="020F0502020204030204"/>
            </a:endParaRPr>
          </a:p>
        </p:txBody>
      </p:sp>
      <p:pic>
        <p:nvPicPr>
          <p:cNvPr id="9" name="Picture 8" descr="A black text on a white background&#10;&#10;AI-generated content may be incorrect.">
            <a:extLst>
              <a:ext uri="{FF2B5EF4-FFF2-40B4-BE49-F238E27FC236}">
                <a16:creationId xmlns:a16="http://schemas.microsoft.com/office/drawing/2014/main" id="{1F4E5536-35DB-E187-D4DB-9A39367C5E83}"/>
              </a:ext>
            </a:extLst>
          </p:cNvPr>
          <p:cNvPicPr>
            <a:picLocks noChangeAspect="1"/>
          </p:cNvPicPr>
          <p:nvPr/>
        </p:nvPicPr>
        <p:blipFill>
          <a:blip r:embed="rId3"/>
          <a:stretch>
            <a:fillRect/>
          </a:stretch>
        </p:blipFill>
        <p:spPr>
          <a:xfrm>
            <a:off x="2059202" y="1829057"/>
            <a:ext cx="7867650" cy="666750"/>
          </a:xfrm>
          <a:prstGeom prst="rect">
            <a:avLst/>
          </a:prstGeom>
        </p:spPr>
      </p:pic>
      <p:pic>
        <p:nvPicPr>
          <p:cNvPr id="10" name="Picture 9" descr="A close up of a number&#10;&#10;AI-generated content may be incorrect.">
            <a:extLst>
              <a:ext uri="{FF2B5EF4-FFF2-40B4-BE49-F238E27FC236}">
                <a16:creationId xmlns:a16="http://schemas.microsoft.com/office/drawing/2014/main" id="{BF5B14D5-1E02-DCF7-4989-FB58FC8920D4}"/>
              </a:ext>
            </a:extLst>
          </p:cNvPr>
          <p:cNvPicPr>
            <a:picLocks noChangeAspect="1"/>
          </p:cNvPicPr>
          <p:nvPr/>
        </p:nvPicPr>
        <p:blipFill>
          <a:blip r:embed="rId4"/>
          <a:srcRect r="-3771" b="4000"/>
          <a:stretch>
            <a:fillRect/>
          </a:stretch>
        </p:blipFill>
        <p:spPr>
          <a:xfrm>
            <a:off x="611332" y="3432464"/>
            <a:ext cx="2411743" cy="658368"/>
          </a:xfrm>
          <a:prstGeom prst="rect">
            <a:avLst/>
          </a:prstGeom>
        </p:spPr>
      </p:pic>
      <p:pic>
        <p:nvPicPr>
          <p:cNvPr id="11" name="Picture 10" descr="A math equations with numbers and symbols&#10;&#10;AI-generated content may be incorrect.">
            <a:extLst>
              <a:ext uri="{FF2B5EF4-FFF2-40B4-BE49-F238E27FC236}">
                <a16:creationId xmlns:a16="http://schemas.microsoft.com/office/drawing/2014/main" id="{91944BC0-144D-FB08-C508-267707E9D231}"/>
              </a:ext>
            </a:extLst>
          </p:cNvPr>
          <p:cNvPicPr>
            <a:picLocks noChangeAspect="1"/>
          </p:cNvPicPr>
          <p:nvPr/>
        </p:nvPicPr>
        <p:blipFill>
          <a:blip r:embed="rId5"/>
          <a:srcRect r="134" b="5000"/>
          <a:stretch>
            <a:fillRect/>
          </a:stretch>
        </p:blipFill>
        <p:spPr>
          <a:xfrm>
            <a:off x="3222914" y="3430732"/>
            <a:ext cx="8256646" cy="104965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268224"/>
            <a:ext cx="1097280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267">
                <a:solidFill>
                  <a:srgbClr val="1A1A1A"/>
                </a:solidFill>
                <a:latin typeface="Calibri" pitchFamily="34" charset="0"/>
                <a:ea typeface="Calibri" pitchFamily="34" charset="-122"/>
                <a:cs typeface="Calibri" pitchFamily="34" charset="-120"/>
              </a:rPr>
              <a:t>Quality vs. coverage in the GAN loss</a:t>
            </a:r>
            <a:endParaRPr lang="en-US" sz="4267"/>
          </a:p>
        </p:txBody>
      </p:sp>
      <p:sp>
        <p:nvSpPr>
          <p:cNvPr id="3" name="Text 1"/>
          <p:cNvSpPr/>
          <p:nvPr/>
        </p:nvSpPr>
        <p:spPr>
          <a:xfrm>
            <a:off x="11216640" y="6461760"/>
            <a:ext cx="731520" cy="341376"/>
          </a:xfrm>
          <a:prstGeom prst="rect">
            <a:avLst/>
          </a:prstGeom>
          <a:noFill/>
          <a:ln/>
        </p:spPr>
        <p:txBody>
          <a:bodyPr wrap="square" lIns="91440" tIns="45720" rIns="91440" bIns="4572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endParaRPr lang="en-US" sz="1450">
              <a:solidFill>
                <a:srgbClr val="888888"/>
              </a:solidFill>
              <a:ea typeface="Calibri"/>
              <a:cs typeface="Calibri"/>
            </a:endParaRPr>
          </a:p>
        </p:txBody>
      </p:sp>
      <p:pic>
        <p:nvPicPr>
          <p:cNvPr id="4" name="Image 0" descr="preencoded.png"/>
          <p:cNvPicPr>
            <a:picLocks noChangeAspect="1"/>
          </p:cNvPicPr>
          <p:nvPr/>
        </p:nvPicPr>
        <p:blipFill>
          <a:blip r:embed="rId3"/>
          <a:srcRect/>
          <a:stretch/>
        </p:blipFill>
        <p:spPr>
          <a:xfrm>
            <a:off x="365760" y="1219200"/>
            <a:ext cx="11460480" cy="3657600"/>
          </a:xfrm>
          <a:prstGeom prst="rect">
            <a:avLst/>
          </a:prstGeom>
        </p:spPr>
      </p:pic>
      <p:sp>
        <p:nvSpPr>
          <p:cNvPr id="5" name="Text 2"/>
          <p:cNvSpPr/>
          <p:nvPr/>
        </p:nvSpPr>
        <p:spPr>
          <a:xfrm>
            <a:off x="609600" y="4998720"/>
            <a:ext cx="10972800" cy="109728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2267">
                <a:solidFill>
                  <a:srgbClr val="1A1A1A"/>
                </a:solidFill>
                <a:latin typeface="Calibri" pitchFamily="34" charset="0"/>
                <a:ea typeface="Calibri" pitchFamily="34" charset="-122"/>
                <a:cs typeface="Calibri" pitchFamily="34" charset="-120"/>
              </a:rPr>
              <a:t>The generator is trained on the quality term only — coverage is not penalized</a:t>
            </a:r>
            <a:endParaRPr lang="en-US" sz="2267"/>
          </a:p>
          <a:p>
            <a:pPr marL="457189" indent="-457189">
              <a:spcAft>
                <a:spcPts val="800"/>
              </a:spcAft>
              <a:buSzPct val="100000"/>
              <a:buChar char="•"/>
            </a:pPr>
            <a:r>
              <a:rPr lang="en-US" sz="2267">
                <a:solidFill>
                  <a:srgbClr val="CC0000"/>
                </a:solidFill>
                <a:latin typeface="Calibri" pitchFamily="34" charset="0"/>
                <a:ea typeface="Calibri" pitchFamily="34" charset="-122"/>
                <a:cs typeface="Calibri" pitchFamily="34" charset="-120"/>
              </a:rPr>
              <a:t>This explains why GANs are prone to mode dropping: they can "get away with" missing modes</a:t>
            </a:r>
            <a:endParaRPr lang="en-US" sz="2267"/>
          </a:p>
        </p:txBody>
      </p:sp>
    </p:spTree>
    <p:extLst>
      <p:ext uri="{BB962C8B-B14F-4D97-AF65-F5344CB8AC3E}">
        <p14:creationId xmlns:p14="http://schemas.microsoft.com/office/powerpoint/2010/main" val="3407952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268224"/>
            <a:ext cx="1097280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267">
                <a:solidFill>
                  <a:srgbClr val="1A1A1A"/>
                </a:solidFill>
                <a:latin typeface="Calibri" pitchFamily="34" charset="0"/>
                <a:ea typeface="Calibri" pitchFamily="34" charset="-122"/>
                <a:cs typeface="Calibri" pitchFamily="34" charset="-120"/>
              </a:rPr>
              <a:t>Vanishing gradients</a:t>
            </a:r>
            <a:endParaRPr lang="en-US" sz="4267"/>
          </a:p>
        </p:txBody>
      </p:sp>
      <p:sp>
        <p:nvSpPr>
          <p:cNvPr id="4" name="Text 2"/>
          <p:cNvSpPr/>
          <p:nvPr/>
        </p:nvSpPr>
        <p:spPr>
          <a:xfrm>
            <a:off x="609600" y="1219200"/>
            <a:ext cx="10972800" cy="5364480"/>
          </a:xfrm>
          <a:prstGeom prst="rect">
            <a:avLst/>
          </a:prstGeom>
          <a:noFill/>
          <a:ln/>
        </p:spPr>
        <p:txBody>
          <a:bodyPr wrap="square" lIns="91440" tIns="45720" rIns="91440" bIns="4572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spcAft>
                <a:spcPts val="800"/>
              </a:spcAft>
              <a:buSzPct val="100000"/>
              <a:buChar char="•"/>
            </a:pPr>
            <a:r>
              <a:rPr lang="en-US" sz="2400">
                <a:solidFill>
                  <a:srgbClr val="1A1A1A"/>
                </a:solidFill>
                <a:latin typeface="Calibri"/>
                <a:ea typeface="Calibri"/>
                <a:cs typeface="Calibri"/>
              </a:rPr>
              <a:t>Problem: if the two distributions </a:t>
            </a:r>
            <a:r>
              <a:rPr lang="en-US" sz="2400" err="1">
                <a:solidFill>
                  <a:srgbClr val="1A1A1A"/>
                </a:solidFill>
                <a:latin typeface="Calibri"/>
                <a:ea typeface="Calibri"/>
                <a:cs typeface="Calibri"/>
              </a:rPr>
              <a:t>Pr</a:t>
            </a:r>
            <a:r>
              <a:rPr lang="en-US" sz="2400">
                <a:solidFill>
                  <a:srgbClr val="1A1A1A"/>
                </a:solidFill>
                <a:latin typeface="Calibri"/>
                <a:ea typeface="Calibri"/>
                <a:cs typeface="Calibri"/>
              </a:rPr>
              <a:t>(x*) and Pr(x) are disjoint, the JSD is</a:t>
            </a:r>
            <a:r>
              <a:rPr lang="en-US">
                <a:solidFill>
                  <a:srgbClr val="1A1A1A"/>
                </a:solidFill>
                <a:latin typeface="Calibri"/>
                <a:ea typeface="Calibri"/>
                <a:cs typeface="Calibri"/>
              </a:rPr>
              <a:t> log 2 </a:t>
            </a:r>
            <a:r>
              <a:rPr lang="en-US" sz="2400">
                <a:solidFill>
                  <a:srgbClr val="1A1A1A"/>
                </a:solidFill>
                <a:latin typeface="Calibri"/>
                <a:ea typeface="Calibri"/>
                <a:cs typeface="Calibri"/>
              </a:rPr>
              <a:t>(</a:t>
            </a:r>
            <a:r>
              <a:rPr lang="en-US">
                <a:solidFill>
                  <a:srgbClr val="1A1A1A"/>
                </a:solidFill>
                <a:latin typeface="Calibri"/>
                <a:ea typeface="Calibri"/>
                <a:cs typeface="Calibri"/>
              </a:rPr>
              <a:t>a constant</a:t>
            </a:r>
            <a:r>
              <a:rPr lang="en-US" sz="2400">
                <a:solidFill>
                  <a:srgbClr val="1A1A1A"/>
                </a:solidFill>
                <a:latin typeface="Calibri"/>
                <a:ea typeface="Calibri"/>
                <a:cs typeface="Calibri"/>
              </a:rPr>
              <a:t>)</a:t>
            </a:r>
            <a:endParaRPr lang="en-US" sz="2400">
              <a:latin typeface="Calibri"/>
              <a:ea typeface="Calibri"/>
              <a:cs typeface="Calibri"/>
            </a:endParaRPr>
          </a:p>
          <a:p>
            <a:pPr marL="456565" indent="-456565">
              <a:spcAft>
                <a:spcPts val="800"/>
              </a:spcAft>
              <a:buSzPct val="100000"/>
              <a:buChar char="•"/>
            </a:pPr>
            <a:r>
              <a:rPr lang="en-US" sz="2400">
                <a:solidFill>
                  <a:srgbClr val="CC0000"/>
                </a:solidFill>
                <a:latin typeface="Calibri"/>
                <a:ea typeface="Calibri"/>
                <a:cs typeface="Calibri"/>
              </a:rPr>
              <a:t>Any small change to the generator will not decrease the loss — gradient is zero</a:t>
            </a:r>
            <a:endParaRPr lang="en-US" sz="2400">
              <a:latin typeface="Calibri"/>
              <a:ea typeface="Calibri"/>
              <a:cs typeface="Calibri"/>
            </a:endParaRPr>
          </a:p>
          <a:p>
            <a:pPr marL="456565" indent="-456565">
              <a:spcAft>
                <a:spcPts val="800"/>
              </a:spcAft>
              <a:buSzPct val="100000"/>
              <a:buChar char="•"/>
            </a:pPr>
            <a:r>
              <a:rPr lang="en-US" sz="2400">
                <a:solidFill>
                  <a:srgbClr val="1A1A1A"/>
                </a:solidFill>
                <a:latin typeface="Calibri" pitchFamily="34" charset="0"/>
                <a:ea typeface="Calibri" pitchFamily="34" charset="-122"/>
                <a:cs typeface="Calibri" pitchFamily="34" charset="-120"/>
              </a:rPr>
              <a:t>Why distributions may be disjoint:</a:t>
            </a:r>
            <a:endParaRPr lang="en-US" sz="2400">
              <a:ea typeface="Calibri" panose="020F0502020204030204"/>
              <a:cs typeface="Calibri" panose="020F0502020204030204"/>
            </a:endParaRPr>
          </a:p>
          <a:p>
            <a:pPr marL="913765" lvl="1" indent="-456565">
              <a:spcAft>
                <a:spcPts val="400"/>
              </a:spcAft>
              <a:buSzPct val="100000"/>
              <a:buChar char="•"/>
            </a:pPr>
            <a:r>
              <a:rPr lang="en-US" sz="1867">
                <a:solidFill>
                  <a:srgbClr val="1A1A1A"/>
                </a:solidFill>
                <a:latin typeface="Calibri" pitchFamily="34" charset="0"/>
                <a:ea typeface="Calibri" pitchFamily="34" charset="-122"/>
                <a:cs typeface="Calibri" pitchFamily="34" charset="-120"/>
              </a:rPr>
              <a:t>Generated samples lie in a low-dimensional subspace (size of latent z)</a:t>
            </a:r>
            <a:endParaRPr lang="en-US" sz="2400">
              <a:ea typeface="Calibri" panose="020F0502020204030204"/>
              <a:cs typeface="Calibri" panose="020F0502020204030204"/>
            </a:endParaRPr>
          </a:p>
          <a:p>
            <a:pPr marL="913765" lvl="1" indent="-456565">
              <a:spcAft>
                <a:spcPts val="400"/>
              </a:spcAft>
              <a:buSzPct val="100000"/>
              <a:buChar char="•"/>
            </a:pPr>
            <a:r>
              <a:rPr lang="en-US" sz="1867">
                <a:solidFill>
                  <a:srgbClr val="1A1A1A"/>
                </a:solidFill>
                <a:latin typeface="Calibri" pitchFamily="34" charset="0"/>
                <a:ea typeface="Calibri" pitchFamily="34" charset="-122"/>
                <a:cs typeface="Calibri" pitchFamily="34" charset="-120"/>
              </a:rPr>
              <a:t>Real examples also lie in a low-dimensional subspace (natural image manifold)</a:t>
            </a:r>
            <a:endParaRPr lang="en-US" sz="2400">
              <a:ea typeface="Calibri" panose="020F0502020204030204"/>
              <a:cs typeface="Calibri" panose="020F0502020204030204"/>
            </a:endParaRPr>
          </a:p>
          <a:p>
            <a:pPr marL="913765" lvl="1" indent="-456565">
              <a:spcAft>
                <a:spcPts val="400"/>
              </a:spcAft>
              <a:buSzPct val="100000"/>
              <a:buChar char="•"/>
            </a:pPr>
            <a:r>
              <a:rPr lang="en-US" sz="1867">
                <a:solidFill>
                  <a:srgbClr val="1A1A1A"/>
                </a:solidFill>
                <a:latin typeface="Calibri" pitchFamily="34" charset="0"/>
                <a:ea typeface="Calibri" pitchFamily="34" charset="-122"/>
                <a:cs typeface="Calibri" pitchFamily="34" charset="-120"/>
              </a:rPr>
              <a:t>These subspaces may have little or no overlap</a:t>
            </a:r>
            <a:endParaRPr lang="en-US" sz="2400">
              <a:ea typeface="Calibri" panose="020F0502020204030204"/>
              <a:cs typeface="Calibri" panose="020F0502020204030204"/>
            </a:endParaRPr>
          </a:p>
          <a:p>
            <a:pPr marL="456565" indent="-456565">
              <a:spcAft>
                <a:spcPts val="800"/>
              </a:spcAft>
              <a:buSzPct val="100000"/>
              <a:buChar char="•"/>
            </a:pPr>
            <a:r>
              <a:rPr lang="en-US" sz="2400">
                <a:solidFill>
                  <a:srgbClr val="1A1A1A"/>
                </a:solidFill>
                <a:latin typeface="Calibri" pitchFamily="34" charset="0"/>
                <a:ea typeface="Calibri" pitchFamily="34" charset="-122"/>
                <a:cs typeface="Calibri" pitchFamily="34" charset="-120"/>
              </a:rPr>
              <a:t>Empirical evidence: if discriminator is trained further without updating generator, generator gradients vanish</a:t>
            </a:r>
            <a:endParaRPr lang="en-US" sz="2400">
              <a:ea typeface="Calibri" panose="020F0502020204030204"/>
              <a:cs typeface="Calibri" panose="020F0502020204030204"/>
            </a:endParaRPr>
          </a:p>
          <a:p>
            <a:pPr marL="456565" indent="-456565">
              <a:spcAft>
                <a:spcPts val="800"/>
              </a:spcAft>
              <a:buSzPct val="100000"/>
              <a:buChar char="•"/>
            </a:pPr>
            <a:r>
              <a:rPr lang="en-US" sz="2400">
                <a:solidFill>
                  <a:srgbClr val="1A1A1A"/>
                </a:solidFill>
                <a:latin typeface="Calibri" pitchFamily="34" charset="0"/>
                <a:ea typeface="Calibri" pitchFamily="34" charset="-122"/>
                <a:cs typeface="Calibri" pitchFamily="34" charset="-120"/>
              </a:rPr>
              <a:t>If the discriminator becomes too good — training of generator stalls</a:t>
            </a:r>
            <a:endParaRPr lang="en-US" sz="2400">
              <a:ea typeface="Calibri" panose="020F0502020204030204"/>
              <a:cs typeface="Calibri" panose="020F0502020204030204"/>
            </a:endParaRPr>
          </a:p>
        </p:txBody>
      </p:sp>
    </p:spTree>
    <p:extLst>
      <p:ext uri="{BB962C8B-B14F-4D97-AF65-F5344CB8AC3E}">
        <p14:creationId xmlns:p14="http://schemas.microsoft.com/office/powerpoint/2010/main" val="3716011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268224"/>
            <a:ext cx="1097280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267">
                <a:solidFill>
                  <a:srgbClr val="1A1A1A"/>
                </a:solidFill>
                <a:latin typeface="Calibri" pitchFamily="34" charset="0"/>
                <a:ea typeface="Calibri" pitchFamily="34" charset="-122"/>
                <a:cs typeface="Calibri" pitchFamily="34" charset="-120"/>
              </a:rPr>
              <a:t>Vanishing gradients — illustration</a:t>
            </a:r>
            <a:endParaRPr lang="en-US" sz="4267"/>
          </a:p>
        </p:txBody>
      </p:sp>
      <p:pic>
        <p:nvPicPr>
          <p:cNvPr id="4" name="Image 0" descr="preencoded.png"/>
          <p:cNvPicPr>
            <a:picLocks noChangeAspect="1"/>
          </p:cNvPicPr>
          <p:nvPr/>
        </p:nvPicPr>
        <p:blipFill>
          <a:blip r:embed="rId3"/>
          <a:srcRect/>
          <a:stretch/>
        </p:blipFill>
        <p:spPr>
          <a:xfrm>
            <a:off x="609600" y="1219200"/>
            <a:ext cx="10972800" cy="4145280"/>
          </a:xfrm>
          <a:prstGeom prst="rect">
            <a:avLst/>
          </a:prstGeom>
        </p:spPr>
      </p:pic>
      <p:sp>
        <p:nvSpPr>
          <p:cNvPr id="5" name="Text 2"/>
          <p:cNvSpPr/>
          <p:nvPr/>
        </p:nvSpPr>
        <p:spPr>
          <a:xfrm>
            <a:off x="609600" y="5486400"/>
            <a:ext cx="10972800" cy="97536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2267">
                <a:solidFill>
                  <a:srgbClr val="1A1A1A"/>
                </a:solidFill>
                <a:latin typeface="Calibri" pitchFamily="34" charset="0"/>
                <a:ea typeface="Calibri" pitchFamily="34" charset="-122"/>
                <a:cs typeface="Calibri" pitchFamily="34" charset="-120"/>
              </a:rPr>
              <a:t>When samples are well-separated, the sigmoid discriminator is flat at generated sample positions</a:t>
            </a:r>
            <a:endParaRPr lang="en-US" sz="2267"/>
          </a:p>
          <a:p>
            <a:pPr marL="457189" indent="-457189">
              <a:spcAft>
                <a:spcPts val="800"/>
              </a:spcAft>
              <a:buSzPct val="100000"/>
              <a:buChar char="•"/>
            </a:pPr>
            <a:r>
              <a:rPr lang="en-US" sz="2267">
                <a:solidFill>
                  <a:srgbClr val="CC0000"/>
                </a:solidFill>
                <a:latin typeface="Calibri" pitchFamily="34" charset="0"/>
                <a:ea typeface="Calibri" pitchFamily="34" charset="-122"/>
                <a:cs typeface="Calibri" pitchFamily="34" charset="-120"/>
              </a:rPr>
              <a:t>Gradient to update generator parameters is near zero — training stalls</a:t>
            </a:r>
            <a:endParaRPr lang="en-US" sz="2267"/>
          </a:p>
        </p:txBody>
      </p:sp>
    </p:spTree>
    <p:extLst>
      <p:ext uri="{BB962C8B-B14F-4D97-AF65-F5344CB8AC3E}">
        <p14:creationId xmlns:p14="http://schemas.microsoft.com/office/powerpoint/2010/main" val="3774446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2BE80-4985-578C-A927-75FF840F6A78}"/>
              </a:ext>
            </a:extLst>
          </p:cNvPr>
          <p:cNvSpPr>
            <a:spLocks noGrp="1"/>
          </p:cNvSpPr>
          <p:nvPr>
            <p:ph type="title"/>
          </p:nvPr>
        </p:nvSpPr>
        <p:spPr>
          <a:xfrm>
            <a:off x="838200" y="2766218"/>
            <a:ext cx="10515600" cy="1325563"/>
          </a:xfrm>
        </p:spPr>
        <p:txBody>
          <a:bodyPr/>
          <a:lstStyle/>
          <a:p>
            <a:pPr algn="ctr"/>
            <a:r>
              <a:rPr lang="en-US"/>
              <a:t>Code Example</a:t>
            </a:r>
          </a:p>
        </p:txBody>
      </p:sp>
    </p:spTree>
    <p:extLst>
      <p:ext uri="{BB962C8B-B14F-4D97-AF65-F5344CB8AC3E}">
        <p14:creationId xmlns:p14="http://schemas.microsoft.com/office/powerpoint/2010/main" val="3185561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90723-7105-F10D-EDF0-7FB2E8015724}"/>
              </a:ext>
            </a:extLst>
          </p:cNvPr>
          <p:cNvSpPr>
            <a:spLocks noGrp="1"/>
          </p:cNvSpPr>
          <p:nvPr>
            <p:ph type="title"/>
          </p:nvPr>
        </p:nvSpPr>
        <p:spPr/>
        <p:txBody>
          <a:bodyPr/>
          <a:lstStyle/>
          <a:p>
            <a:r>
              <a:rPr lang="en-US"/>
              <a:t>Discriminator Update</a:t>
            </a:r>
          </a:p>
        </p:txBody>
      </p:sp>
      <p:pic>
        <p:nvPicPr>
          <p:cNvPr id="7" name="Content Placeholder 6">
            <a:extLst>
              <a:ext uri="{FF2B5EF4-FFF2-40B4-BE49-F238E27FC236}">
                <a16:creationId xmlns:a16="http://schemas.microsoft.com/office/drawing/2014/main" id="{302A693C-46D6-4FD6-3DDD-74D27CDA699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6913" y="2277212"/>
            <a:ext cx="7047702" cy="3566160"/>
          </a:xfrm>
          <a:prstGeom prst="rect">
            <a:avLst/>
          </a:prstGeom>
        </p:spPr>
      </p:pic>
      <p:sp>
        <p:nvSpPr>
          <p:cNvPr id="8" name="TextBox 7">
            <a:extLst>
              <a:ext uri="{FF2B5EF4-FFF2-40B4-BE49-F238E27FC236}">
                <a16:creationId xmlns:a16="http://schemas.microsoft.com/office/drawing/2014/main" id="{356AC899-6097-BB75-F535-185F66569061}"/>
              </a:ext>
            </a:extLst>
          </p:cNvPr>
          <p:cNvSpPr txBox="1"/>
          <p:nvPr/>
        </p:nvSpPr>
        <p:spPr>
          <a:xfrm>
            <a:off x="7704306" y="3181414"/>
            <a:ext cx="3649494" cy="1754326"/>
          </a:xfrm>
          <a:prstGeom prst="rect">
            <a:avLst/>
          </a:prstGeom>
          <a:noFill/>
        </p:spPr>
        <p:txBody>
          <a:bodyPr wrap="square" rtlCol="0">
            <a:spAutoFit/>
          </a:bodyPr>
          <a:lstStyle/>
          <a:p>
            <a:pPr marL="285750" indent="-285750">
              <a:buFont typeface="Arial" panose="020B0604020202020204" pitchFamily="34" charset="0"/>
              <a:buChar char="•"/>
            </a:pPr>
            <a:r>
              <a:rPr lang="en-US"/>
              <a:t>X -&gt; real images</a:t>
            </a:r>
          </a:p>
          <a:p>
            <a:pPr marL="285750" indent="-285750">
              <a:buFont typeface="Arial" panose="020B0604020202020204" pitchFamily="34" charset="0"/>
              <a:buChar char="•"/>
            </a:pPr>
            <a:r>
              <a:rPr lang="en-US"/>
              <a:t>Z -&gt; random noise</a:t>
            </a:r>
          </a:p>
          <a:p>
            <a:pPr marL="285750" indent="-285750">
              <a:buFont typeface="Arial" panose="020B0604020202020204" pitchFamily="34" charset="0"/>
              <a:buChar char="•"/>
            </a:pPr>
            <a:r>
              <a:rPr lang="en-US" err="1"/>
              <a:t>net_D</a:t>
            </a:r>
            <a:r>
              <a:rPr lang="en-US"/>
              <a:t> -&gt;discriminator</a:t>
            </a:r>
          </a:p>
          <a:p>
            <a:pPr marL="285750" indent="-285750">
              <a:buFont typeface="Arial" panose="020B0604020202020204" pitchFamily="34" charset="0"/>
              <a:buChar char="•"/>
            </a:pPr>
            <a:r>
              <a:rPr lang="en-US" err="1"/>
              <a:t>net_G</a:t>
            </a:r>
            <a:r>
              <a:rPr lang="en-US"/>
              <a:t> -&gt; generator</a:t>
            </a:r>
          </a:p>
          <a:p>
            <a:pPr marL="285750" indent="-285750">
              <a:buFont typeface="Arial" panose="020B0604020202020204" pitchFamily="34" charset="0"/>
              <a:buChar char="•"/>
            </a:pPr>
            <a:r>
              <a:rPr lang="en-US"/>
              <a:t>loss -&gt; loss function</a:t>
            </a:r>
          </a:p>
          <a:p>
            <a:pPr marL="285750" indent="-285750">
              <a:buFont typeface="Arial" panose="020B0604020202020204" pitchFamily="34" charset="0"/>
              <a:buChar char="•"/>
            </a:pPr>
            <a:r>
              <a:rPr lang="en-US" err="1"/>
              <a:t>trainer_D</a:t>
            </a:r>
            <a:r>
              <a:rPr lang="en-US"/>
              <a:t> -&gt; optimizer</a:t>
            </a:r>
          </a:p>
        </p:txBody>
      </p:sp>
      <p:sp>
        <p:nvSpPr>
          <p:cNvPr id="9" name="TextBox 8">
            <a:extLst>
              <a:ext uri="{FF2B5EF4-FFF2-40B4-BE49-F238E27FC236}">
                <a16:creationId xmlns:a16="http://schemas.microsoft.com/office/drawing/2014/main" id="{D2A14B6B-BDD4-3433-FEB5-8DE0B3B8BFF5}"/>
              </a:ext>
            </a:extLst>
          </p:cNvPr>
          <p:cNvSpPr txBox="1"/>
          <p:nvPr/>
        </p:nvSpPr>
        <p:spPr>
          <a:xfrm>
            <a:off x="0" y="6596390"/>
            <a:ext cx="11353799" cy="261610"/>
          </a:xfrm>
          <a:prstGeom prst="rect">
            <a:avLst/>
          </a:prstGeom>
          <a:noFill/>
        </p:spPr>
        <p:txBody>
          <a:bodyPr wrap="square" rtlCol="0">
            <a:spAutoFit/>
          </a:bodyPr>
          <a:lstStyle/>
          <a:p>
            <a:r>
              <a:rPr lang="en-US" sz="1100">
                <a:solidFill>
                  <a:schemeClr val="bg2">
                    <a:lumMod val="75000"/>
                  </a:schemeClr>
                </a:solidFill>
              </a:rPr>
              <a:t>Ref: Zhang, A., Lipton, Z. C., Li, M., &amp; Smola, A. J. (2023). Dive into deep learning. Cambridge University Press.</a:t>
            </a:r>
          </a:p>
        </p:txBody>
      </p:sp>
    </p:spTree>
    <p:extLst>
      <p:ext uri="{BB962C8B-B14F-4D97-AF65-F5344CB8AC3E}">
        <p14:creationId xmlns:p14="http://schemas.microsoft.com/office/powerpoint/2010/main" val="1144347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4C857-BDB9-7772-E213-B769E64617BC}"/>
              </a:ext>
            </a:extLst>
          </p:cNvPr>
          <p:cNvSpPr>
            <a:spLocks noGrp="1"/>
          </p:cNvSpPr>
          <p:nvPr>
            <p:ph type="title"/>
          </p:nvPr>
        </p:nvSpPr>
        <p:spPr/>
        <p:txBody>
          <a:bodyPr/>
          <a:lstStyle/>
          <a:p>
            <a:r>
              <a:rPr lang="en-US"/>
              <a:t>Generator Update</a:t>
            </a:r>
          </a:p>
        </p:txBody>
      </p:sp>
      <p:pic>
        <p:nvPicPr>
          <p:cNvPr id="5" name="Content Placeholder 4">
            <a:extLst>
              <a:ext uri="{FF2B5EF4-FFF2-40B4-BE49-F238E27FC236}">
                <a16:creationId xmlns:a16="http://schemas.microsoft.com/office/drawing/2014/main" id="{EB6306E5-89D2-52E1-154E-770EF858C09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3296" y="2270446"/>
            <a:ext cx="7378700" cy="3111500"/>
          </a:xfrm>
          <a:prstGeom prst="rect">
            <a:avLst/>
          </a:prstGeom>
        </p:spPr>
      </p:pic>
      <p:sp>
        <p:nvSpPr>
          <p:cNvPr id="8" name="TextBox 7">
            <a:extLst>
              <a:ext uri="{FF2B5EF4-FFF2-40B4-BE49-F238E27FC236}">
                <a16:creationId xmlns:a16="http://schemas.microsoft.com/office/drawing/2014/main" id="{F66BF67E-0EEF-99C5-1BE8-BAE5F75F8ACA}"/>
              </a:ext>
            </a:extLst>
          </p:cNvPr>
          <p:cNvSpPr txBox="1"/>
          <p:nvPr/>
        </p:nvSpPr>
        <p:spPr>
          <a:xfrm>
            <a:off x="8159210" y="2270446"/>
            <a:ext cx="3649494" cy="2862322"/>
          </a:xfrm>
          <a:prstGeom prst="rect">
            <a:avLst/>
          </a:prstGeom>
          <a:noFill/>
        </p:spPr>
        <p:txBody>
          <a:bodyPr wrap="square" rtlCol="0">
            <a:spAutoFit/>
          </a:bodyPr>
          <a:lstStyle/>
          <a:p>
            <a:pPr marL="285750" indent="-285750">
              <a:buFont typeface="Arial" panose="020B0604020202020204" pitchFamily="34" charset="0"/>
              <a:buChar char="•"/>
            </a:pPr>
            <a:r>
              <a:rPr lang="en-US"/>
              <a:t>Z -&gt; random noise</a:t>
            </a:r>
          </a:p>
          <a:p>
            <a:pPr marL="285750" indent="-285750">
              <a:buFont typeface="Arial" panose="020B0604020202020204" pitchFamily="34" charset="0"/>
              <a:buChar char="•"/>
            </a:pPr>
            <a:r>
              <a:rPr lang="en-US" err="1"/>
              <a:t>net_G</a:t>
            </a:r>
            <a:r>
              <a:rPr lang="en-US"/>
              <a:t> -&gt; generator</a:t>
            </a:r>
          </a:p>
          <a:p>
            <a:pPr marL="285750" indent="-285750">
              <a:buFont typeface="Arial" panose="020B0604020202020204" pitchFamily="34" charset="0"/>
              <a:buChar char="•"/>
            </a:pPr>
            <a:r>
              <a:rPr lang="en-US" err="1"/>
              <a:t>net_D</a:t>
            </a:r>
            <a:r>
              <a:rPr lang="en-US"/>
              <a:t> -&gt;discriminator</a:t>
            </a:r>
          </a:p>
          <a:p>
            <a:pPr marL="285750" indent="-285750">
              <a:buFont typeface="Arial" panose="020B0604020202020204" pitchFamily="34" charset="0"/>
              <a:buChar char="•"/>
            </a:pPr>
            <a:r>
              <a:rPr lang="en-US"/>
              <a:t>loss -&gt; loss function</a:t>
            </a:r>
          </a:p>
          <a:p>
            <a:pPr marL="285750" indent="-285750">
              <a:buFont typeface="Arial" panose="020B0604020202020204" pitchFamily="34" charset="0"/>
              <a:buChar char="•"/>
            </a:pPr>
            <a:r>
              <a:rPr lang="en-US" err="1"/>
              <a:t>trainer_G</a:t>
            </a:r>
            <a:r>
              <a:rPr lang="en-US"/>
              <a:t> -&gt; optimizer</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Key Difference:</a:t>
            </a:r>
          </a:p>
          <a:p>
            <a:pPr marL="742950" lvl="1" indent="-285750">
              <a:buFont typeface="Arial" panose="020B0604020202020204" pitchFamily="34" charset="0"/>
              <a:buChar char="•"/>
            </a:pPr>
            <a:r>
              <a:rPr lang="en-US"/>
              <a:t>Generator wants fake images labeled as 1</a:t>
            </a:r>
          </a:p>
        </p:txBody>
      </p:sp>
      <p:sp>
        <p:nvSpPr>
          <p:cNvPr id="9" name="TextBox 8">
            <a:extLst>
              <a:ext uri="{FF2B5EF4-FFF2-40B4-BE49-F238E27FC236}">
                <a16:creationId xmlns:a16="http://schemas.microsoft.com/office/drawing/2014/main" id="{2442EF39-6B3A-4F51-ED08-C4D2FF1DF846}"/>
              </a:ext>
            </a:extLst>
          </p:cNvPr>
          <p:cNvSpPr txBox="1"/>
          <p:nvPr/>
        </p:nvSpPr>
        <p:spPr>
          <a:xfrm>
            <a:off x="0" y="6596390"/>
            <a:ext cx="11353799" cy="261610"/>
          </a:xfrm>
          <a:prstGeom prst="rect">
            <a:avLst/>
          </a:prstGeom>
          <a:noFill/>
        </p:spPr>
        <p:txBody>
          <a:bodyPr wrap="square" rtlCol="0">
            <a:spAutoFit/>
          </a:bodyPr>
          <a:lstStyle/>
          <a:p>
            <a:r>
              <a:rPr lang="en-US" sz="1100">
                <a:solidFill>
                  <a:schemeClr val="bg2">
                    <a:lumMod val="75000"/>
                  </a:schemeClr>
                </a:solidFill>
              </a:rPr>
              <a:t>Ref: Zhang, A., Lipton, Z. C., Li, M., &amp; Smola, A. J. (2023). Dive into deep learning. Cambridge University Press.</a:t>
            </a:r>
          </a:p>
        </p:txBody>
      </p:sp>
    </p:spTree>
    <p:extLst>
      <p:ext uri="{BB962C8B-B14F-4D97-AF65-F5344CB8AC3E}">
        <p14:creationId xmlns:p14="http://schemas.microsoft.com/office/powerpoint/2010/main" val="646676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E9FC3-4FBA-6D74-45A4-AAB6DF34A785}"/>
              </a:ext>
            </a:extLst>
          </p:cNvPr>
          <p:cNvSpPr>
            <a:spLocks noGrp="1"/>
          </p:cNvSpPr>
          <p:nvPr>
            <p:ph type="title"/>
          </p:nvPr>
        </p:nvSpPr>
        <p:spPr/>
        <p:txBody>
          <a:bodyPr/>
          <a:lstStyle/>
          <a:p>
            <a:r>
              <a:rPr lang="en-US"/>
              <a:t>Training</a:t>
            </a:r>
          </a:p>
        </p:txBody>
      </p:sp>
      <p:sp>
        <p:nvSpPr>
          <p:cNvPr id="3" name="Content Placeholder 2">
            <a:extLst>
              <a:ext uri="{FF2B5EF4-FFF2-40B4-BE49-F238E27FC236}">
                <a16:creationId xmlns:a16="http://schemas.microsoft.com/office/drawing/2014/main" id="{0D823358-53A1-F6CB-7366-B5761202F5B8}"/>
              </a:ext>
            </a:extLst>
          </p:cNvPr>
          <p:cNvSpPr>
            <a:spLocks noGrp="1"/>
          </p:cNvSpPr>
          <p:nvPr>
            <p:ph idx="1"/>
          </p:nvPr>
        </p:nvSpPr>
        <p:spPr>
          <a:xfrm>
            <a:off x="6096000" y="2321277"/>
            <a:ext cx="5257800" cy="3089275"/>
          </a:xfrm>
        </p:spPr>
        <p:txBody>
          <a:bodyPr>
            <a:normAutofit/>
          </a:bodyPr>
          <a:lstStyle/>
          <a:p>
            <a:r>
              <a:rPr lang="en-US" sz="2400" err="1"/>
              <a:t>net_D</a:t>
            </a:r>
            <a:r>
              <a:rPr lang="en-US" sz="2400"/>
              <a:t> -&gt; discriminator</a:t>
            </a:r>
          </a:p>
          <a:p>
            <a:r>
              <a:rPr lang="en-US" sz="2400" err="1"/>
              <a:t>net_G</a:t>
            </a:r>
            <a:r>
              <a:rPr lang="en-US" sz="2400"/>
              <a:t> -&gt; generator</a:t>
            </a:r>
          </a:p>
          <a:p>
            <a:r>
              <a:rPr lang="en-US" sz="2400" err="1"/>
              <a:t>data_iter</a:t>
            </a:r>
            <a:r>
              <a:rPr lang="en-US" sz="2400"/>
              <a:t> -&gt; dataset iterator (training data)</a:t>
            </a:r>
          </a:p>
          <a:p>
            <a:r>
              <a:rPr lang="en-US" sz="2400" err="1"/>
              <a:t>lr_D</a:t>
            </a:r>
            <a:r>
              <a:rPr lang="en-US" sz="2400"/>
              <a:t> -&gt; learning rate for discriminator </a:t>
            </a:r>
          </a:p>
          <a:p>
            <a:r>
              <a:rPr lang="en-US" sz="2400" err="1"/>
              <a:t>lr_G</a:t>
            </a:r>
            <a:r>
              <a:rPr lang="en-US" sz="2400"/>
              <a:t> -&gt; learning rate for generator</a:t>
            </a:r>
          </a:p>
          <a:p>
            <a:r>
              <a:rPr lang="en-US" sz="2400" err="1"/>
              <a:t>latent_dim</a:t>
            </a:r>
            <a:r>
              <a:rPr lang="en-US" sz="2400"/>
              <a:t> -&gt; size of the noise vector</a:t>
            </a:r>
          </a:p>
        </p:txBody>
      </p:sp>
      <p:pic>
        <p:nvPicPr>
          <p:cNvPr id="5" name="Picture 4">
            <a:extLst>
              <a:ext uri="{FF2B5EF4-FFF2-40B4-BE49-F238E27FC236}">
                <a16:creationId xmlns:a16="http://schemas.microsoft.com/office/drawing/2014/main" id="{9146C271-491E-75C5-35B6-6DDB092801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90688"/>
            <a:ext cx="4705840" cy="4351338"/>
          </a:xfrm>
          <a:prstGeom prst="rect">
            <a:avLst/>
          </a:prstGeom>
        </p:spPr>
      </p:pic>
      <p:sp>
        <p:nvSpPr>
          <p:cNvPr id="7" name="TextBox 6">
            <a:extLst>
              <a:ext uri="{FF2B5EF4-FFF2-40B4-BE49-F238E27FC236}">
                <a16:creationId xmlns:a16="http://schemas.microsoft.com/office/drawing/2014/main" id="{F41357DF-E2E2-CB90-51DE-0DE7510C4316}"/>
              </a:ext>
            </a:extLst>
          </p:cNvPr>
          <p:cNvSpPr txBox="1"/>
          <p:nvPr/>
        </p:nvSpPr>
        <p:spPr>
          <a:xfrm>
            <a:off x="0" y="6596390"/>
            <a:ext cx="11353799" cy="261610"/>
          </a:xfrm>
          <a:prstGeom prst="rect">
            <a:avLst/>
          </a:prstGeom>
          <a:noFill/>
        </p:spPr>
        <p:txBody>
          <a:bodyPr wrap="square" rtlCol="0">
            <a:spAutoFit/>
          </a:bodyPr>
          <a:lstStyle/>
          <a:p>
            <a:r>
              <a:rPr lang="en-US" sz="1100">
                <a:solidFill>
                  <a:schemeClr val="bg2">
                    <a:lumMod val="75000"/>
                  </a:schemeClr>
                </a:solidFill>
              </a:rPr>
              <a:t>Ref: Zhang, A., Lipton, Z. C., Li, M., &amp; Smola, A. J. (2023). Dive into deep learning. Cambridge University Press.</a:t>
            </a:r>
          </a:p>
        </p:txBody>
      </p:sp>
    </p:spTree>
    <p:extLst>
      <p:ext uri="{BB962C8B-B14F-4D97-AF65-F5344CB8AC3E}">
        <p14:creationId xmlns:p14="http://schemas.microsoft.com/office/powerpoint/2010/main" val="2352738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06C7C-BDBD-98EF-D3FA-4CD426DA557C}"/>
              </a:ext>
            </a:extLst>
          </p:cNvPr>
          <p:cNvSpPr>
            <a:spLocks noGrp="1"/>
          </p:cNvSpPr>
          <p:nvPr>
            <p:ph type="title"/>
          </p:nvPr>
        </p:nvSpPr>
        <p:spPr/>
        <p:txBody>
          <a:bodyPr/>
          <a:lstStyle/>
          <a:p>
            <a:r>
              <a:rPr lang="en-US"/>
              <a:t>Applications of GANs</a:t>
            </a:r>
          </a:p>
        </p:txBody>
      </p:sp>
      <p:sp>
        <p:nvSpPr>
          <p:cNvPr id="3" name="Content Placeholder 2">
            <a:extLst>
              <a:ext uri="{FF2B5EF4-FFF2-40B4-BE49-F238E27FC236}">
                <a16:creationId xmlns:a16="http://schemas.microsoft.com/office/drawing/2014/main" id="{F1EBF349-F0A1-BA98-0F4A-EAD06AEB11DB}"/>
              </a:ext>
            </a:extLst>
          </p:cNvPr>
          <p:cNvSpPr>
            <a:spLocks noGrp="1"/>
          </p:cNvSpPr>
          <p:nvPr>
            <p:ph idx="1"/>
          </p:nvPr>
        </p:nvSpPr>
        <p:spPr/>
        <p:txBody>
          <a:bodyPr/>
          <a:lstStyle/>
          <a:p>
            <a:r>
              <a:rPr lang="en-US"/>
              <a:t>Image Generation</a:t>
            </a:r>
          </a:p>
          <a:p>
            <a:r>
              <a:rPr lang="en-US"/>
              <a:t>Image-to-Image Translation</a:t>
            </a:r>
          </a:p>
          <a:p>
            <a:pPr lvl="1"/>
            <a:r>
              <a:rPr lang="en-US"/>
              <a:t>Sketch -&gt; photo</a:t>
            </a:r>
          </a:p>
          <a:p>
            <a:pPr lvl="1"/>
            <a:r>
              <a:rPr lang="en-US"/>
              <a:t>Day -&gt; night</a:t>
            </a:r>
          </a:p>
          <a:p>
            <a:r>
              <a:rPr lang="en-US"/>
              <a:t>Style Transfer</a:t>
            </a:r>
          </a:p>
          <a:p>
            <a:pPr lvl="1"/>
            <a:r>
              <a:rPr lang="en-US"/>
              <a:t>Photo -&gt; Van Gogh style painting</a:t>
            </a:r>
          </a:p>
          <a:p>
            <a:r>
              <a:rPr lang="en-US"/>
              <a:t>Medical Imaging</a:t>
            </a:r>
          </a:p>
          <a:p>
            <a:pPr lvl="1"/>
            <a:r>
              <a:rPr lang="en-US"/>
              <a:t>Generate or enhance MRI/CT scans</a:t>
            </a:r>
          </a:p>
          <a:p>
            <a:pPr lvl="1"/>
            <a:r>
              <a:rPr lang="en-US"/>
              <a:t>Assist diagnosis with limited data</a:t>
            </a:r>
          </a:p>
        </p:txBody>
      </p:sp>
    </p:spTree>
    <p:extLst>
      <p:ext uri="{BB962C8B-B14F-4D97-AF65-F5344CB8AC3E}">
        <p14:creationId xmlns:p14="http://schemas.microsoft.com/office/powerpoint/2010/main" val="1096630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692F6-6067-1D91-7E66-821BEE6AA847}"/>
              </a:ext>
            </a:extLst>
          </p:cNvPr>
          <p:cNvSpPr>
            <a:spLocks noGrp="1"/>
          </p:cNvSpPr>
          <p:nvPr>
            <p:ph type="title"/>
          </p:nvPr>
        </p:nvSpPr>
        <p:spPr/>
        <p:txBody>
          <a:bodyPr/>
          <a:lstStyle/>
          <a:p>
            <a:r>
              <a:rPr lang="en-US"/>
              <a:t>Downsides of GANs</a:t>
            </a:r>
          </a:p>
        </p:txBody>
      </p:sp>
      <p:sp>
        <p:nvSpPr>
          <p:cNvPr id="3" name="Content Placeholder 2">
            <a:extLst>
              <a:ext uri="{FF2B5EF4-FFF2-40B4-BE49-F238E27FC236}">
                <a16:creationId xmlns:a16="http://schemas.microsoft.com/office/drawing/2014/main" id="{CAAE6460-D697-C9B4-6600-D5ADD601E912}"/>
              </a:ext>
            </a:extLst>
          </p:cNvPr>
          <p:cNvSpPr>
            <a:spLocks noGrp="1"/>
          </p:cNvSpPr>
          <p:nvPr>
            <p:ph idx="1"/>
          </p:nvPr>
        </p:nvSpPr>
        <p:spPr>
          <a:xfrm>
            <a:off x="628650" y="1825625"/>
            <a:ext cx="10934700" cy="4667250"/>
          </a:xfrm>
        </p:spPr>
        <p:txBody>
          <a:bodyPr>
            <a:normAutofit lnSpcReduction="10000"/>
          </a:bodyPr>
          <a:lstStyle/>
          <a:p>
            <a:r>
              <a:rPr lang="en-US"/>
              <a:t>Unbalanced “Game”</a:t>
            </a:r>
          </a:p>
          <a:p>
            <a:pPr lvl="1"/>
            <a:r>
              <a:rPr lang="en-US"/>
              <a:t>If Discriminator gets too good: spots fakes too easily and Generator gets no useful feedback</a:t>
            </a:r>
          </a:p>
          <a:p>
            <a:pPr lvl="1"/>
            <a:r>
              <a:rPr lang="en-US"/>
              <a:t>If Generator gets too good: Discriminator can’t learn and the model collapses</a:t>
            </a:r>
          </a:p>
          <a:p>
            <a:r>
              <a:rPr lang="en-US"/>
              <a:t>Mode Collapse</a:t>
            </a:r>
          </a:p>
          <a:p>
            <a:pPr lvl="1"/>
            <a:r>
              <a:rPr lang="en-US"/>
              <a:t>Generator finds one good output and repeats it over and over again</a:t>
            </a:r>
          </a:p>
          <a:p>
            <a:r>
              <a:rPr lang="en-US"/>
              <a:t>Vanishing Gradients</a:t>
            </a:r>
          </a:p>
          <a:p>
            <a:pPr lvl="1"/>
            <a:r>
              <a:rPr lang="en-US"/>
              <a:t>When the Discriminator is confident, gradient becomes very small and Generator stops learning</a:t>
            </a:r>
          </a:p>
          <a:p>
            <a:r>
              <a:rPr lang="en-US"/>
              <a:t>Poor architecture for images</a:t>
            </a:r>
          </a:p>
          <a:p>
            <a:pPr lvl="1"/>
            <a:r>
              <a:rPr lang="en-US"/>
              <a:t>Ignores pixels, edges, and shapes</a:t>
            </a:r>
          </a:p>
          <a:p>
            <a:pPr lvl="1"/>
            <a:r>
              <a:rPr lang="en-US"/>
              <a:t>Produces blurry or unrealistic images</a:t>
            </a:r>
          </a:p>
        </p:txBody>
      </p:sp>
      <p:sp>
        <p:nvSpPr>
          <p:cNvPr id="4" name="TextBox 3">
            <a:extLst>
              <a:ext uri="{FF2B5EF4-FFF2-40B4-BE49-F238E27FC236}">
                <a16:creationId xmlns:a16="http://schemas.microsoft.com/office/drawing/2014/main" id="{5201A571-395F-7B1D-A4D5-7701D7B21CD4}"/>
              </a:ext>
            </a:extLst>
          </p:cNvPr>
          <p:cNvSpPr txBox="1"/>
          <p:nvPr/>
        </p:nvSpPr>
        <p:spPr>
          <a:xfrm>
            <a:off x="220717" y="3689131"/>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6008524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FA50E-CD79-B048-3B47-C31FA12D9321}"/>
              </a:ext>
            </a:extLst>
          </p:cNvPr>
          <p:cNvSpPr>
            <a:spLocks noGrp="1"/>
          </p:cNvSpPr>
          <p:nvPr>
            <p:ph type="title"/>
          </p:nvPr>
        </p:nvSpPr>
        <p:spPr/>
        <p:txBody>
          <a:bodyPr/>
          <a:lstStyle/>
          <a:p>
            <a:r>
              <a:rPr lang="en-US"/>
              <a:t>GAN Family</a:t>
            </a:r>
          </a:p>
        </p:txBody>
      </p:sp>
      <p:graphicFrame>
        <p:nvGraphicFramePr>
          <p:cNvPr id="4" name="Table 3">
            <a:extLst>
              <a:ext uri="{FF2B5EF4-FFF2-40B4-BE49-F238E27FC236}">
                <a16:creationId xmlns:a16="http://schemas.microsoft.com/office/drawing/2014/main" id="{2A5A4BB8-8F73-07F6-C6EC-385ACF0C38C8}"/>
              </a:ext>
            </a:extLst>
          </p:cNvPr>
          <p:cNvGraphicFramePr>
            <a:graphicFrameLocks noGrp="1"/>
          </p:cNvGraphicFramePr>
          <p:nvPr>
            <p:extLst>
              <p:ext uri="{D42A27DB-BD31-4B8C-83A1-F6EECF244321}">
                <p14:modId xmlns:p14="http://schemas.microsoft.com/office/powerpoint/2010/main" val="1942386449"/>
              </p:ext>
            </p:extLst>
          </p:nvPr>
        </p:nvGraphicFramePr>
        <p:xfrm>
          <a:off x="838200" y="1690688"/>
          <a:ext cx="10515600" cy="4130850"/>
        </p:xfrm>
        <a:graphic>
          <a:graphicData uri="http://schemas.openxmlformats.org/drawingml/2006/table">
            <a:tbl>
              <a:tblPr firstRow="1" bandRow="1">
                <a:tableStyleId>{2D5ABB26-0587-4C30-8999-92F81FD0307C}</a:tableStyleId>
              </a:tblPr>
              <a:tblGrid>
                <a:gridCol w="1712496">
                  <a:extLst>
                    <a:ext uri="{9D8B030D-6E8A-4147-A177-3AD203B41FA5}">
                      <a16:colId xmlns:a16="http://schemas.microsoft.com/office/drawing/2014/main" val="598302304"/>
                    </a:ext>
                  </a:extLst>
                </a:gridCol>
                <a:gridCol w="2796556">
                  <a:extLst>
                    <a:ext uri="{9D8B030D-6E8A-4147-A177-3AD203B41FA5}">
                      <a16:colId xmlns:a16="http://schemas.microsoft.com/office/drawing/2014/main" val="1814631638"/>
                    </a:ext>
                  </a:extLst>
                </a:gridCol>
                <a:gridCol w="6006548">
                  <a:extLst>
                    <a:ext uri="{9D8B030D-6E8A-4147-A177-3AD203B41FA5}">
                      <a16:colId xmlns:a16="http://schemas.microsoft.com/office/drawing/2014/main" val="1469827636"/>
                    </a:ext>
                  </a:extLst>
                </a:gridCol>
              </a:tblGrid>
              <a:tr h="581795">
                <a:tc>
                  <a:txBody>
                    <a:bodyPr/>
                    <a:lstStyle/>
                    <a:p>
                      <a:pPr algn="ctr"/>
                      <a:r>
                        <a:rPr lang="en-US" sz="2000" b="1"/>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a:t>Key Contribution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7759042"/>
                  </a:ext>
                </a:extLst>
              </a:tr>
              <a:tr h="581795">
                <a:tc>
                  <a:txBody>
                    <a:bodyPr/>
                    <a:lstStyle/>
                    <a:p>
                      <a:pPr algn="l"/>
                      <a:r>
                        <a:rPr lang="en-US" sz="1800"/>
                        <a:t>2014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a:t>GAN (Goodfellow et 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a:t>Introduced adversarial training (Generator vs Discriminator)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8025270"/>
                  </a:ext>
                </a:extLst>
              </a:tr>
              <a:tr h="581795">
                <a:tc>
                  <a:txBody>
                    <a:bodyPr/>
                    <a:lstStyle/>
                    <a:p>
                      <a:pPr algn="l"/>
                      <a:r>
                        <a:rPr lang="en-US" sz="1800"/>
                        <a:t>2015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a:t>DCGAN (Radford et 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a:t>Stable image generation with CNNs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7485300"/>
                  </a:ext>
                </a:extLst>
              </a:tr>
              <a:tr h="581795">
                <a:tc>
                  <a:txBody>
                    <a:bodyPr/>
                    <a:lstStyle/>
                    <a:p>
                      <a:pPr algn="l"/>
                      <a:r>
                        <a:rPr lang="en-US" sz="180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a:t>WGAN (Arjovsky et 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a:t>Improved stability using Wasserstein loss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4780583"/>
                  </a:ext>
                </a:extLst>
              </a:tr>
              <a:tr h="581795">
                <a:tc>
                  <a:txBody>
                    <a:bodyPr/>
                    <a:lstStyle/>
                    <a:p>
                      <a:pPr algn="l"/>
                      <a:r>
                        <a:rPr lang="en-US" sz="180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err="1"/>
                        <a:t>CycleGAN</a:t>
                      </a:r>
                      <a:r>
                        <a:rPr lang="en-US" sz="1800"/>
                        <a:t>  (Zhu et 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a:t>Image-to-image translation without paired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8376980"/>
                  </a:ext>
                </a:extLst>
              </a:tr>
              <a:tr h="581795">
                <a:tc>
                  <a:txBody>
                    <a:bodyPr/>
                    <a:lstStyle/>
                    <a:p>
                      <a:pPr algn="l"/>
                      <a:r>
                        <a:rPr lang="en-US" sz="1800"/>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StyleGAN (Karras et 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a:t>Style-based generator for highly realistic images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5290928"/>
                  </a:ext>
                </a:extLst>
              </a:tr>
              <a:tr h="581795">
                <a:tc>
                  <a:txBody>
                    <a:bodyPr/>
                    <a:lstStyle/>
                    <a:p>
                      <a:pPr algn="l"/>
                      <a:r>
                        <a:rPr lang="en-US" sz="1800"/>
                        <a:t>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GANs + Diffusion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a:t>Hybrid generative approaches combining GAN speed with diffusion quality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0066394"/>
                  </a:ext>
                </a:extLst>
              </a:tr>
            </a:tbl>
          </a:graphicData>
        </a:graphic>
      </p:graphicFrame>
    </p:spTree>
    <p:extLst>
      <p:ext uri="{BB962C8B-B14F-4D97-AF65-F5344CB8AC3E}">
        <p14:creationId xmlns:p14="http://schemas.microsoft.com/office/powerpoint/2010/main" val="33230987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AFF16-8B20-CB53-1080-93DB3F7219AB}"/>
              </a:ext>
            </a:extLst>
          </p:cNvPr>
          <p:cNvSpPr>
            <a:spLocks noGrp="1"/>
          </p:cNvSpPr>
          <p:nvPr>
            <p:ph type="title"/>
          </p:nvPr>
        </p:nvSpPr>
        <p:spPr/>
        <p:txBody>
          <a:bodyPr/>
          <a:lstStyle/>
          <a:p>
            <a:pPr algn="ctr"/>
            <a:r>
              <a:rPr lang="en-US"/>
              <a:t>DCGAN (Deep Convolutional GAN)</a:t>
            </a:r>
          </a:p>
        </p:txBody>
      </p:sp>
      <p:sp>
        <p:nvSpPr>
          <p:cNvPr id="3" name="Content Placeholder 2">
            <a:extLst>
              <a:ext uri="{FF2B5EF4-FFF2-40B4-BE49-F238E27FC236}">
                <a16:creationId xmlns:a16="http://schemas.microsoft.com/office/drawing/2014/main" id="{F8F7DD8C-86D4-BBAB-6F6B-40151D6D02DE}"/>
              </a:ext>
            </a:extLst>
          </p:cNvPr>
          <p:cNvSpPr>
            <a:spLocks noGrp="1"/>
          </p:cNvSpPr>
          <p:nvPr>
            <p:ph idx="1"/>
          </p:nvPr>
        </p:nvSpPr>
        <p:spPr>
          <a:xfrm>
            <a:off x="0" y="1825625"/>
            <a:ext cx="6119191" cy="4667250"/>
          </a:xfrm>
        </p:spPr>
        <p:txBody>
          <a:bodyPr>
            <a:normAutofit/>
          </a:bodyPr>
          <a:lstStyle/>
          <a:p>
            <a:r>
              <a:rPr lang="en-US"/>
              <a:t>Before DCGAN</a:t>
            </a:r>
          </a:p>
          <a:p>
            <a:pPr lvl="1"/>
            <a:r>
              <a:rPr lang="en-US"/>
              <a:t>Standard GAN uses fully connected layers</a:t>
            </a:r>
          </a:p>
          <a:p>
            <a:pPr lvl="1"/>
            <a:r>
              <a:rPr lang="en-US"/>
              <a:t>Very unstable with poor image quality </a:t>
            </a:r>
          </a:p>
          <a:p>
            <a:r>
              <a:rPr lang="en-US"/>
              <a:t>What Changed?</a:t>
            </a:r>
          </a:p>
          <a:p>
            <a:pPr lvl="1"/>
            <a:r>
              <a:rPr lang="en-US"/>
              <a:t>Replaced fully connected layers with CNNs</a:t>
            </a:r>
          </a:p>
          <a:p>
            <a:r>
              <a:rPr lang="en-US"/>
              <a:t>Why it matters</a:t>
            </a:r>
          </a:p>
          <a:p>
            <a:pPr lvl="1"/>
            <a:r>
              <a:rPr lang="en-US"/>
              <a:t>GANs become stable enough to train on more complex images</a:t>
            </a:r>
          </a:p>
          <a:p>
            <a:pPr lvl="1"/>
            <a:r>
              <a:rPr lang="en-US"/>
              <a:t>GANs were originally trained on simple datasets or even toy datasets</a:t>
            </a:r>
          </a:p>
        </p:txBody>
      </p:sp>
      <p:sp>
        <p:nvSpPr>
          <p:cNvPr id="4" name="Content Placeholder 2">
            <a:extLst>
              <a:ext uri="{FF2B5EF4-FFF2-40B4-BE49-F238E27FC236}">
                <a16:creationId xmlns:a16="http://schemas.microsoft.com/office/drawing/2014/main" id="{46D8CE4A-0A5D-C2C4-BEA8-B08931042E4C}"/>
              </a:ext>
            </a:extLst>
          </p:cNvPr>
          <p:cNvSpPr txBox="1">
            <a:spLocks/>
          </p:cNvSpPr>
          <p:nvPr/>
        </p:nvSpPr>
        <p:spPr>
          <a:xfrm>
            <a:off x="6072809" y="1825624"/>
            <a:ext cx="6119191" cy="46672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Key design rules for stable training</a:t>
            </a:r>
          </a:p>
          <a:p>
            <a:pPr marL="457200" lvl="1" indent="0">
              <a:buFont typeface="Arial" panose="020B0604020202020204" pitchFamily="34" charset="0"/>
              <a:buNone/>
            </a:pPr>
            <a:r>
              <a:rPr lang="en-US"/>
              <a:t>No pooling -&gt; uses stride convolutions instead</a:t>
            </a:r>
          </a:p>
          <a:p>
            <a:pPr marL="457200" lvl="1" indent="0">
              <a:buFont typeface="Arial" panose="020B0604020202020204" pitchFamily="34" charset="0"/>
              <a:buNone/>
            </a:pPr>
            <a:r>
              <a:rPr lang="en-US"/>
              <a:t>Uses Batch Normalization to stabilize training</a:t>
            </a:r>
          </a:p>
          <a:p>
            <a:r>
              <a:rPr lang="en-US"/>
              <a:t>Activations</a:t>
            </a:r>
          </a:p>
          <a:p>
            <a:pPr marL="457200" lvl="1" indent="0">
              <a:buNone/>
            </a:pPr>
            <a:r>
              <a:rPr lang="en-US"/>
              <a:t>Generator -&gt;ReLU (same as original)</a:t>
            </a:r>
          </a:p>
          <a:p>
            <a:pPr marL="457200" lvl="1" indent="0">
              <a:buNone/>
            </a:pPr>
            <a:r>
              <a:rPr lang="en-US"/>
              <a:t>Discriminator -&gt; </a:t>
            </a:r>
            <a:r>
              <a:rPr lang="en-US" err="1"/>
              <a:t>LeakyReLU</a:t>
            </a:r>
            <a:r>
              <a:rPr lang="en-US"/>
              <a:t> (from sigmoid)</a:t>
            </a:r>
          </a:p>
        </p:txBody>
      </p:sp>
      <p:sp>
        <p:nvSpPr>
          <p:cNvPr id="5" name="TextBox 4">
            <a:extLst>
              <a:ext uri="{FF2B5EF4-FFF2-40B4-BE49-F238E27FC236}">
                <a16:creationId xmlns:a16="http://schemas.microsoft.com/office/drawing/2014/main" id="{B56D524C-7E83-33E6-6345-9CDF21F0B79E}"/>
              </a:ext>
            </a:extLst>
          </p:cNvPr>
          <p:cNvSpPr txBox="1"/>
          <p:nvPr/>
        </p:nvSpPr>
        <p:spPr>
          <a:xfrm>
            <a:off x="838200" y="6092763"/>
            <a:ext cx="11106150" cy="400110"/>
          </a:xfrm>
          <a:prstGeom prst="rect">
            <a:avLst/>
          </a:prstGeom>
          <a:noFill/>
        </p:spPr>
        <p:txBody>
          <a:bodyPr wrap="square" rtlCol="0">
            <a:spAutoFit/>
          </a:bodyPr>
          <a:lstStyle/>
          <a:p>
            <a:r>
              <a:rPr lang="en-US" sz="2000"/>
              <a:t>Introduction of </a:t>
            </a:r>
            <a:r>
              <a:rPr lang="en-US" sz="2000" err="1"/>
              <a:t>LeakyReLU</a:t>
            </a:r>
            <a:r>
              <a:rPr lang="en-US" sz="2000"/>
              <a:t> prevents dead neurons by allowing small gradients even for negative inputs</a:t>
            </a:r>
          </a:p>
        </p:txBody>
      </p:sp>
    </p:spTree>
    <p:extLst>
      <p:ext uri="{BB962C8B-B14F-4D97-AF65-F5344CB8AC3E}">
        <p14:creationId xmlns:p14="http://schemas.microsoft.com/office/powerpoint/2010/main" val="1439380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B975D-9223-7DF0-9F73-9EB34BEC3910}"/>
              </a:ext>
            </a:extLst>
          </p:cNvPr>
          <p:cNvSpPr>
            <a:spLocks noGrp="1"/>
          </p:cNvSpPr>
          <p:nvPr>
            <p:ph type="title"/>
          </p:nvPr>
        </p:nvSpPr>
        <p:spPr/>
        <p:txBody>
          <a:bodyPr/>
          <a:lstStyle/>
          <a:p>
            <a:pPr algn="ctr"/>
            <a:r>
              <a:rPr lang="en-US"/>
              <a:t>WGAN (Wasserstein GAN)</a:t>
            </a:r>
          </a:p>
        </p:txBody>
      </p:sp>
      <p:sp>
        <p:nvSpPr>
          <p:cNvPr id="4" name="Content Placeholder 2">
            <a:extLst>
              <a:ext uri="{FF2B5EF4-FFF2-40B4-BE49-F238E27FC236}">
                <a16:creationId xmlns:a16="http://schemas.microsoft.com/office/drawing/2014/main" id="{B70DF910-AC4F-7B27-1762-84122858B650}"/>
              </a:ext>
            </a:extLst>
          </p:cNvPr>
          <p:cNvSpPr txBox="1">
            <a:spLocks/>
          </p:cNvSpPr>
          <p:nvPr/>
        </p:nvSpPr>
        <p:spPr>
          <a:xfrm>
            <a:off x="0" y="1825625"/>
            <a:ext cx="6119191" cy="46672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Key Changes</a:t>
            </a:r>
          </a:p>
          <a:p>
            <a:pPr lvl="1"/>
            <a:r>
              <a:rPr lang="en-US"/>
              <a:t>Uses Wasserstein loss instead of cross-entropy</a:t>
            </a:r>
          </a:p>
          <a:p>
            <a:pPr lvl="1"/>
            <a:r>
              <a:rPr lang="en-US"/>
              <a:t>Removes sigmoid output from discriminator and changes to a “critic”</a:t>
            </a:r>
          </a:p>
          <a:p>
            <a:r>
              <a:rPr lang="en-US"/>
              <a:t>Why it matters</a:t>
            </a:r>
          </a:p>
          <a:p>
            <a:pPr lvl="1"/>
            <a:r>
              <a:rPr lang="en-US"/>
              <a:t>Fixes the issue of vanishing gradients that occurred in original GAN</a:t>
            </a:r>
          </a:p>
          <a:p>
            <a:pPr lvl="1"/>
            <a:r>
              <a:rPr lang="en-US"/>
              <a:t>Generator receives useful gradients even when discriminator is strong</a:t>
            </a:r>
          </a:p>
          <a:p>
            <a:pPr lvl="1"/>
            <a:r>
              <a:rPr lang="en-US"/>
              <a:t>Loss now correlates with actual image quality</a:t>
            </a:r>
          </a:p>
        </p:txBody>
      </p:sp>
      <p:pic>
        <p:nvPicPr>
          <p:cNvPr id="9" name="Picture 8">
            <a:extLst>
              <a:ext uri="{FF2B5EF4-FFF2-40B4-BE49-F238E27FC236}">
                <a16:creationId xmlns:a16="http://schemas.microsoft.com/office/drawing/2014/main" id="{848D337E-9B0E-DF6F-8868-FDBA171314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8780" y="3034719"/>
            <a:ext cx="5005020" cy="3187700"/>
          </a:xfrm>
          <a:prstGeom prst="rect">
            <a:avLst/>
          </a:prstGeom>
        </p:spPr>
      </p:pic>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E334F553-8B11-C077-EC62-2AFE53CB9FD9}"/>
                  </a:ext>
                </a:extLst>
              </p:cNvPr>
              <p:cNvSpPr txBox="1">
                <a:spLocks/>
              </p:cNvSpPr>
              <p:nvPr/>
            </p:nvSpPr>
            <p:spPr>
              <a:xfrm>
                <a:off x="6119191" y="1835329"/>
                <a:ext cx="6119191" cy="46672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Simplified Wasserstein Loss</a:t>
                </a:r>
              </a:p>
              <a:p>
                <a:pPr marL="457200"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𝔼</m:t>
                      </m:r>
                      <m:d>
                        <m:dPr>
                          <m:begChr m:val="["/>
                          <m:endChr m:val="]"/>
                          <m:ctrlPr>
                            <a:rPr lang="en-US" i="1">
                              <a:latin typeface="Cambria Math" panose="02040503050406030204" pitchFamily="18" charset="0"/>
                            </a:rPr>
                          </m:ctrlPr>
                        </m:dPr>
                        <m:e>
                          <m:r>
                            <m:rPr>
                              <m:nor/>
                            </m:rPr>
                            <a:rPr lang="en-US">
                              <a:latin typeface="Cambria Math" panose="02040503050406030204" pitchFamily="18" charset="0"/>
                            </a:rPr>
                            <m:t>critic</m:t>
                          </m:r>
                          <m:r>
                            <m:rPr>
                              <m:nor/>
                            </m:rPr>
                            <a:rPr lang="en-US">
                              <a:latin typeface="Cambria Math" panose="02040503050406030204" pitchFamily="18" charset="0"/>
                            </a:rPr>
                            <m:t>(</m:t>
                          </m:r>
                          <m:r>
                            <m:rPr>
                              <m:nor/>
                            </m:rPr>
                            <a:rPr lang="en-US">
                              <a:latin typeface="Cambria Math" panose="02040503050406030204" pitchFamily="18" charset="0"/>
                            </a:rPr>
                            <m:t>real</m:t>
                          </m:r>
                          <m:r>
                            <m:rPr>
                              <m:nor/>
                            </m:rPr>
                            <a:rPr lang="en-US">
                              <a:latin typeface="Cambria Math" panose="02040503050406030204" pitchFamily="18" charset="0"/>
                            </a:rPr>
                            <m:t>)</m:t>
                          </m:r>
                        </m:e>
                      </m:d>
                      <m:r>
                        <a:rPr lang="en-US" i="1">
                          <a:latin typeface="Cambria Math" panose="02040503050406030204" pitchFamily="18" charset="0"/>
                        </a:rPr>
                        <m:t>−</m:t>
                      </m:r>
                      <m:r>
                        <a:rPr lang="en-US" i="1">
                          <a:latin typeface="Cambria Math" panose="02040503050406030204" pitchFamily="18" charset="0"/>
                        </a:rPr>
                        <m:t>𝔼</m:t>
                      </m:r>
                      <m:d>
                        <m:dPr>
                          <m:begChr m:val="["/>
                          <m:endChr m:val="]"/>
                          <m:ctrlPr>
                            <a:rPr lang="en-US" i="1">
                              <a:latin typeface="Cambria Math" panose="02040503050406030204" pitchFamily="18" charset="0"/>
                            </a:rPr>
                          </m:ctrlPr>
                        </m:dPr>
                        <m:e>
                          <m:r>
                            <m:rPr>
                              <m:nor/>
                            </m:rPr>
                            <a:rPr lang="en-US">
                              <a:latin typeface="Cambria Math" panose="02040503050406030204" pitchFamily="18" charset="0"/>
                            </a:rPr>
                            <m:t>critic</m:t>
                          </m:r>
                          <m:r>
                            <m:rPr>
                              <m:nor/>
                            </m:rPr>
                            <a:rPr lang="en-US">
                              <a:latin typeface="Cambria Math" panose="02040503050406030204" pitchFamily="18" charset="0"/>
                            </a:rPr>
                            <m:t>(</m:t>
                          </m:r>
                          <m:r>
                            <m:rPr>
                              <m:nor/>
                            </m:rPr>
                            <a:rPr lang="en-US">
                              <a:latin typeface="Cambria Math" panose="02040503050406030204" pitchFamily="18" charset="0"/>
                            </a:rPr>
                            <m:t>fake</m:t>
                          </m:r>
                          <m:r>
                            <m:rPr>
                              <m:nor/>
                            </m:rPr>
                            <a:rPr lang="en-US">
                              <a:latin typeface="Cambria Math" panose="02040503050406030204" pitchFamily="18" charset="0"/>
                            </a:rPr>
                            <m:t>)</m:t>
                          </m:r>
                        </m:e>
                      </m:d>
                    </m:oMath>
                  </m:oMathPara>
                </a14:m>
                <a:endParaRPr lang="en-US"/>
              </a:p>
            </p:txBody>
          </p:sp>
        </mc:Choice>
        <mc:Fallback xmlns="">
          <p:sp>
            <p:nvSpPr>
              <p:cNvPr id="15" name="Content Placeholder 2">
                <a:extLst>
                  <a:ext uri="{FF2B5EF4-FFF2-40B4-BE49-F238E27FC236}">
                    <a16:creationId xmlns:a16="http://schemas.microsoft.com/office/drawing/2014/main" id="{E334F553-8B11-C077-EC62-2AFE53CB9FD9}"/>
                  </a:ext>
                </a:extLst>
              </p:cNvPr>
              <p:cNvSpPr txBox="1">
                <a:spLocks noRot="1" noChangeAspect="1" noMove="1" noResize="1" noEditPoints="1" noAdjustHandles="1" noChangeArrowheads="1" noChangeShapeType="1" noTextEdit="1"/>
              </p:cNvSpPr>
              <p:nvPr/>
            </p:nvSpPr>
            <p:spPr>
              <a:xfrm>
                <a:off x="6119191" y="1835329"/>
                <a:ext cx="6119191" cy="4667250"/>
              </a:xfrm>
              <a:prstGeom prst="rect">
                <a:avLst/>
              </a:prstGeom>
              <a:blipFill>
                <a:blip r:embed="rId4"/>
                <a:stretch>
                  <a:fillRect l="-1793" t="-2089"/>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300C5D7F-03CC-C271-75A1-6214D79C4E69}"/>
              </a:ext>
            </a:extLst>
          </p:cNvPr>
          <p:cNvSpPr txBox="1"/>
          <p:nvPr/>
        </p:nvSpPr>
        <p:spPr>
          <a:xfrm>
            <a:off x="0" y="6596390"/>
            <a:ext cx="11353799" cy="261610"/>
          </a:xfrm>
          <a:prstGeom prst="rect">
            <a:avLst/>
          </a:prstGeom>
          <a:noFill/>
        </p:spPr>
        <p:txBody>
          <a:bodyPr wrap="square" rtlCol="0">
            <a:spAutoFit/>
          </a:bodyPr>
          <a:lstStyle/>
          <a:p>
            <a:pPr algn="r"/>
            <a:r>
              <a:rPr lang="en-US" sz="1100">
                <a:solidFill>
                  <a:schemeClr val="bg2">
                    <a:lumMod val="75000"/>
                  </a:schemeClr>
                </a:solidFill>
              </a:rPr>
              <a:t>Ref: </a:t>
            </a:r>
            <a:r>
              <a:rPr lang="en-US" sz="1100" err="1">
                <a:solidFill>
                  <a:schemeClr val="bg2">
                    <a:lumMod val="75000"/>
                  </a:schemeClr>
                </a:solidFill>
              </a:rPr>
              <a:t>Arjovsky</a:t>
            </a:r>
            <a:r>
              <a:rPr lang="en-US" sz="1100">
                <a:solidFill>
                  <a:schemeClr val="bg2">
                    <a:lumMod val="75000"/>
                  </a:schemeClr>
                </a:solidFill>
              </a:rPr>
              <a:t>, M., Chintala, S., &amp; </a:t>
            </a:r>
            <a:r>
              <a:rPr lang="en-US" sz="1100" err="1">
                <a:solidFill>
                  <a:schemeClr val="bg2">
                    <a:lumMod val="75000"/>
                  </a:schemeClr>
                </a:solidFill>
              </a:rPr>
              <a:t>Bottou</a:t>
            </a:r>
            <a:r>
              <a:rPr lang="en-US" sz="1100">
                <a:solidFill>
                  <a:schemeClr val="bg2">
                    <a:lumMod val="75000"/>
                  </a:schemeClr>
                </a:solidFill>
              </a:rPr>
              <a:t>, L. (2017, July). Wasserstein generative adversarial networks. </a:t>
            </a:r>
          </a:p>
        </p:txBody>
      </p:sp>
    </p:spTree>
    <p:extLst>
      <p:ext uri="{BB962C8B-B14F-4D97-AF65-F5344CB8AC3E}">
        <p14:creationId xmlns:p14="http://schemas.microsoft.com/office/powerpoint/2010/main" val="6924489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393CA-841B-F054-6FA9-3618CAAE63E9}"/>
              </a:ext>
            </a:extLst>
          </p:cNvPr>
          <p:cNvSpPr>
            <a:spLocks noGrp="1"/>
          </p:cNvSpPr>
          <p:nvPr>
            <p:ph type="title"/>
          </p:nvPr>
        </p:nvSpPr>
        <p:spPr/>
        <p:txBody>
          <a:bodyPr/>
          <a:lstStyle/>
          <a:p>
            <a:pPr algn="ctr"/>
            <a:r>
              <a:rPr lang="en-US" err="1"/>
              <a:t>CycleGAN</a:t>
            </a:r>
            <a:endParaRPr lang="en-US"/>
          </a:p>
        </p:txBody>
      </p:sp>
      <p:sp>
        <p:nvSpPr>
          <p:cNvPr id="4" name="Content Placeholder 2">
            <a:extLst>
              <a:ext uri="{FF2B5EF4-FFF2-40B4-BE49-F238E27FC236}">
                <a16:creationId xmlns:a16="http://schemas.microsoft.com/office/drawing/2014/main" id="{7A15D450-DD37-AE6B-A7B8-FE8771E18AFE}"/>
              </a:ext>
            </a:extLst>
          </p:cNvPr>
          <p:cNvSpPr txBox="1">
            <a:spLocks/>
          </p:cNvSpPr>
          <p:nvPr/>
        </p:nvSpPr>
        <p:spPr>
          <a:xfrm>
            <a:off x="674451" y="1825625"/>
            <a:ext cx="6096000" cy="24255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Key Ideas</a:t>
            </a:r>
          </a:p>
          <a:p>
            <a:pPr lvl="1"/>
            <a:r>
              <a:rPr lang="en-US"/>
              <a:t>Learns translation WITHOUT paired data</a:t>
            </a:r>
          </a:p>
          <a:p>
            <a:pPr lvl="1"/>
            <a:r>
              <a:rPr lang="en-US"/>
              <a:t>Uses two GANs for forward (A-&gt;B) and backward (B-&gt;A) mapping</a:t>
            </a:r>
          </a:p>
          <a:p>
            <a:pPr lvl="1"/>
            <a:r>
              <a:rPr lang="en-US"/>
              <a:t>Doesn’t create from noise but instead modifies an existing image</a:t>
            </a:r>
          </a:p>
        </p:txBody>
      </p:sp>
      <p:sp>
        <p:nvSpPr>
          <p:cNvPr id="8" name="Content Placeholder 2">
            <a:extLst>
              <a:ext uri="{FF2B5EF4-FFF2-40B4-BE49-F238E27FC236}">
                <a16:creationId xmlns:a16="http://schemas.microsoft.com/office/drawing/2014/main" id="{DB4961F3-DF6E-6BE6-49A8-90017EE8C434}"/>
              </a:ext>
            </a:extLst>
          </p:cNvPr>
          <p:cNvSpPr txBox="1">
            <a:spLocks/>
          </p:cNvSpPr>
          <p:nvPr/>
        </p:nvSpPr>
        <p:spPr>
          <a:xfrm>
            <a:off x="6770451" y="1960562"/>
            <a:ext cx="4583348" cy="22905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Benefits</a:t>
            </a:r>
          </a:p>
          <a:p>
            <a:pPr lvl="1"/>
            <a:r>
              <a:rPr lang="en-US"/>
              <a:t>No need for paired data</a:t>
            </a:r>
          </a:p>
          <a:p>
            <a:pPr lvl="1"/>
            <a:r>
              <a:rPr lang="en-US"/>
              <a:t>Works on many domains</a:t>
            </a:r>
          </a:p>
          <a:p>
            <a:pPr lvl="1"/>
            <a:r>
              <a:rPr lang="en-US"/>
              <a:t>Preserves structure using Cycle Consistency Loss</a:t>
            </a:r>
          </a:p>
        </p:txBody>
      </p:sp>
      <p:pic>
        <p:nvPicPr>
          <p:cNvPr id="11" name="Picture 10">
            <a:extLst>
              <a:ext uri="{FF2B5EF4-FFF2-40B4-BE49-F238E27FC236}">
                <a16:creationId xmlns:a16="http://schemas.microsoft.com/office/drawing/2014/main" id="{7C46E0A3-B8F3-B59E-CDDA-8DB126B2F2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2771" y="4251158"/>
            <a:ext cx="9486455" cy="2024136"/>
          </a:xfrm>
          <a:prstGeom prst="rect">
            <a:avLst/>
          </a:prstGeom>
        </p:spPr>
      </p:pic>
      <p:sp>
        <p:nvSpPr>
          <p:cNvPr id="12" name="TextBox 11">
            <a:extLst>
              <a:ext uri="{FF2B5EF4-FFF2-40B4-BE49-F238E27FC236}">
                <a16:creationId xmlns:a16="http://schemas.microsoft.com/office/drawing/2014/main" id="{5C85B952-A656-04EE-B2CD-4E3908C5B2D8}"/>
              </a:ext>
            </a:extLst>
          </p:cNvPr>
          <p:cNvSpPr txBox="1"/>
          <p:nvPr/>
        </p:nvSpPr>
        <p:spPr>
          <a:xfrm>
            <a:off x="0" y="6596390"/>
            <a:ext cx="11353799" cy="261610"/>
          </a:xfrm>
          <a:prstGeom prst="rect">
            <a:avLst/>
          </a:prstGeom>
          <a:noFill/>
        </p:spPr>
        <p:txBody>
          <a:bodyPr wrap="square" rtlCol="0">
            <a:spAutoFit/>
          </a:bodyPr>
          <a:lstStyle/>
          <a:p>
            <a:r>
              <a:rPr lang="en-US" sz="1100">
                <a:solidFill>
                  <a:schemeClr val="bg2">
                    <a:lumMod val="75000"/>
                  </a:schemeClr>
                </a:solidFill>
              </a:rPr>
              <a:t>Ref: https://</a:t>
            </a:r>
            <a:r>
              <a:rPr lang="en-US" sz="1100" err="1">
                <a:solidFill>
                  <a:schemeClr val="bg2">
                    <a:lumMod val="75000"/>
                  </a:schemeClr>
                </a:solidFill>
              </a:rPr>
              <a:t>dev.to</a:t>
            </a:r>
            <a:r>
              <a:rPr lang="en-US" sz="1100">
                <a:solidFill>
                  <a:schemeClr val="bg2">
                    <a:lumMod val="75000"/>
                  </a:schemeClr>
                </a:solidFill>
              </a:rPr>
              <a:t>/aditi_baheti_f4a40487a091/from-day-to-night-building-a-cyclegan-for-image-translation-3pjd</a:t>
            </a:r>
          </a:p>
        </p:txBody>
      </p:sp>
    </p:spTree>
    <p:extLst>
      <p:ext uri="{BB962C8B-B14F-4D97-AF65-F5344CB8AC3E}">
        <p14:creationId xmlns:p14="http://schemas.microsoft.com/office/powerpoint/2010/main" val="30397901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25981-926D-659C-1B25-2346C3496C5A}"/>
              </a:ext>
            </a:extLst>
          </p:cNvPr>
          <p:cNvSpPr>
            <a:spLocks noGrp="1"/>
          </p:cNvSpPr>
          <p:nvPr>
            <p:ph type="title"/>
          </p:nvPr>
        </p:nvSpPr>
        <p:spPr/>
        <p:txBody>
          <a:bodyPr/>
          <a:lstStyle/>
          <a:p>
            <a:pPr algn="ctr"/>
            <a:r>
              <a:rPr lang="en-US"/>
              <a:t>StyleGAN</a:t>
            </a:r>
          </a:p>
        </p:txBody>
      </p:sp>
      <p:sp>
        <p:nvSpPr>
          <p:cNvPr id="3" name="Content Placeholder 2">
            <a:extLst>
              <a:ext uri="{FF2B5EF4-FFF2-40B4-BE49-F238E27FC236}">
                <a16:creationId xmlns:a16="http://schemas.microsoft.com/office/drawing/2014/main" id="{02F03D5B-B3C7-41E2-E180-378CC7E55226}"/>
              </a:ext>
            </a:extLst>
          </p:cNvPr>
          <p:cNvSpPr>
            <a:spLocks noGrp="1"/>
          </p:cNvSpPr>
          <p:nvPr>
            <p:ph idx="1"/>
          </p:nvPr>
        </p:nvSpPr>
        <p:spPr/>
        <p:txBody>
          <a:bodyPr>
            <a:normAutofit/>
          </a:bodyPr>
          <a:lstStyle/>
          <a:p>
            <a:r>
              <a:rPr lang="en-US"/>
              <a:t>What Changed?</a:t>
            </a:r>
          </a:p>
          <a:p>
            <a:pPr lvl="1"/>
            <a:r>
              <a:rPr lang="en-US"/>
              <a:t>Traditional GANs generated images from noise</a:t>
            </a:r>
          </a:p>
          <a:p>
            <a:pPr lvl="1"/>
            <a:r>
              <a:rPr lang="en-US"/>
              <a:t>StyleGAN introduces a style-based generator architecture </a:t>
            </a:r>
          </a:p>
          <a:p>
            <a:r>
              <a:rPr lang="en-US"/>
              <a:t>Layer-by-Layer Control:</a:t>
            </a:r>
          </a:p>
          <a:p>
            <a:pPr lvl="1"/>
            <a:r>
              <a:rPr lang="en-US"/>
              <a:t>Early layers -&gt; coarse features (shape, pose)</a:t>
            </a:r>
          </a:p>
          <a:p>
            <a:pPr lvl="1"/>
            <a:r>
              <a:rPr lang="en-US"/>
              <a:t>Middle layers -&gt; structure (facial features)</a:t>
            </a:r>
          </a:p>
          <a:p>
            <a:pPr lvl="1"/>
            <a:r>
              <a:rPr lang="en-US"/>
              <a:t>Late layers -&gt; fine details (texture, color)</a:t>
            </a:r>
          </a:p>
          <a:p>
            <a:r>
              <a:rPr lang="en-US"/>
              <a:t>Why it matters</a:t>
            </a:r>
          </a:p>
          <a:p>
            <a:pPr lvl="1"/>
            <a:r>
              <a:rPr lang="en-US"/>
              <a:t>Produces highly realistic images</a:t>
            </a:r>
          </a:p>
          <a:p>
            <a:pPr lvl="1"/>
            <a:r>
              <a:rPr lang="en-US"/>
              <a:t>Can modify specific features without affecting others</a:t>
            </a:r>
          </a:p>
        </p:txBody>
      </p:sp>
    </p:spTree>
    <p:extLst>
      <p:ext uri="{BB962C8B-B14F-4D97-AF65-F5344CB8AC3E}">
        <p14:creationId xmlns:p14="http://schemas.microsoft.com/office/powerpoint/2010/main" val="23813169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FCC8E-2580-D7AA-7A4B-F8112B8F5787}"/>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C08D312E-F4E2-2840-1091-03C8E47825A7}"/>
              </a:ext>
            </a:extLst>
          </p:cNvPr>
          <p:cNvSpPr>
            <a:spLocks noGrp="1"/>
          </p:cNvSpPr>
          <p:nvPr>
            <p:ph idx="1"/>
          </p:nvPr>
        </p:nvSpPr>
        <p:spPr/>
        <p:txBody>
          <a:bodyPr>
            <a:normAutofit/>
          </a:bodyPr>
          <a:lstStyle/>
          <a:p>
            <a:r>
              <a:rPr lang="en-US" sz="1800"/>
              <a:t>Zhang, A., Lipton, Z. C., Li, M., &amp; Smola, A. J. (2023). Dive into deep learning. Cambridge University Press.</a:t>
            </a:r>
          </a:p>
          <a:p>
            <a:r>
              <a:rPr lang="en-US" sz="1800"/>
              <a:t>Goodfellow, I., Pouget-Abadie, J., Mirza, M., Xu, B., Warde-Farley, D., Ozair, S., ... &amp; Bengio, Y. (2020). Generative adversarial networks. Communications of the ACM, 63(11), 139-144.</a:t>
            </a:r>
          </a:p>
          <a:p>
            <a:r>
              <a:rPr lang="en-US" sz="1800"/>
              <a:t>Radford, A., Metz, L., &amp; Chintala, S. (2015). Unsupervised representation learning with deep convolutional generative adversarial networks. </a:t>
            </a:r>
            <a:r>
              <a:rPr lang="en-US" sz="1800" err="1"/>
              <a:t>arXiv</a:t>
            </a:r>
            <a:r>
              <a:rPr lang="en-US" sz="1800"/>
              <a:t> preprint arXiv:1511.06434.</a:t>
            </a:r>
          </a:p>
          <a:p>
            <a:r>
              <a:rPr lang="en-US" sz="1800"/>
              <a:t>Arjovsky, M., Chintala, S., &amp; </a:t>
            </a:r>
            <a:r>
              <a:rPr lang="en-US" sz="1800" err="1"/>
              <a:t>Bottou</a:t>
            </a:r>
            <a:r>
              <a:rPr lang="en-US" sz="1800"/>
              <a:t>, L. (2017, July). Wasserstein generative adversarial networks. In International conference on machine learning (pp. 214-223). </a:t>
            </a:r>
            <a:r>
              <a:rPr lang="en-US" sz="1800" err="1"/>
              <a:t>Pmlr</a:t>
            </a:r>
            <a:r>
              <a:rPr lang="en-US" sz="1800"/>
              <a:t>.</a:t>
            </a:r>
          </a:p>
          <a:p>
            <a:r>
              <a:rPr lang="en-US" sz="1800"/>
              <a:t>Zhu, J. Y., Park, T., Isola, P., &amp; Efros, A. A. (2017). Unpaired image-to-image translation using cycle-consistent adversarial networks. In Proceedings of the IEEE international conference on computer vision (pp. 2223-2232).</a:t>
            </a:r>
          </a:p>
          <a:p>
            <a:r>
              <a:rPr lang="en-US" sz="1800"/>
              <a:t>Karras, T., Laine, S., &amp; Aila, T. (2019). A style-based generator architecture for generative adversarial networks. In Proceedings of the IEEE/CVF conference on computer vision and pattern recognition (pp. 4401-4410).</a:t>
            </a:r>
          </a:p>
        </p:txBody>
      </p:sp>
    </p:spTree>
    <p:extLst>
      <p:ext uri="{BB962C8B-B14F-4D97-AF65-F5344CB8AC3E}">
        <p14:creationId xmlns:p14="http://schemas.microsoft.com/office/powerpoint/2010/main" val="39164798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654B69BA125C84AB6CAFFBBAB16CD64" ma:contentTypeVersion="3" ma:contentTypeDescription="Create a new document." ma:contentTypeScope="" ma:versionID="687c51e661c7d79dc81e11be18980b9b">
  <xsd:schema xmlns:xsd="http://www.w3.org/2001/XMLSchema" xmlns:xs="http://www.w3.org/2001/XMLSchema" xmlns:p="http://schemas.microsoft.com/office/2006/metadata/properties" xmlns:ns2="b4e7ccbf-5bde-41a2-ac71-090e7abad095" targetNamespace="http://schemas.microsoft.com/office/2006/metadata/properties" ma:root="true" ma:fieldsID="98148f011beabda44e28e78a2e77c042" ns2:_="">
    <xsd:import namespace="b4e7ccbf-5bde-41a2-ac71-090e7abad09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e7ccbf-5bde-41a2-ac71-090e7abad0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E2CD0F-1DBD-45D4-9AE7-D95233A4E859}">
  <ds:schemaRefs>
    <ds:schemaRef ds:uri="b4e7ccbf-5bde-41a2-ac71-090e7abad09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434BFEE-A935-4EEC-9E9D-F9675348AC51}">
  <ds:schemaRefs>
    <ds:schemaRef ds:uri="http://purl.org/dc/elements/1.1/"/>
    <ds:schemaRef ds:uri="http://www.w3.org/XML/1998/namespace"/>
    <ds:schemaRef ds:uri="http://schemas.microsoft.com/office/infopath/2007/PartnerControls"/>
    <ds:schemaRef ds:uri="http://schemas.openxmlformats.org/package/2006/metadata/core-properties"/>
    <ds:schemaRef ds:uri="http://schemas.microsoft.com/office/2006/documentManagement/types"/>
    <ds:schemaRef ds:uri="http://purl.org/dc/terms/"/>
    <ds:schemaRef ds:uri="b4e7ccbf-5bde-41a2-ac71-090e7abad095"/>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E6738EEE-FB51-4445-ADD0-6FEA25FD6AE2}">
  <ds:schemaRefs>
    <ds:schemaRef ds:uri="http://schemas.microsoft.com/sharepoint/v3/contenttype/forms"/>
  </ds:schemaRefs>
</ds:datastoreItem>
</file>

<file path=docMetadata/LabelInfo.xml><?xml version="1.0" encoding="utf-8"?>
<clbl:labelList xmlns:clbl="http://schemas.microsoft.com/office/2020/mipLabelMetadata">
  <clbl:label id="{a3ec87a8-9fb8-4158-ba8f-f11bace1ebaa}" enabled="0" method="" siteId="{a3ec87a8-9fb8-4158-ba8f-f11bace1ebaa}" removed="1"/>
</clbl:labelList>
</file>

<file path=docProps/app.xml><?xml version="1.0" encoding="utf-8"?>
<Properties xmlns="http://schemas.openxmlformats.org/officeDocument/2006/extended-properties" xmlns:vt="http://schemas.openxmlformats.org/officeDocument/2006/docPropsVTypes">
  <TotalTime>0</TotalTime>
  <Words>3377</Words>
  <Application>Microsoft Macintosh PowerPoint</Application>
  <PresentationFormat>Widescreen</PresentationFormat>
  <Paragraphs>406</Paragraphs>
  <Slides>38</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Aptos</vt:lpstr>
      <vt:lpstr>Arial</vt:lpstr>
      <vt:lpstr>Calibri</vt:lpstr>
      <vt:lpstr>Calibri Light</vt:lpstr>
      <vt:lpstr>Cambria</vt:lpstr>
      <vt:lpstr>Cambria Math</vt:lpstr>
      <vt:lpstr>Times New Roman</vt:lpstr>
      <vt:lpstr>Office Theme</vt:lpstr>
      <vt:lpstr>Generative Adversarial Networks (GANs)</vt:lpstr>
      <vt:lpstr>Introduction</vt:lpstr>
      <vt:lpstr>Why ?</vt:lpstr>
      <vt:lpstr>Real world challenge– small dataset problem </vt:lpstr>
      <vt:lpstr>GAN is the solution</vt:lpstr>
      <vt:lpstr>How GAN compares to other models:  GAN vs VAE</vt:lpstr>
      <vt:lpstr>GAN vs Diffusion Models</vt:lpstr>
      <vt:lpstr>GAN vs GNN</vt:lpstr>
      <vt:lpstr>How does this magic happen:  Basic Training process - outline</vt:lpstr>
      <vt:lpstr>GAN Architecture for Rare disease</vt:lpstr>
      <vt:lpstr>PowerPoint Presentation</vt:lpstr>
      <vt:lpstr>PowerPoint Presentation</vt:lpstr>
      <vt:lpstr>PowerPoint Presentation</vt:lpstr>
      <vt:lpstr>Loss Function — overview</vt:lpstr>
      <vt:lpstr>PowerPoint Presentation</vt:lpstr>
      <vt:lpstr>PowerPoint Presentation</vt:lpstr>
      <vt:lpstr>Training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Code Example</vt:lpstr>
      <vt:lpstr>Discriminator Update</vt:lpstr>
      <vt:lpstr>Generator Update</vt:lpstr>
      <vt:lpstr>Training</vt:lpstr>
      <vt:lpstr>Applications of GANs</vt:lpstr>
      <vt:lpstr>Downsides of GANs</vt:lpstr>
      <vt:lpstr>GAN Family</vt:lpstr>
      <vt:lpstr>DCGAN (Deep Convolutional GAN)</vt:lpstr>
      <vt:lpstr>WGAN (Wasserstein GAN)</vt:lpstr>
      <vt:lpstr>CycleGAN</vt:lpstr>
      <vt:lpstr>StyleGAN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Adversarial Networks (GANs)</dc:title>
  <dc:creator>Paras Khanal</dc:creator>
  <cp:lastModifiedBy>Vincent Sanchez</cp:lastModifiedBy>
  <cp:revision>2</cp:revision>
  <dcterms:created xsi:type="dcterms:W3CDTF">2026-04-24T16:46:15Z</dcterms:created>
  <dcterms:modified xsi:type="dcterms:W3CDTF">2026-04-27T19:30:03Z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0x010100E654B69BA125C84AB6CAFFBBAB16CD64</vt:lpwstr>
  </property>
</Properties>
</file>